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754880"/>
            <a:ext cx="12191695" cy="2103120"/>
          </a:xfrm>
          <a:prstGeom prst="rect">
            <a:avLst/>
          </a:prstGeom>
          <a:solidFill>
            <a:srgbClr val="005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709160"/>
            <a:ext cx="12191695" cy="54864"/>
          </a:xfrm>
          <a:prstGeom prst="rect">
            <a:avLst/>
          </a:prstGeom>
          <a:solidFill>
            <a:srgbClr val="F2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789920" cy="10972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5400" b="1">
                <a:solidFill>
                  <a:srgbClr val="FFFFFF"/>
                </a:solidFill>
                <a:latin typeface="Calibri"/>
              </a:rPr>
              <a:t>EUR Tenant ACI Redesign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834640"/>
            <a:ext cx="10789920" cy="6400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200" b="0">
                <a:solidFill>
                  <a:srgbClr val="E5EEF8"/>
                </a:solidFill>
                <a:latin typeface="Calibri"/>
              </a:rPr>
              <a:t>From 11 VRFs / 266 EPGs to 2 VRFs / 39 EPGs with ESG-Ready Segmentation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3657600"/>
            <a:ext cx="3108960" cy="457200"/>
          </a:xfrm>
          <a:prstGeom prst="rect">
            <a:avLst/>
          </a:prstGeom>
          <a:solidFill>
            <a:srgbClr val="F2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3108960" cy="4572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Strategy &amp; Migration Process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120640"/>
            <a:ext cx="1078992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Consolidate routing · Adopt descriptive naming · Introduce ESGs · Preserve every IP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760720"/>
            <a:ext cx="1078992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0">
                <a:solidFill>
                  <a:srgbClr val="CCD8EA"/>
                </a:solidFill>
                <a:latin typeface="Calibri"/>
              </a:rPr>
              <a:t>Project: terraform-esg / aci-redesign   |   Tenant: EUR   |   Schema: AEDCE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217920"/>
            <a:ext cx="1078992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>
                <a:solidFill>
                  <a:srgbClr val="AABCD6"/>
                </a:solidFill>
                <a:latin typeface="Calibri"/>
              </a:rPr>
              <a:t>Prepared from IPv4_REDESIGN_OVERVIEW.md and aci-redesign/README.md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B2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45720"/>
          </a:xfrm>
          <a:prstGeom prst="rect">
            <a:avLst/>
          </a:prstGeom>
          <a:solidFill>
            <a:srgbClr val="F2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0515600" cy="5486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0515600" cy="3200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200" b="0">
                <a:solidFill>
                  <a:srgbClr val="CFDAEA"/>
                </a:solidFill>
                <a:latin typeface="Calibri"/>
              </a:rPr>
              <a:t>What this deck covers and the order we walk through it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97280"/>
            <a:ext cx="201168" cy="365760"/>
          </a:xfrm>
          <a:prstGeom prst="rect">
            <a:avLst/>
          </a:prstGeom>
          <a:solidFill>
            <a:srgbClr val="F2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097280"/>
            <a:ext cx="5120640" cy="219456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>
                <a:solidFill>
                  <a:srgbClr val="0B2E5C"/>
                </a:solidFill>
                <a:latin typeface="Calibri"/>
              </a:rPr>
              <a:t>1  Why redesign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298448"/>
            <a:ext cx="5120640" cy="237744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>
                <a:solidFill>
                  <a:srgbClr val="555C66"/>
                </a:solidFill>
                <a:latin typeface="Calibri"/>
              </a:rPr>
              <a:t>Problems with today's 11-VRF / 266-EPG layout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536192"/>
            <a:ext cx="201168" cy="365760"/>
          </a:xfrm>
          <a:prstGeom prst="rect">
            <a:avLst/>
          </a:prstGeom>
          <a:solidFill>
            <a:srgbClr val="F2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536192"/>
            <a:ext cx="5120640" cy="219456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>
                <a:solidFill>
                  <a:srgbClr val="0B2E5C"/>
                </a:solidFill>
                <a:latin typeface="Calibri"/>
              </a:rPr>
              <a:t>2  Target architecture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737360"/>
            <a:ext cx="5120640" cy="237744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>
                <a:solidFill>
                  <a:srgbClr val="555C66"/>
                </a:solidFill>
                <a:latin typeface="Calibri"/>
              </a:rPr>
              <a:t>2 VRFs, 39 BDs/EPGs, ESGs, vzAny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1975104"/>
            <a:ext cx="201168" cy="365760"/>
          </a:xfrm>
          <a:prstGeom prst="rect">
            <a:avLst/>
          </a:prstGeom>
          <a:solidFill>
            <a:srgbClr val="F2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975104"/>
            <a:ext cx="5120640" cy="219456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>
                <a:solidFill>
                  <a:srgbClr val="0B2E5C"/>
                </a:solidFill>
                <a:latin typeface="Calibri"/>
              </a:rPr>
              <a:t>3  Key design decisions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176272"/>
            <a:ext cx="5120640" cy="237744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>
                <a:solidFill>
                  <a:srgbClr val="555C66"/>
                </a:solidFill>
                <a:latin typeface="Calibri"/>
              </a:rPr>
              <a:t>Why 2 VRFs, why L2 'DMZ' stays in VRF-EUR, no IP changes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414016"/>
            <a:ext cx="201168" cy="365760"/>
          </a:xfrm>
          <a:prstGeom prst="rect">
            <a:avLst/>
          </a:prstGeom>
          <a:solidFill>
            <a:srgbClr val="F2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2414016"/>
            <a:ext cx="5120640" cy="219456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>
                <a:solidFill>
                  <a:srgbClr val="0B2E5C"/>
                </a:solidFill>
                <a:latin typeface="Calibri"/>
              </a:rPr>
              <a:t>4  BD consolidation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2615184"/>
            <a:ext cx="5120640" cy="237744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>
                <a:solidFill>
                  <a:srgbClr val="555C66"/>
                </a:solidFill>
                <a:latin typeface="Calibri"/>
              </a:rPr>
              <a:t>How 215 legacy BDs map into 39 functional BDs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2852928"/>
            <a:ext cx="201168" cy="365760"/>
          </a:xfrm>
          <a:prstGeom prst="rect">
            <a:avLst/>
          </a:prstGeom>
          <a:solidFill>
            <a:srgbClr val="F2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2852928"/>
            <a:ext cx="5120640" cy="219456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>
                <a:solidFill>
                  <a:srgbClr val="0B2E5C"/>
                </a:solidFill>
                <a:latin typeface="Calibri"/>
              </a:rPr>
              <a:t>5  Naming &amp; object model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3054096"/>
            <a:ext cx="5120640" cy="237744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>
                <a:solidFill>
                  <a:srgbClr val="555C66"/>
                </a:solidFill>
                <a:latin typeface="Calibri"/>
              </a:rPr>
              <a:t>Descriptive naming conventions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291840"/>
            <a:ext cx="201168" cy="365760"/>
          </a:xfrm>
          <a:prstGeom prst="rect">
            <a:avLst/>
          </a:prstGeom>
          <a:solidFill>
            <a:srgbClr val="F2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3291840"/>
            <a:ext cx="5120640" cy="219456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>
                <a:solidFill>
                  <a:srgbClr val="0B2E5C"/>
                </a:solidFill>
                <a:latin typeface="Calibri"/>
              </a:rPr>
              <a:t>6  Phased security model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3493008"/>
            <a:ext cx="5120640" cy="237744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>
                <a:solidFill>
                  <a:srgbClr val="555C66"/>
                </a:solidFill>
                <a:latin typeface="Calibri"/>
              </a:rPr>
              <a:t>vzAny → single ESG → zone ESGs → tight contracts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3730752"/>
            <a:ext cx="201168" cy="365760"/>
          </a:xfrm>
          <a:prstGeom prst="rect">
            <a:avLst/>
          </a:prstGeom>
          <a:solidFill>
            <a:srgbClr val="F2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730752"/>
            <a:ext cx="5120640" cy="219456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>
                <a:solidFill>
                  <a:srgbClr val="0B2E5C"/>
                </a:solidFill>
                <a:latin typeface="Calibri"/>
              </a:rPr>
              <a:t>7  Lab migration (greenfield)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3931920"/>
            <a:ext cx="5120640" cy="237744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>
                <a:solidFill>
                  <a:srgbClr val="555C66"/>
                </a:solidFill>
                <a:latin typeface="Calibri"/>
              </a:rPr>
              <a:t>4 phases - build from scratch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4169664"/>
            <a:ext cx="201168" cy="365760"/>
          </a:xfrm>
          <a:prstGeom prst="rect">
            <a:avLst/>
          </a:prstGeom>
          <a:solidFill>
            <a:srgbClr val="F2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4169664"/>
            <a:ext cx="5120640" cy="219456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>
                <a:solidFill>
                  <a:srgbClr val="0B2E5C"/>
                </a:solidFill>
                <a:latin typeface="Calibri"/>
              </a:rPr>
              <a:t>8  Production migration (brownfield)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4370832"/>
            <a:ext cx="5120640" cy="237744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>
                <a:solidFill>
                  <a:srgbClr val="555C66"/>
                </a:solidFill>
                <a:latin typeface="Calibri"/>
              </a:rPr>
              <a:t>7 phases - live coexistence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4608576"/>
            <a:ext cx="201168" cy="365760"/>
          </a:xfrm>
          <a:prstGeom prst="rect">
            <a:avLst/>
          </a:prstGeom>
          <a:solidFill>
            <a:srgbClr val="F2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4608576"/>
            <a:ext cx="5120640" cy="219456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>
                <a:solidFill>
                  <a:srgbClr val="0B2E5C"/>
                </a:solidFill>
                <a:latin typeface="Calibri"/>
              </a:rPr>
              <a:t>9  VMM / VLAN strategy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4809744"/>
            <a:ext cx="5120640" cy="237744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>
                <a:solidFill>
                  <a:srgbClr val="555C66"/>
                </a:solidFill>
                <a:latin typeface="Calibri"/>
              </a:rPr>
              <a:t>VMM pool 3501-3967 + per-fabric VMMs (APCG-VDS1, APCK-VDS1)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5047488"/>
            <a:ext cx="201168" cy="365760"/>
          </a:xfrm>
          <a:prstGeom prst="rect">
            <a:avLst/>
          </a:prstGeom>
          <a:solidFill>
            <a:srgbClr val="F2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1520" y="5047488"/>
            <a:ext cx="5120640" cy="219456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>
                <a:solidFill>
                  <a:srgbClr val="0B2E5C"/>
                </a:solidFill>
                <a:latin typeface="Calibri"/>
              </a:rPr>
              <a:t>10  Risks &amp; mitigations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5248656"/>
            <a:ext cx="5120640" cy="237744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>
                <a:solidFill>
                  <a:srgbClr val="555C66"/>
                </a:solidFill>
                <a:latin typeface="Calibri"/>
              </a:rPr>
              <a:t>Where traffic loss can happen and how we contain it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0" y="1097280"/>
            <a:ext cx="201168" cy="365760"/>
          </a:xfrm>
          <a:prstGeom prst="rect">
            <a:avLst/>
          </a:prstGeom>
          <a:solidFill>
            <a:srgbClr val="F2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75120" y="1097280"/>
            <a:ext cx="5120640" cy="219456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>
                <a:solidFill>
                  <a:srgbClr val="0B2E5C"/>
                </a:solidFill>
                <a:latin typeface="Calibri"/>
              </a:rPr>
              <a:t>11  What gets deployed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75120" y="1298448"/>
            <a:ext cx="5120640" cy="237744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>
                <a:solidFill>
                  <a:srgbClr val="555C66"/>
                </a:solidFill>
                <a:latin typeface="Calibri"/>
              </a:rPr>
              <a:t>Concrete object list from Terraform apply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00800" y="1536192"/>
            <a:ext cx="201168" cy="365760"/>
          </a:xfrm>
          <a:prstGeom prst="rect">
            <a:avLst/>
          </a:prstGeom>
          <a:solidFill>
            <a:srgbClr val="F2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675120" y="1536192"/>
            <a:ext cx="5120640" cy="219456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>
                <a:solidFill>
                  <a:srgbClr val="0B2E5C"/>
                </a:solidFill>
                <a:latin typeface="Calibri"/>
              </a:rPr>
              <a:t>12  Decommission plan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75120" y="1737360"/>
            <a:ext cx="5120640" cy="237744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>
                <a:solidFill>
                  <a:srgbClr val="555C66"/>
                </a:solidFill>
                <a:latin typeface="Calibri"/>
              </a:rPr>
              <a:t>30 legacy BDs to remove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400800" y="1975104"/>
            <a:ext cx="201168" cy="365760"/>
          </a:xfrm>
          <a:prstGeom prst="rect">
            <a:avLst/>
          </a:prstGeom>
          <a:solidFill>
            <a:srgbClr val="F2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675120" y="1975104"/>
            <a:ext cx="5120640" cy="219456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>
                <a:solidFill>
                  <a:srgbClr val="0B2E5C"/>
                </a:solidFill>
                <a:latin typeface="Calibri"/>
              </a:rPr>
              <a:t>13  Deployment architecture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75120" y="2176272"/>
            <a:ext cx="5120640" cy="237744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>
                <a:solidFill>
                  <a:srgbClr val="555C66"/>
                </a:solidFill>
                <a:latin typeface="Calibri"/>
              </a:rPr>
              <a:t>How YAML becomes ACI config via nac-aci + MCP sidecar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400800" y="2414016"/>
            <a:ext cx="201168" cy="365760"/>
          </a:xfrm>
          <a:prstGeom prst="rect">
            <a:avLst/>
          </a:prstGeom>
          <a:solidFill>
            <a:srgbClr val="F2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675120" y="2414016"/>
            <a:ext cx="5120640" cy="219456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>
                <a:solidFill>
                  <a:srgbClr val="0B2E5C"/>
                </a:solidFill>
                <a:latin typeface="Calibri"/>
              </a:rPr>
              <a:t>14  Automation design decisions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675120" y="2615184"/>
            <a:ext cx="5120640" cy="237744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>
                <a:solidFill>
                  <a:srgbClr val="555C66"/>
                </a:solidFill>
                <a:latin typeface="Calibri"/>
              </a:rPr>
              <a:t>Four non-obvious choices that protect the pipeline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400800" y="2852928"/>
            <a:ext cx="201168" cy="365760"/>
          </a:xfrm>
          <a:prstGeom prst="rect">
            <a:avLst/>
          </a:prstGeom>
          <a:solidFill>
            <a:srgbClr val="F2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675120" y="2852928"/>
            <a:ext cx="5120640" cy="219456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>
                <a:solidFill>
                  <a:srgbClr val="0B2E5C"/>
                </a:solidFill>
                <a:latin typeface="Calibri"/>
              </a:rPr>
              <a:t>15  Secrets strategy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675120" y="3054096"/>
            <a:ext cx="5120640" cy="237744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>
                <a:solidFill>
                  <a:srgbClr val="555C66"/>
                </a:solidFill>
                <a:latin typeface="Calibri"/>
              </a:rPr>
              <a:t>Env → CI → Vault progression, same TF_VAR_* names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400800" y="3291840"/>
            <a:ext cx="201168" cy="365760"/>
          </a:xfrm>
          <a:prstGeom prst="rect">
            <a:avLst/>
          </a:prstGeom>
          <a:solidFill>
            <a:srgbClr val="F2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675120" y="3291840"/>
            <a:ext cx="5120640" cy="219456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>
                <a:solidFill>
                  <a:srgbClr val="0B2E5C"/>
                </a:solidFill>
                <a:latin typeface="Calibri"/>
              </a:rPr>
              <a:t>16  Local developer workflow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675120" y="3493008"/>
            <a:ext cx="5120640" cy="237744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>
                <a:solidFill>
                  <a:srgbClr val="555C66"/>
                </a:solidFill>
                <a:latin typeface="Calibri"/>
              </a:rPr>
              <a:t>What an operator actually types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400800" y="3730752"/>
            <a:ext cx="201168" cy="365760"/>
          </a:xfrm>
          <a:prstGeom prst="rect">
            <a:avLst/>
          </a:prstGeom>
          <a:solidFill>
            <a:srgbClr val="F2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675120" y="3730752"/>
            <a:ext cx="5120640" cy="219456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>
                <a:solidFill>
                  <a:srgbClr val="0B2E5C"/>
                </a:solidFill>
                <a:latin typeface="Calibri"/>
              </a:rPr>
              <a:t>17  CI/CD pipeline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675120" y="3931920"/>
            <a:ext cx="5120640" cy="237744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>
                <a:solidFill>
                  <a:srgbClr val="555C66"/>
                </a:solidFill>
                <a:latin typeface="Calibri"/>
              </a:rPr>
              <a:t>GitLab stages: validate → plan → deploy → destroy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400800" y="4169664"/>
            <a:ext cx="201168" cy="365760"/>
          </a:xfrm>
          <a:prstGeom prst="rect">
            <a:avLst/>
          </a:prstGeom>
          <a:solidFill>
            <a:srgbClr val="F2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675120" y="4169664"/>
            <a:ext cx="5120640" cy="219456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>
                <a:solidFill>
                  <a:srgbClr val="0B2E5C"/>
                </a:solidFill>
                <a:latin typeface="Calibri"/>
              </a:rPr>
              <a:t>18  Operations &amp; troubleshooting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675120" y="4370832"/>
            <a:ext cx="5120640" cy="237744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>
                <a:solidFill>
                  <a:srgbClr val="555C66"/>
                </a:solidFill>
                <a:latin typeface="Calibri"/>
              </a:rPr>
              <a:t>auth-check, diagnose, common failure modes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400800" y="4608576"/>
            <a:ext cx="201168" cy="365760"/>
          </a:xfrm>
          <a:prstGeom prst="rect">
            <a:avLst/>
          </a:prstGeom>
          <a:solidFill>
            <a:srgbClr val="F2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675120" y="4608576"/>
            <a:ext cx="5120640" cy="219456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>
                <a:solidFill>
                  <a:srgbClr val="0B2E5C"/>
                </a:solidFill>
                <a:latin typeface="Calibri"/>
              </a:rPr>
              <a:t>19  Next steps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675120" y="4809744"/>
            <a:ext cx="5120640" cy="237744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>
                <a:solidFill>
                  <a:srgbClr val="555C66"/>
                </a:solidFill>
                <a:latin typeface="Calibri"/>
              </a:rPr>
              <a:t>What to do after this deck</a:t>
            </a:r>
          </a:p>
        </p:txBody>
      </p:sp>
      <p:sp>
        <p:nvSpPr>
          <p:cNvPr id="63" name="Rectangle 62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B2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65760" y="6565392"/>
            <a:ext cx="7315200" cy="29260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ACI Redesign Strategy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820095" y="6565392"/>
            <a:ext cx="1097280" cy="29260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2 / 27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B2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45720"/>
          </a:xfrm>
          <a:prstGeom prst="rect">
            <a:avLst/>
          </a:prstGeom>
          <a:solidFill>
            <a:srgbClr val="F2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0515600" cy="5486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Executive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0515600" cy="3200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200" b="0">
                <a:solidFill>
                  <a:srgbClr val="CFDAEA"/>
                </a:solidFill>
                <a:latin typeface="Calibri"/>
              </a:rPr>
              <a:t>One-page view of the redesign and why it matters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51560"/>
            <a:ext cx="6766560" cy="4114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800" b="1">
                <a:solidFill>
                  <a:srgbClr val="0B2E5C"/>
                </a:solidFill>
                <a:latin typeface="Calibri"/>
              </a:rPr>
              <a:t>The Goal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463040"/>
            <a:ext cx="6766560" cy="29260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>
              <a:lnSpc>
                <a:spcPct val="115000"/>
              </a:lnSpc>
            </a:pPr>
            <a:r>
              <a:rPr sz="1300" b="0">
                <a:solidFill>
                  <a:srgbClr val="1C1F24"/>
                </a:solidFill>
                <a:latin typeface="Calibri"/>
              </a:rPr>
              <a:t>•  Collapse 11 legacy VRFs into 2 routing domains: VRF-EUR (internal) and VRF-DMZ (proxy).</a:t>
            </a:r>
          </a:p>
          <a:p>
            <a:pPr>
              <a:lnSpc>
                <a:spcPct val="115000"/>
              </a:lnSpc>
            </a:pPr>
            <a:r>
              <a:rPr sz="1300" b="0">
                <a:solidFill>
                  <a:srgbClr val="1C1F24"/>
                </a:solidFill>
                <a:latin typeface="Calibri"/>
              </a:rPr>
              <a:t>•  Replace 215 numeric bridge domains and 266 EPGs with 39 descriptive, function-named BDs/EPGs that match the IPv6 RCC model.</a:t>
            </a:r>
          </a:p>
          <a:p>
            <a:pPr>
              <a:lnSpc>
                <a:spcPct val="115000"/>
              </a:lnSpc>
            </a:pPr>
            <a:r>
              <a:rPr sz="1300" b="0">
                <a:solidFill>
                  <a:srgbClr val="1C1F24"/>
                </a:solidFill>
                <a:latin typeface="Calibri"/>
              </a:rPr>
              <a:t>•  Introduce Endpoint Security Groups (ESGs) so segmentation can be enforced by policy instead of by VRF routing isolation.</a:t>
            </a:r>
          </a:p>
          <a:p>
            <a:pPr>
              <a:lnSpc>
                <a:spcPct val="115000"/>
              </a:lnSpc>
            </a:pPr>
            <a:r>
              <a:rPr sz="1300" b="0">
                <a:solidFill>
                  <a:srgbClr val="1C1F24"/>
                </a:solidFill>
                <a:latin typeface="Calibri"/>
              </a:rPr>
              <a:t>•  Keep every existing IPv4 subnet and gateway address in place - no host, VM, or switch is readdressed.</a:t>
            </a:r>
          </a:p>
          <a:p>
            <a:pPr>
              <a:lnSpc>
                <a:spcPct val="115000"/>
              </a:lnSpc>
            </a:pPr>
            <a:r>
              <a:rPr sz="1300" b="0">
                <a:solidFill>
                  <a:srgbClr val="1C1F24"/>
                </a:solidFill>
                <a:latin typeface="Calibri"/>
              </a:rPr>
              <a:t>•  Start permissive (vzAny permit-all) and tighten progressively using ESGs and targeted contracts.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434840"/>
            <a:ext cx="676656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800" b="1">
                <a:solidFill>
                  <a:srgbClr val="0B2E5C"/>
                </a:solidFill>
                <a:latin typeface="Calibri"/>
              </a:rPr>
              <a:t>Why now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800600"/>
            <a:ext cx="6766560" cy="17373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>
              <a:lnSpc>
                <a:spcPct val="115000"/>
              </a:lnSpc>
            </a:pPr>
            <a:r>
              <a:rPr sz="1300" b="0">
                <a:solidFill>
                  <a:srgbClr val="1C1F24"/>
                </a:solidFill>
                <a:latin typeface="Calibri"/>
              </a:rPr>
              <a:t>•  11-VRF model added operational complexity without meaningful security (firewall already enforces real boundaries).</a:t>
            </a:r>
          </a:p>
          <a:p>
            <a:pPr>
              <a:lnSpc>
                <a:spcPct val="115000"/>
              </a:lnSpc>
            </a:pPr>
            <a:r>
              <a:rPr sz="1300" b="0">
                <a:solidFill>
                  <a:srgbClr val="1C1F24"/>
                </a:solidFill>
                <a:latin typeface="Calibri"/>
              </a:rPr>
              <a:t>•  Numeric naming (BD-V0372, EPG-V0572) hides function and slows incident response.</a:t>
            </a:r>
          </a:p>
          <a:p>
            <a:pPr>
              <a:lnSpc>
                <a:spcPct val="115000"/>
              </a:lnSpc>
            </a:pPr>
            <a:r>
              <a:rPr sz="1300" b="0">
                <a:solidFill>
                  <a:srgbClr val="1C1F24"/>
                </a:solidFill>
                <a:latin typeface="Calibri"/>
              </a:rPr>
              <a:t>•  No ESGs means no realistic path to micro-segmentation at scale.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98079" y="1051560"/>
            <a:ext cx="2103120" cy="1280160"/>
          </a:xfrm>
          <a:prstGeom prst="rect">
            <a:avLst/>
          </a:prstGeom>
          <a:solidFill>
            <a:srgbClr val="F4F6FA"/>
          </a:solidFill>
          <a:ln w="9525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79" y="1051560"/>
            <a:ext cx="109728" cy="1280160"/>
          </a:xfrm>
          <a:prstGeom prst="rect">
            <a:avLst/>
          </a:prstGeom>
          <a:solidFill>
            <a:srgbClr val="005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80959" y="1143000"/>
            <a:ext cx="1828800" cy="6400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600" b="1">
                <a:solidFill>
                  <a:srgbClr val="005A9C"/>
                </a:solidFill>
                <a:latin typeface="Calibri"/>
              </a:rPr>
              <a:t>11 →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59" y="1828800"/>
            <a:ext cx="18288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0">
                <a:solidFill>
                  <a:srgbClr val="555C66"/>
                </a:solidFill>
                <a:latin typeface="Calibri"/>
              </a:rPr>
              <a:t>VRFs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784079" y="1051560"/>
            <a:ext cx="2103120" cy="1280160"/>
          </a:xfrm>
          <a:prstGeom prst="rect">
            <a:avLst/>
          </a:prstGeom>
          <a:solidFill>
            <a:srgbClr val="F4F6FA"/>
          </a:solidFill>
          <a:ln w="9525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784079" y="1051560"/>
            <a:ext cx="109728" cy="1280160"/>
          </a:xfrm>
          <a:prstGeom prst="rect">
            <a:avLst/>
          </a:prstGeom>
          <a:solidFill>
            <a:srgbClr val="1D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966959" y="1143000"/>
            <a:ext cx="1828800" cy="6400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600" b="1">
                <a:solidFill>
                  <a:srgbClr val="1D8A3E"/>
                </a:solidFill>
                <a:latin typeface="Calibri"/>
              </a:rPr>
              <a:t>215 → 39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66959" y="1828800"/>
            <a:ext cx="18288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0">
                <a:solidFill>
                  <a:srgbClr val="555C66"/>
                </a:solidFill>
                <a:latin typeface="Calibri"/>
              </a:rPr>
              <a:t>Bridge Domains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498079" y="2514600"/>
            <a:ext cx="2103120" cy="1280160"/>
          </a:xfrm>
          <a:prstGeom prst="rect">
            <a:avLst/>
          </a:prstGeom>
          <a:solidFill>
            <a:srgbClr val="F4F6FA"/>
          </a:solidFill>
          <a:ln w="9525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498079" y="2514600"/>
            <a:ext cx="109728" cy="1280160"/>
          </a:xfrm>
          <a:prstGeom prst="rect">
            <a:avLst/>
          </a:prstGeom>
          <a:solidFill>
            <a:srgbClr val="F2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80959" y="2606040"/>
            <a:ext cx="1828800" cy="6400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600" b="1">
                <a:solidFill>
                  <a:srgbClr val="F29900"/>
                </a:solidFill>
                <a:latin typeface="Calibri"/>
              </a:rPr>
              <a:t>266 → 39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59" y="3291840"/>
            <a:ext cx="18288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0">
                <a:solidFill>
                  <a:srgbClr val="555C66"/>
                </a:solidFill>
                <a:latin typeface="Calibri"/>
              </a:rPr>
              <a:t>EPGs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784079" y="2514600"/>
            <a:ext cx="2103120" cy="1280160"/>
          </a:xfrm>
          <a:prstGeom prst="rect">
            <a:avLst/>
          </a:prstGeom>
          <a:solidFill>
            <a:srgbClr val="F4F6FA"/>
          </a:solidFill>
          <a:ln w="9525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784079" y="2514600"/>
            <a:ext cx="109728" cy="12801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966959" y="2606040"/>
            <a:ext cx="1828800" cy="6400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600" b="1">
                <a:solidFill>
                  <a:srgbClr val="C0392B"/>
                </a:solidFill>
                <a:latin typeface="Calibri"/>
              </a:rPr>
              <a:t>13 → ~4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966959" y="3291840"/>
            <a:ext cx="18288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0">
                <a:solidFill>
                  <a:srgbClr val="555C66"/>
                </a:solidFill>
                <a:latin typeface="Calibri"/>
              </a:rPr>
              <a:t>L3Outs (prod)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498079" y="3977640"/>
            <a:ext cx="2103120" cy="1280160"/>
          </a:xfrm>
          <a:prstGeom prst="rect">
            <a:avLst/>
          </a:prstGeom>
          <a:solidFill>
            <a:srgbClr val="F4F6FA"/>
          </a:solidFill>
          <a:ln w="9525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498079" y="3977640"/>
            <a:ext cx="109728" cy="1280160"/>
          </a:xfrm>
          <a:prstGeom prst="rect">
            <a:avLst/>
          </a:prstGeom>
          <a:solidFill>
            <a:srgbClr val="0B2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680959" y="4069080"/>
            <a:ext cx="1828800" cy="6400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600" b="1">
                <a:solidFill>
                  <a:srgbClr val="0B2E5C"/>
                </a:solidFill>
                <a:latin typeface="Calibri"/>
              </a:rPr>
              <a:t>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59" y="4754880"/>
            <a:ext cx="18288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0">
                <a:solidFill>
                  <a:srgbClr val="555C66"/>
                </a:solidFill>
                <a:latin typeface="Calibri"/>
              </a:rPr>
              <a:t>IP Address Changes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784079" y="3977640"/>
            <a:ext cx="2103120" cy="1280160"/>
          </a:xfrm>
          <a:prstGeom prst="rect">
            <a:avLst/>
          </a:prstGeom>
          <a:solidFill>
            <a:srgbClr val="F4F6FA"/>
          </a:solidFill>
          <a:ln w="9525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784079" y="3977640"/>
            <a:ext cx="109728" cy="1280160"/>
          </a:xfrm>
          <a:prstGeom prst="rect">
            <a:avLst/>
          </a:prstGeom>
          <a:solidFill>
            <a:srgbClr val="005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966959" y="4069080"/>
            <a:ext cx="1828800" cy="6400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600" b="1">
                <a:solidFill>
                  <a:srgbClr val="005A9C"/>
                </a:solidFill>
                <a:latin typeface="Calibri"/>
              </a:rPr>
              <a:t>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966959" y="4754880"/>
            <a:ext cx="18288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0">
                <a:solidFill>
                  <a:srgbClr val="555C66"/>
                </a:solidFill>
                <a:latin typeface="Calibri"/>
              </a:rPr>
              <a:t>New ESGs (Phase 2)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B2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65760" y="6565392"/>
            <a:ext cx="7315200" cy="29260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ACI Redesign Strategy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20095" y="6565392"/>
            <a:ext cx="1097280" cy="29260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3 / 27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B2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45720"/>
          </a:xfrm>
          <a:prstGeom prst="rect">
            <a:avLst/>
          </a:prstGeom>
          <a:solidFill>
            <a:srgbClr val="F2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0515600" cy="5486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Current State - What's Deployed Today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0515600" cy="3200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200" b="0">
                <a:solidFill>
                  <a:srgbClr val="CFDAEA"/>
                </a:solidFill>
                <a:latin typeface="Calibri"/>
              </a:rPr>
              <a:t>EUR tenant / AEDCE schema in production APIC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051560"/>
          <a:ext cx="7132319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3549"/>
                <a:gridCol w="5218770"/>
              </a:tblGrid>
              <a:tr h="365760">
                <a:tc>
                  <a:txBody>
                    <a:bodyPr lIns="36000" rIns="36000"/>
                    <a:lstStyle/>
                    <a:p>
                      <a:pPr algn="l"/>
                      <a:r>
                        <a:rPr b="1" sz="1200">
                          <a:solidFill>
                            <a:srgbClr val="FFFFFF"/>
                          </a:solidFill>
                          <a:latin typeface="Calibri"/>
                        </a:rPr>
                        <a:t>Attribute</a:t>
                      </a:r>
                    </a:p>
                  </a:txBody>
                  <a:tcPr anchor="ctr">
                    <a:solidFill>
                      <a:srgbClr val="0B2E5C"/>
                    </a:solidFill>
                  </a:tcPr>
                </a:tc>
                <a:tc>
                  <a:txBody>
                    <a:bodyPr lIns="36000" rIns="36000"/>
                    <a:lstStyle/>
                    <a:p>
                      <a:pPr algn="l"/>
                      <a:r>
                        <a:rPr b="1" sz="1200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anchor="ctr">
                    <a:solidFill>
                      <a:srgbClr val="0B2E5C"/>
                    </a:solidFill>
                  </a:tcPr>
                </a:tc>
              </a:tr>
              <a:tr h="365760">
                <a:tc>
                  <a:txBody>
                    <a:bodyPr lIns="36000" rIns="36000"/>
                    <a:lstStyle/>
                    <a:p>
                      <a:pPr algn="l"/>
                      <a:r>
                        <a:rPr sz="1100">
                          <a:solidFill>
                            <a:srgbClr val="1C1F24"/>
                          </a:solidFill>
                          <a:latin typeface="Calibri"/>
                        </a:rPr>
                        <a:t>Tenant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36000" rIns="36000"/>
                    <a:lstStyle/>
                    <a:p>
                      <a:pPr algn="l"/>
                      <a:r>
                        <a:rPr sz="1100">
                          <a:solidFill>
                            <a:srgbClr val="1C1F24"/>
                          </a:solidFill>
                          <a:latin typeface="Calibri"/>
                        </a:rPr>
                        <a:t>EUR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36000" rIns="36000"/>
                    <a:lstStyle/>
                    <a:p>
                      <a:pPr algn="l"/>
                      <a:r>
                        <a:rPr sz="1100">
                          <a:solidFill>
                            <a:srgbClr val="1C1F24"/>
                          </a:solidFill>
                          <a:latin typeface="Calibri"/>
                        </a:rPr>
                        <a:t>Schema</a:t>
                      </a:r>
                    </a:p>
                  </a:txBody>
                  <a:tcPr anchor="ctr">
                    <a:solidFill>
                      <a:srgbClr val="F4F6FA"/>
                    </a:solidFill>
                  </a:tcPr>
                </a:tc>
                <a:tc>
                  <a:txBody>
                    <a:bodyPr lIns="36000" rIns="36000"/>
                    <a:lstStyle/>
                    <a:p>
                      <a:pPr algn="l"/>
                      <a:r>
                        <a:rPr sz="1100">
                          <a:solidFill>
                            <a:srgbClr val="1C1F24"/>
                          </a:solidFill>
                          <a:latin typeface="Calibri"/>
                        </a:rPr>
                        <a:t>AEDCE</a:t>
                      </a:r>
                    </a:p>
                  </a:txBody>
                  <a:tcPr anchor="ctr">
                    <a:solidFill>
                      <a:srgbClr val="F4F6FA"/>
                    </a:solidFill>
                  </a:tcPr>
                </a:tc>
              </a:tr>
              <a:tr h="365760">
                <a:tc>
                  <a:txBody>
                    <a:bodyPr lIns="36000" rIns="36000"/>
                    <a:lstStyle/>
                    <a:p>
                      <a:pPr algn="l"/>
                      <a:r>
                        <a:rPr sz="1100">
                          <a:solidFill>
                            <a:srgbClr val="1C1F24"/>
                          </a:solidFill>
                          <a:latin typeface="Calibri"/>
                        </a:rPr>
                        <a:t>VRFs (11)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36000" rIns="36000"/>
                    <a:lstStyle/>
                    <a:p>
                      <a:pPr algn="l"/>
                      <a:r>
                        <a:rPr sz="1100">
                          <a:solidFill>
                            <a:srgbClr val="1C1F24"/>
                          </a:solidFill>
                          <a:latin typeface="Calibri"/>
                        </a:rPr>
                        <a:t>EUR-E, EUR-AIS, EUR-AIM, EUR-AIV, EUR-AIZ, EUR-AIG, EUR-AIP, EUR-AOV-UC-DMZ, EUR-ARMY-ENT-SVR-DMZ, EUR-GSN-Test, EUR-E catch-all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36000" rIns="36000"/>
                    <a:lstStyle/>
                    <a:p>
                      <a:pPr algn="l"/>
                      <a:r>
                        <a:rPr sz="1100">
                          <a:solidFill>
                            <a:srgbClr val="1C1F24"/>
                          </a:solidFill>
                          <a:latin typeface="Calibri"/>
                        </a:rPr>
                        <a:t>Bridge Domains</a:t>
                      </a:r>
                    </a:p>
                  </a:txBody>
                  <a:tcPr anchor="ctr">
                    <a:solidFill>
                      <a:srgbClr val="F4F6FA"/>
                    </a:solidFill>
                  </a:tcPr>
                </a:tc>
                <a:tc>
                  <a:txBody>
                    <a:bodyPr lIns="36000" rIns="36000"/>
                    <a:lstStyle/>
                    <a:p>
                      <a:pPr algn="l"/>
                      <a:r>
                        <a:rPr sz="1100">
                          <a:solidFill>
                            <a:srgbClr val="1C1F24"/>
                          </a:solidFill>
                          <a:latin typeface="Calibri"/>
                        </a:rPr>
                        <a:t>215  (numeric: BD-V0005 → BD-V2205)</a:t>
                      </a:r>
                    </a:p>
                  </a:txBody>
                  <a:tcPr anchor="ctr">
                    <a:solidFill>
                      <a:srgbClr val="F4F6FA"/>
                    </a:solidFill>
                  </a:tcPr>
                </a:tc>
              </a:tr>
              <a:tr h="365760">
                <a:tc>
                  <a:txBody>
                    <a:bodyPr lIns="36000" rIns="36000"/>
                    <a:lstStyle/>
                    <a:p>
                      <a:pPr algn="l"/>
                      <a:r>
                        <a:rPr sz="1100">
                          <a:solidFill>
                            <a:srgbClr val="1C1F24"/>
                          </a:solidFill>
                          <a:latin typeface="Calibri"/>
                        </a:rPr>
                        <a:t>EPGs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36000" rIns="36000"/>
                    <a:lstStyle/>
                    <a:p>
                      <a:pPr algn="l"/>
                      <a:r>
                        <a:rPr sz="1100">
                          <a:solidFill>
                            <a:srgbClr val="1C1F24"/>
                          </a:solidFill>
                          <a:latin typeface="Calibri"/>
                        </a:rPr>
                        <a:t>266  (numeric: EPG-V0005 → EPG-V2205)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36000" rIns="36000"/>
                    <a:lstStyle/>
                    <a:p>
                      <a:pPr algn="l"/>
                      <a:r>
                        <a:rPr sz="1100">
                          <a:solidFill>
                            <a:srgbClr val="1C1F24"/>
                          </a:solidFill>
                          <a:latin typeface="Calibri"/>
                        </a:rPr>
                        <a:t>Contracts</a:t>
                      </a:r>
                    </a:p>
                  </a:txBody>
                  <a:tcPr anchor="ctr">
                    <a:solidFill>
                      <a:srgbClr val="F4F6FA"/>
                    </a:solidFill>
                  </a:tcPr>
                </a:tc>
                <a:tc>
                  <a:txBody>
                    <a:bodyPr lIns="36000" rIns="36000"/>
                    <a:lstStyle/>
                    <a:p>
                      <a:pPr algn="l"/>
                      <a:r>
                        <a:rPr sz="1100">
                          <a:solidFill>
                            <a:srgbClr val="1C1F24"/>
                          </a:solidFill>
                          <a:latin typeface="Calibri"/>
                        </a:rPr>
                        <a:t>Per-VRF individual contracts (no vzAny)</a:t>
                      </a:r>
                    </a:p>
                  </a:txBody>
                  <a:tcPr anchor="ctr">
                    <a:solidFill>
                      <a:srgbClr val="F4F6FA"/>
                    </a:solidFill>
                  </a:tcPr>
                </a:tc>
              </a:tr>
              <a:tr h="365760">
                <a:tc>
                  <a:txBody>
                    <a:bodyPr lIns="36000" rIns="36000"/>
                    <a:lstStyle/>
                    <a:p>
                      <a:pPr algn="l"/>
                      <a:r>
                        <a:rPr sz="1100">
                          <a:solidFill>
                            <a:srgbClr val="1C1F24"/>
                          </a:solidFill>
                          <a:latin typeface="Calibri"/>
                        </a:rPr>
                        <a:t>ESGs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36000" rIns="36000"/>
                    <a:lstStyle/>
                    <a:p>
                      <a:pPr algn="l"/>
                      <a:r>
                        <a:rPr sz="1100">
                          <a:solidFill>
                            <a:srgbClr val="1C1F24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36000" rIns="36000"/>
                    <a:lstStyle/>
                    <a:p>
                      <a:pPr algn="l"/>
                      <a:r>
                        <a:rPr sz="1100">
                          <a:solidFill>
                            <a:srgbClr val="1C1F24"/>
                          </a:solidFill>
                          <a:latin typeface="Calibri"/>
                        </a:rPr>
                        <a:t>L3Outs</a:t>
                      </a:r>
                    </a:p>
                  </a:txBody>
                  <a:tcPr anchor="ctr">
                    <a:solidFill>
                      <a:srgbClr val="F4F6FA"/>
                    </a:solidFill>
                  </a:tcPr>
                </a:tc>
                <a:tc>
                  <a:txBody>
                    <a:bodyPr lIns="36000" rIns="36000"/>
                    <a:lstStyle/>
                    <a:p>
                      <a:pPr algn="l"/>
                      <a:r>
                        <a:rPr sz="1100">
                          <a:solidFill>
                            <a:srgbClr val="1C1F24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anchor="ctr">
                    <a:solidFill>
                      <a:srgbClr val="F4F6FA"/>
                    </a:solidFill>
                  </a:tcPr>
                </a:tc>
              </a:tr>
              <a:tr h="365760">
                <a:tc>
                  <a:txBody>
                    <a:bodyPr lIns="36000" rIns="36000"/>
                    <a:lstStyle/>
                    <a:p>
                      <a:pPr algn="l"/>
                      <a:r>
                        <a:rPr sz="1100">
                          <a:solidFill>
                            <a:srgbClr val="1C1F24"/>
                          </a:solidFill>
                          <a:latin typeface="Calibri"/>
                        </a:rPr>
                        <a:t>VMM Domain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36000" rIns="36000"/>
                    <a:lstStyle/>
                    <a:p>
                      <a:pPr algn="l"/>
                      <a:r>
                        <a:rPr sz="1100">
                          <a:solidFill>
                            <a:srgbClr val="1C1F24"/>
                          </a:solidFill>
                          <a:latin typeface="Calibri"/>
                        </a:rPr>
                        <a:t>VMM1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863840" y="1051560"/>
            <a:ext cx="3931920" cy="5303520"/>
          </a:xfrm>
          <a:prstGeom prst="rect">
            <a:avLst/>
          </a:prstGeom>
          <a:solidFill>
            <a:srgbClr val="F4F6FA"/>
          </a:solidFill>
          <a:ln w="9525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863840" y="1051560"/>
            <a:ext cx="3931920" cy="41148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01000" y="1051560"/>
            <a:ext cx="374904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Problems With the Current Design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80" y="1508760"/>
            <a:ext cx="3749040" cy="48006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>
              <a:lnSpc>
                <a:spcPct val="115000"/>
              </a:lnSpc>
            </a:pPr>
            <a:r>
              <a:rPr sz="1100" b="0">
                <a:solidFill>
                  <a:srgbClr val="1C1F24"/>
                </a:solidFill>
                <a:latin typeface="Calibri"/>
              </a:rPr>
              <a:t>•  VRFs created for segmentation, but the firewall already enforces real security boundaries.</a:t>
            </a:r>
          </a:p>
          <a:p>
            <a:pPr>
              <a:lnSpc>
                <a:spcPct val="115000"/>
              </a:lnSpc>
            </a:pPr>
            <a:r>
              <a:rPr sz="1100" b="0">
                <a:solidFill>
                  <a:srgbClr val="1C1F24"/>
                </a:solidFill>
                <a:latin typeface="Calibri"/>
              </a:rPr>
              <a:t>•  Numeric BD/EPG names hide function - operators must cross-reference alias tables.</a:t>
            </a:r>
          </a:p>
          <a:p>
            <a:pPr>
              <a:lnSpc>
                <a:spcPct val="115000"/>
              </a:lnSpc>
            </a:pPr>
            <a:r>
              <a:rPr sz="1100" b="0">
                <a:solidFill>
                  <a:srgbClr val="1C1F24"/>
                </a:solidFill>
                <a:latin typeface="Calibri"/>
              </a:rPr>
              <a:t>•  266 EPGs are hard to audit, contract, and change.</a:t>
            </a:r>
          </a:p>
          <a:p>
            <a:pPr>
              <a:lnSpc>
                <a:spcPct val="115000"/>
              </a:lnSpc>
            </a:pPr>
            <a:r>
              <a:rPr sz="1100" b="0">
                <a:solidFill>
                  <a:srgbClr val="1C1F24"/>
                </a:solidFill>
                <a:latin typeface="Calibri"/>
              </a:rPr>
              <a:t>•  No ESGs = no realistic path to micro-segmentation.</a:t>
            </a:r>
          </a:p>
          <a:p>
            <a:pPr>
              <a:lnSpc>
                <a:spcPct val="115000"/>
              </a:lnSpc>
            </a:pPr>
            <a:r>
              <a:rPr sz="1100" b="0">
                <a:solidFill>
                  <a:srgbClr val="1C1F24"/>
                </a:solidFill>
                <a:latin typeface="Calibri"/>
              </a:rPr>
              <a:t>•  L3Out sprawl (13) complicates routing and changes.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846320"/>
            <a:ext cx="7132320" cy="13716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>
                <a:solidFill>
                  <a:srgbClr val="0B2E5C"/>
                </a:solidFill>
                <a:latin typeface="Calibri"/>
              </a:rPr>
              <a:t>Takeaway: the fabric works, but its object model fights operators every day. A flatter, name-driven model closes the gap without touching a single IP address.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B2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6565392"/>
            <a:ext cx="7315200" cy="29260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ACI Redesign Strategy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20095" y="6565392"/>
            <a:ext cx="1097280" cy="29260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4 / 27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B2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45720"/>
          </a:xfrm>
          <a:prstGeom prst="rect">
            <a:avLst/>
          </a:prstGeom>
          <a:solidFill>
            <a:srgbClr val="F2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0515600" cy="5486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Target State - 2-VRF Redesign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0515600" cy="3200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200" b="0">
                <a:solidFill>
                  <a:srgbClr val="CFDAEA"/>
                </a:solidFill>
                <a:latin typeface="Calibri"/>
              </a:rPr>
              <a:t>VRF-EUR + VRF-DMZ, 39 BDs, 39 EPGs, 2 ESGs, vzAny permit-all start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051560"/>
          <a:ext cx="7132319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3549"/>
                <a:gridCol w="5218770"/>
              </a:tblGrid>
              <a:tr h="426720">
                <a:tc>
                  <a:txBody>
                    <a:bodyPr lIns="36000" rIns="36000"/>
                    <a:lstStyle/>
                    <a:p>
                      <a:pPr algn="l"/>
                      <a:r>
                        <a:rPr b="1" sz="1200">
                          <a:solidFill>
                            <a:srgbClr val="FFFFFF"/>
                          </a:solidFill>
                          <a:latin typeface="Calibri"/>
                        </a:rPr>
                        <a:t>Attribute</a:t>
                      </a:r>
                    </a:p>
                  </a:txBody>
                  <a:tcPr anchor="ctr">
                    <a:solidFill>
                      <a:srgbClr val="0B2E5C"/>
                    </a:solidFill>
                  </a:tcPr>
                </a:tc>
                <a:tc>
                  <a:txBody>
                    <a:bodyPr lIns="36000" rIns="36000"/>
                    <a:lstStyle/>
                    <a:p>
                      <a:pPr algn="l"/>
                      <a:r>
                        <a:rPr b="1" sz="1200">
                          <a:solidFill>
                            <a:srgbClr val="FFFFFF"/>
                          </a:solidFill>
                          <a:latin typeface="Calibri"/>
                        </a:rPr>
                        <a:t>Target</a:t>
                      </a:r>
                    </a:p>
                  </a:txBody>
                  <a:tcPr anchor="ctr">
                    <a:solidFill>
                      <a:srgbClr val="0B2E5C"/>
                    </a:solidFill>
                  </a:tcPr>
                </a:tc>
              </a:tr>
              <a:tr h="426720">
                <a:tc>
                  <a:txBody>
                    <a:bodyPr lIns="36000" rIns="36000"/>
                    <a:lstStyle/>
                    <a:p>
                      <a:pPr algn="l"/>
                      <a:r>
                        <a:rPr sz="1100">
                          <a:solidFill>
                            <a:srgbClr val="1C1F24"/>
                          </a:solidFill>
                          <a:latin typeface="Calibri"/>
                        </a:rPr>
                        <a:t>Tenant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36000" rIns="36000"/>
                    <a:lstStyle/>
                    <a:p>
                      <a:pPr algn="l"/>
                      <a:r>
                        <a:rPr sz="1100">
                          <a:solidFill>
                            <a:srgbClr val="1C1F24"/>
                          </a:solidFill>
                          <a:latin typeface="Calibri"/>
                        </a:rPr>
                        <a:t>EUR (unchanged)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 lIns="36000" rIns="36000"/>
                    <a:lstStyle/>
                    <a:p>
                      <a:pPr algn="l"/>
                      <a:r>
                        <a:rPr sz="1100">
                          <a:solidFill>
                            <a:srgbClr val="1C1F24"/>
                          </a:solidFill>
                          <a:latin typeface="Calibri"/>
                        </a:rPr>
                        <a:t>VRFs</a:t>
                      </a:r>
                    </a:p>
                  </a:txBody>
                  <a:tcPr anchor="ctr">
                    <a:solidFill>
                      <a:srgbClr val="F4F6FA"/>
                    </a:solidFill>
                  </a:tcPr>
                </a:tc>
                <a:tc>
                  <a:txBody>
                    <a:bodyPr lIns="36000" rIns="36000"/>
                    <a:lstStyle/>
                    <a:p>
                      <a:pPr algn="l"/>
                      <a:r>
                        <a:rPr sz="1100">
                          <a:solidFill>
                            <a:srgbClr val="1C1F24"/>
                          </a:solidFill>
                          <a:latin typeface="Calibri"/>
                        </a:rPr>
                        <a:t>2  -  VRF-EUR (internal) + VRF-DMZ (proxy segments)</a:t>
                      </a:r>
                    </a:p>
                  </a:txBody>
                  <a:tcPr anchor="ctr">
                    <a:solidFill>
                      <a:srgbClr val="F4F6FA"/>
                    </a:solidFill>
                  </a:tcPr>
                </a:tc>
              </a:tr>
              <a:tr h="426720">
                <a:tc>
                  <a:txBody>
                    <a:bodyPr lIns="36000" rIns="36000"/>
                    <a:lstStyle/>
                    <a:p>
                      <a:pPr algn="l"/>
                      <a:r>
                        <a:rPr sz="1100">
                          <a:solidFill>
                            <a:srgbClr val="1C1F24"/>
                          </a:solidFill>
                          <a:latin typeface="Calibri"/>
                        </a:rPr>
                        <a:t>Bridge Domains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36000" rIns="36000"/>
                    <a:lstStyle/>
                    <a:p>
                      <a:pPr algn="l"/>
                      <a:r>
                        <a:rPr sz="1100">
                          <a:solidFill>
                            <a:srgbClr val="1C1F24"/>
                          </a:solidFill>
                          <a:latin typeface="Calibri"/>
                        </a:rPr>
                        <a:t>39 descriptive  -  BD-AD, BD-APP-SVR, BD-CFG-MGMT, ...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 lIns="36000" rIns="36000"/>
                    <a:lstStyle/>
                    <a:p>
                      <a:pPr algn="l"/>
                      <a:r>
                        <a:rPr sz="1100">
                          <a:solidFill>
                            <a:srgbClr val="1C1F24"/>
                          </a:solidFill>
                          <a:latin typeface="Calibri"/>
                        </a:rPr>
                        <a:t>EPGs</a:t>
                      </a:r>
                    </a:p>
                  </a:txBody>
                  <a:tcPr anchor="ctr">
                    <a:solidFill>
                      <a:srgbClr val="F4F6FA"/>
                    </a:solidFill>
                  </a:tcPr>
                </a:tc>
                <a:tc>
                  <a:txBody>
                    <a:bodyPr lIns="36000" rIns="36000"/>
                    <a:lstStyle/>
                    <a:p>
                      <a:pPr algn="l"/>
                      <a:r>
                        <a:rPr sz="1100">
                          <a:solidFill>
                            <a:srgbClr val="1C1F24"/>
                          </a:solidFill>
                          <a:latin typeface="Calibri"/>
                        </a:rPr>
                        <a:t>39 (1:1 with BDs)  -  EPG-AD, EPG-APP-SVR, ...</a:t>
                      </a:r>
                    </a:p>
                  </a:txBody>
                  <a:tcPr anchor="ctr">
                    <a:solidFill>
                      <a:srgbClr val="F4F6FA"/>
                    </a:solidFill>
                  </a:tcPr>
                </a:tc>
              </a:tr>
              <a:tr h="426720">
                <a:tc>
                  <a:txBody>
                    <a:bodyPr lIns="36000" rIns="36000"/>
                    <a:lstStyle/>
                    <a:p>
                      <a:pPr algn="l"/>
                      <a:r>
                        <a:rPr sz="1100">
                          <a:solidFill>
                            <a:srgbClr val="1C1F24"/>
                          </a:solidFill>
                          <a:latin typeface="Calibri"/>
                        </a:rPr>
                        <a:t>Contracts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36000" rIns="36000"/>
                    <a:lstStyle/>
                    <a:p>
                      <a:pPr algn="l"/>
                      <a:r>
                        <a:rPr sz="1100">
                          <a:solidFill>
                            <a:srgbClr val="1C1F24"/>
                          </a:solidFill>
                          <a:latin typeface="Calibri"/>
                        </a:rPr>
                        <a:t>vzAny permit-all (initial) - tightened via ESGs later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 lIns="36000" rIns="36000"/>
                    <a:lstStyle/>
                    <a:p>
                      <a:pPr algn="l"/>
                      <a:r>
                        <a:rPr sz="1100">
                          <a:solidFill>
                            <a:srgbClr val="1C1F24"/>
                          </a:solidFill>
                          <a:latin typeface="Calibri"/>
                        </a:rPr>
                        <a:t>ESGs</a:t>
                      </a:r>
                    </a:p>
                  </a:txBody>
                  <a:tcPr anchor="ctr">
                    <a:solidFill>
                      <a:srgbClr val="F4F6FA"/>
                    </a:solidFill>
                  </a:tcPr>
                </a:tc>
                <a:tc>
                  <a:txBody>
                    <a:bodyPr lIns="36000" rIns="36000"/>
                    <a:lstStyle/>
                    <a:p>
                      <a:pPr algn="l"/>
                      <a:r>
                        <a:rPr sz="1100">
                          <a:solidFill>
                            <a:srgbClr val="1C1F24"/>
                          </a:solidFill>
                          <a:latin typeface="Calibri"/>
                        </a:rPr>
                        <a:t>ESG-All-Internal-EPGs (36) + ESG-All-DMZ-EPGs (3)  -  deferred (nac-ndo ~&gt; 1.2.0 lacks ESG selectors)</a:t>
                      </a:r>
                    </a:p>
                  </a:txBody>
                  <a:tcPr anchor="ctr">
                    <a:solidFill>
                      <a:srgbClr val="F4F6FA"/>
                    </a:solidFill>
                  </a:tcPr>
                </a:tc>
              </a:tr>
              <a:tr h="426720">
                <a:tc>
                  <a:txBody>
                    <a:bodyPr lIns="36000" rIns="36000"/>
                    <a:lstStyle/>
                    <a:p>
                      <a:pPr algn="l"/>
                      <a:r>
                        <a:rPr sz="1100">
                          <a:solidFill>
                            <a:srgbClr val="1C1F24"/>
                          </a:solidFill>
                          <a:latin typeface="Calibri"/>
                        </a:rPr>
                        <a:t>App Profiles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36000" rIns="36000"/>
                    <a:lstStyle/>
                    <a:p>
                      <a:pPr algn="l"/>
                      <a:r>
                        <a:rPr sz="1100">
                          <a:solidFill>
                            <a:srgbClr val="1C1F24"/>
                          </a:solidFill>
                          <a:latin typeface="Calibri"/>
                        </a:rPr>
                        <a:t>AppProf-NetCentric, AppProf-DMZ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 lIns="36000" rIns="36000"/>
                    <a:lstStyle/>
                    <a:p>
                      <a:pPr algn="l"/>
                      <a:r>
                        <a:rPr sz="1100">
                          <a:solidFill>
                            <a:srgbClr val="1C1F24"/>
                          </a:solidFill>
                          <a:latin typeface="Calibri"/>
                        </a:rPr>
                        <a:t>IPv6 (VRF-RCC)</a:t>
                      </a:r>
                    </a:p>
                  </a:txBody>
                  <a:tcPr anchor="ctr">
                    <a:solidFill>
                      <a:srgbClr val="F4F6FA"/>
                    </a:solidFill>
                  </a:tcPr>
                </a:tc>
                <a:tc>
                  <a:txBody>
                    <a:bodyPr lIns="36000" rIns="36000"/>
                    <a:lstStyle/>
                    <a:p>
                      <a:pPr algn="l"/>
                      <a:r>
                        <a:rPr sz="1100">
                          <a:solidFill>
                            <a:srgbClr val="1C1F24"/>
                          </a:solidFill>
                          <a:latin typeface="Calibri"/>
                        </a:rPr>
                        <a:t>Unchanged  -  managed separately in ndo-terraform-nac</a:t>
                      </a:r>
                    </a:p>
                  </a:txBody>
                  <a:tcPr anchor="ctr">
                    <a:solidFill>
                      <a:srgbClr val="F4F6FA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863840" y="1051560"/>
            <a:ext cx="3931920" cy="3840480"/>
          </a:xfrm>
          <a:prstGeom prst="rect">
            <a:avLst/>
          </a:prstGeom>
          <a:solidFill>
            <a:srgbClr val="F4F6FA"/>
          </a:solidFill>
          <a:ln w="9525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863840" y="1051560"/>
            <a:ext cx="3931920" cy="411480"/>
          </a:xfrm>
          <a:prstGeom prst="rect">
            <a:avLst/>
          </a:prstGeom>
          <a:solidFill>
            <a:srgbClr val="1D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01000" y="1051560"/>
            <a:ext cx="374904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Why this shape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80" y="1508760"/>
            <a:ext cx="3749040" cy="33375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>
              <a:lnSpc>
                <a:spcPct val="115000"/>
              </a:lnSpc>
            </a:pPr>
            <a:r>
              <a:rPr sz="1100" b="0">
                <a:solidFill>
                  <a:srgbClr val="1C1F24"/>
                </a:solidFill>
                <a:latin typeface="Calibri"/>
              </a:rPr>
              <a:t>•  VRF-EUR consolidates all internal IPv4 traffic into a single routing domain.</a:t>
            </a:r>
          </a:p>
          <a:p>
            <a:pPr>
              <a:lnSpc>
                <a:spcPct val="115000"/>
              </a:lnSpc>
            </a:pPr>
            <a:r>
              <a:rPr sz="1100" b="0">
                <a:solidFill>
                  <a:srgbClr val="1C1F24"/>
                </a:solidFill>
                <a:latin typeface="Calibri"/>
              </a:rPr>
              <a:t>•  VRF-DMZ keeps proxy segments (139.139.x.x) routing-isolated from internal.</a:t>
            </a:r>
          </a:p>
          <a:p>
            <a:pPr>
              <a:lnSpc>
                <a:spcPct val="115000"/>
              </a:lnSpc>
            </a:pPr>
            <a:r>
              <a:rPr sz="1100" b="0">
                <a:solidFill>
                  <a:srgbClr val="1C1F24"/>
                </a:solidFill>
                <a:latin typeface="Calibri"/>
              </a:rPr>
              <a:t>•  vzAny makes initial cut-over safe and reversible.</a:t>
            </a:r>
          </a:p>
          <a:p>
            <a:pPr>
              <a:lnSpc>
                <a:spcPct val="115000"/>
              </a:lnSpc>
            </a:pPr>
            <a:r>
              <a:rPr sz="1100" b="0">
                <a:solidFill>
                  <a:srgbClr val="1C1F24"/>
                </a:solidFill>
                <a:latin typeface="Calibri"/>
              </a:rPr>
              <a:t>•  ESGs give a classification layer today and a policy layer tomorrow.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5029200"/>
            <a:ext cx="11247120" cy="1371600"/>
          </a:xfrm>
          <a:prstGeom prst="rect">
            <a:avLst/>
          </a:prstGeom>
          <a:solidFill>
            <a:srgbClr val="F4F6FA"/>
          </a:solidFill>
          <a:ln w="9525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5102352"/>
            <a:ext cx="1088136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>
                <a:solidFill>
                  <a:srgbClr val="0B2E5C"/>
                </a:solidFill>
                <a:latin typeface="Calibri"/>
              </a:rPr>
              <a:t>Subnet consolidation across the 215 legacy BDs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5486400"/>
            <a:ext cx="265176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5486400"/>
            <a:ext cx="73152" cy="822960"/>
          </a:xfrm>
          <a:prstGeom prst="rect">
            <a:avLst/>
          </a:prstGeom>
          <a:solidFill>
            <a:srgbClr val="005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5532120"/>
            <a:ext cx="64008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>
                <a:solidFill>
                  <a:srgbClr val="005A9C"/>
                </a:solidFill>
                <a:latin typeface="Calibri"/>
              </a:rPr>
              <a:t>22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5532120"/>
            <a:ext cx="1737360" cy="7772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555C66"/>
                </a:solidFill>
                <a:latin typeface="Calibri"/>
              </a:rPr>
              <a:t>BDs carrying real IPv4 subnets (110 subnets total)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74720" y="5486400"/>
            <a:ext cx="265176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474720" y="5486400"/>
            <a:ext cx="73152" cy="822960"/>
          </a:xfrm>
          <a:prstGeom prst="rect">
            <a:avLst/>
          </a:prstGeom>
          <a:solidFill>
            <a:srgbClr val="F2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11880" y="5532120"/>
            <a:ext cx="64008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>
                <a:solidFill>
                  <a:srgbClr val="F29900"/>
                </a:solidFill>
                <a:latin typeface="Calibri"/>
              </a:rPr>
              <a:t>17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51960" y="5532120"/>
            <a:ext cx="1737360" cy="7772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555C66"/>
                </a:solidFill>
                <a:latin typeface="Calibri"/>
              </a:rPr>
              <a:t>Placeholder BDs (IPv6-only categories)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9360" y="5486400"/>
            <a:ext cx="265176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09360" y="5486400"/>
            <a:ext cx="73152" cy="822960"/>
          </a:xfrm>
          <a:prstGeom prst="rect">
            <a:avLst/>
          </a:prstGeom>
          <a:solidFill>
            <a:srgbClr val="1D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5532120"/>
            <a:ext cx="64008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>
                <a:solidFill>
                  <a:srgbClr val="1D8A3E"/>
                </a:solidFill>
                <a:latin typeface="Calibri"/>
              </a:rPr>
              <a:t>14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86600" y="5532120"/>
            <a:ext cx="1737360" cy="7772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555C66"/>
                </a:solidFill>
                <a:latin typeface="Calibri"/>
              </a:rPr>
              <a:t>L2-only BDs (gateway on firewall)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144000" y="5486400"/>
            <a:ext cx="265176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144000" y="5486400"/>
            <a:ext cx="73152" cy="8229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81160" y="5532120"/>
            <a:ext cx="64008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>
                <a:solidFill>
                  <a:srgbClr val="C0392B"/>
                </a:solidFill>
                <a:latin typeface="Calibri"/>
              </a:rPr>
              <a:t>30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921240" y="5532120"/>
            <a:ext cx="1737360" cy="7772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555C66"/>
                </a:solidFill>
                <a:latin typeface="Calibri"/>
              </a:rPr>
              <a:t>Decommission (20 dead + 4 deprecated + 6 test)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B2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5760" y="6565392"/>
            <a:ext cx="7315200" cy="29260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ACI Redesign Strategy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20095" y="6565392"/>
            <a:ext cx="1097280" cy="29260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5 / 27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B2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45720"/>
          </a:xfrm>
          <a:prstGeom prst="rect">
            <a:avLst/>
          </a:prstGeom>
          <a:solidFill>
            <a:srgbClr val="F2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0515600" cy="5486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Target Architecture Diagram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0515600" cy="3200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200" b="0">
                <a:solidFill>
                  <a:srgbClr val="CFDAEA"/>
                </a:solidFill>
                <a:latin typeface="Calibri"/>
              </a:rPr>
              <a:t>Tenant EUR - two VRFs, vzAny per VRF, ESGs grouping all EPGs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051560"/>
            <a:ext cx="11430000" cy="5303520"/>
          </a:xfrm>
          <a:prstGeom prst="rect">
            <a:avLst/>
          </a:prstGeom>
          <a:solidFill>
            <a:srgbClr val="FFFFFF"/>
          </a:solidFill>
          <a:ln w="9525">
            <a:solidFill>
              <a:srgbClr val="CFD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051560"/>
            <a:ext cx="11430000" cy="365760"/>
          </a:xfrm>
          <a:prstGeom prst="rect">
            <a:avLst/>
          </a:prstGeom>
          <a:solidFill>
            <a:srgbClr val="0B2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051560"/>
            <a:ext cx="365760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Tenant: EUR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23360" y="1051560"/>
            <a:ext cx="758952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r"/>
            <a:r>
              <a:rPr sz="1100" b="0">
                <a:solidFill>
                  <a:srgbClr val="CFDAEA"/>
                </a:solidFill>
                <a:latin typeface="Calibri"/>
              </a:rPr>
              <a:t>Filters: Any  |  Contracts: Any_VRF-EUR, Any_VRF-DMZ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600200"/>
            <a:ext cx="7040880" cy="4572000"/>
          </a:xfrm>
          <a:prstGeom prst="rect">
            <a:avLst/>
          </a:prstGeom>
          <a:solidFill>
            <a:srgbClr val="F4F6FA"/>
          </a:solidFill>
          <a:ln w="9525">
            <a:solidFill>
              <a:srgbClr val="CFD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1600200"/>
            <a:ext cx="7040880" cy="411480"/>
          </a:xfrm>
          <a:prstGeom prst="rect">
            <a:avLst/>
          </a:prstGeom>
          <a:solidFill>
            <a:srgbClr val="005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1600200"/>
            <a:ext cx="704088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VRF-EUR  -  Internal IPv4   |   vzAny: Any_VRF-EUR (permit-all)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2103120"/>
            <a:ext cx="6675120" cy="2651760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2148840"/>
            <a:ext cx="649224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1">
                <a:solidFill>
                  <a:srgbClr val="0B2E5C"/>
                </a:solidFill>
                <a:latin typeface="Calibri"/>
              </a:rPr>
              <a:t>36 Bridge Domains  (22 with IPv4 subnets · 14 placeholders)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2468880"/>
            <a:ext cx="1568196" cy="210312"/>
          </a:xfrm>
          <a:prstGeom prst="rect">
            <a:avLst/>
          </a:prstGeom>
          <a:solidFill>
            <a:srgbClr val="FFFFFF"/>
          </a:solidFill>
          <a:ln w="9525">
            <a:solidFill>
              <a:srgbClr val="CFD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2468880"/>
            <a:ext cx="1568196" cy="21031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850" b="0">
                <a:solidFill>
                  <a:srgbClr val="1C1F24"/>
                </a:solidFill>
                <a:latin typeface="Calibri"/>
              </a:rPr>
              <a:t>BD-AD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446020" y="2468880"/>
            <a:ext cx="1568196" cy="210312"/>
          </a:xfrm>
          <a:prstGeom prst="rect">
            <a:avLst/>
          </a:prstGeom>
          <a:solidFill>
            <a:srgbClr val="FFFFFF"/>
          </a:solidFill>
          <a:ln w="9525">
            <a:solidFill>
              <a:srgbClr val="CFD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446020" y="2468880"/>
            <a:ext cx="1568196" cy="21031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850" b="0">
                <a:solidFill>
                  <a:srgbClr val="1C1F24"/>
                </a:solidFill>
                <a:latin typeface="Calibri"/>
              </a:rPr>
              <a:t>BD-APP-SVR (32)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69080" y="2468880"/>
            <a:ext cx="1568196" cy="210312"/>
          </a:xfrm>
          <a:prstGeom prst="rect">
            <a:avLst/>
          </a:prstGeom>
          <a:solidFill>
            <a:srgbClr val="FFFFFF"/>
          </a:solidFill>
          <a:ln w="9525">
            <a:solidFill>
              <a:srgbClr val="CFD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069080" y="2468880"/>
            <a:ext cx="1568196" cy="21031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850" b="0">
                <a:solidFill>
                  <a:srgbClr val="1C1F24"/>
                </a:solidFill>
                <a:latin typeface="Calibri"/>
              </a:rPr>
              <a:t>BD-CFG-MGMT (19)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92140" y="2468880"/>
            <a:ext cx="1568196" cy="210312"/>
          </a:xfrm>
          <a:prstGeom prst="rect">
            <a:avLst/>
          </a:prstGeom>
          <a:solidFill>
            <a:srgbClr val="FFFFFF"/>
          </a:solidFill>
          <a:ln w="9525">
            <a:solidFill>
              <a:srgbClr val="CFD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92140" y="2468880"/>
            <a:ext cx="1568196" cy="21031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850" b="0">
                <a:solidFill>
                  <a:srgbClr val="1C1F24"/>
                </a:solidFill>
                <a:latin typeface="Calibri"/>
              </a:rPr>
              <a:t>BD-WEB-SVR (11)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2715768"/>
            <a:ext cx="1568196" cy="210312"/>
          </a:xfrm>
          <a:prstGeom prst="rect">
            <a:avLst/>
          </a:prstGeom>
          <a:solidFill>
            <a:srgbClr val="FFFFFF"/>
          </a:solidFill>
          <a:ln w="9525">
            <a:solidFill>
              <a:srgbClr val="CFD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2715768"/>
            <a:ext cx="1568196" cy="21031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850" b="0">
                <a:solidFill>
                  <a:srgbClr val="1C1F24"/>
                </a:solidFill>
                <a:latin typeface="Calibri"/>
              </a:rPr>
              <a:t>BD-DB-SVR (8)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446020" y="2715768"/>
            <a:ext cx="1568196" cy="210312"/>
          </a:xfrm>
          <a:prstGeom prst="rect">
            <a:avLst/>
          </a:prstGeom>
          <a:solidFill>
            <a:srgbClr val="FFFFFF"/>
          </a:solidFill>
          <a:ln w="9525">
            <a:solidFill>
              <a:srgbClr val="CFD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446020" y="2715768"/>
            <a:ext cx="1568196" cy="21031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850" b="0">
                <a:solidFill>
                  <a:srgbClr val="1C1F24"/>
                </a:solidFill>
                <a:latin typeface="Calibri"/>
              </a:rPr>
              <a:t>BD-VVOIP-MGMT (9)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069080" y="2715768"/>
            <a:ext cx="1568196" cy="210312"/>
          </a:xfrm>
          <a:prstGeom prst="rect">
            <a:avLst/>
          </a:prstGeom>
          <a:solidFill>
            <a:srgbClr val="FFFFFF"/>
          </a:solidFill>
          <a:ln w="9525">
            <a:solidFill>
              <a:srgbClr val="CFD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069080" y="2715768"/>
            <a:ext cx="1568196" cy="21031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850" b="0">
                <a:solidFill>
                  <a:srgbClr val="1C1F24"/>
                </a:solidFill>
                <a:latin typeface="Calibri"/>
              </a:rPr>
              <a:t>BD-MECM (6)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92140" y="2715768"/>
            <a:ext cx="1568196" cy="210312"/>
          </a:xfrm>
          <a:prstGeom prst="rect">
            <a:avLst/>
          </a:prstGeom>
          <a:solidFill>
            <a:srgbClr val="FFFFFF"/>
          </a:solidFill>
          <a:ln w="9525">
            <a:solidFill>
              <a:srgbClr val="CFD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692140" y="2715768"/>
            <a:ext cx="1568196" cy="21031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850" b="0">
                <a:solidFill>
                  <a:srgbClr val="1C1F24"/>
                </a:solidFill>
                <a:latin typeface="Calibri"/>
              </a:rPr>
              <a:t>BD-BACKUP-SVR (4)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2962656"/>
            <a:ext cx="1568196" cy="210312"/>
          </a:xfrm>
          <a:prstGeom prst="rect">
            <a:avLst/>
          </a:prstGeom>
          <a:solidFill>
            <a:srgbClr val="FFFFFF"/>
          </a:solidFill>
          <a:ln w="9525">
            <a:solidFill>
              <a:srgbClr val="CFD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960" y="2962656"/>
            <a:ext cx="1568196" cy="21031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850" b="0">
                <a:solidFill>
                  <a:srgbClr val="1C1F24"/>
                </a:solidFill>
                <a:latin typeface="Calibri"/>
              </a:rPr>
              <a:t>BD-FILE-SVR (3)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446020" y="2962656"/>
            <a:ext cx="1568196" cy="210312"/>
          </a:xfrm>
          <a:prstGeom prst="rect">
            <a:avLst/>
          </a:prstGeom>
          <a:solidFill>
            <a:srgbClr val="FFFFFF"/>
          </a:solidFill>
          <a:ln w="9525">
            <a:solidFill>
              <a:srgbClr val="CFD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446020" y="2962656"/>
            <a:ext cx="1568196" cy="21031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850" b="0">
                <a:solidFill>
                  <a:srgbClr val="1C1F24"/>
                </a:solidFill>
                <a:latin typeface="Calibri"/>
              </a:rPr>
              <a:t>BD-SYSLOG (3)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069080" y="2962656"/>
            <a:ext cx="1568196" cy="210312"/>
          </a:xfrm>
          <a:prstGeom prst="rect">
            <a:avLst/>
          </a:prstGeom>
          <a:solidFill>
            <a:srgbClr val="FFFFFF"/>
          </a:solidFill>
          <a:ln w="9525">
            <a:solidFill>
              <a:srgbClr val="CFD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069080" y="2962656"/>
            <a:ext cx="1568196" cy="21031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850" b="0">
                <a:solidFill>
                  <a:srgbClr val="1C1F24"/>
                </a:solidFill>
                <a:latin typeface="Calibri"/>
              </a:rPr>
              <a:t>BD-LB (3)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692140" y="2962656"/>
            <a:ext cx="1568196" cy="210312"/>
          </a:xfrm>
          <a:prstGeom prst="rect">
            <a:avLst/>
          </a:prstGeom>
          <a:solidFill>
            <a:srgbClr val="FFFFFF"/>
          </a:solidFill>
          <a:ln w="9525">
            <a:solidFill>
              <a:srgbClr val="CFD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692140" y="2962656"/>
            <a:ext cx="1568196" cy="21031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850" b="0">
                <a:solidFill>
                  <a:srgbClr val="1C1F24"/>
                </a:solidFill>
                <a:latin typeface="Calibri"/>
              </a:rPr>
              <a:t>BD-ACAS-SCANNERS (2)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22960" y="3209544"/>
            <a:ext cx="1568196" cy="210312"/>
          </a:xfrm>
          <a:prstGeom prst="rect">
            <a:avLst/>
          </a:prstGeom>
          <a:solidFill>
            <a:srgbClr val="FFFFFF"/>
          </a:solidFill>
          <a:ln w="9525">
            <a:solidFill>
              <a:srgbClr val="CFD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22960" y="3209544"/>
            <a:ext cx="1568196" cy="21031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850" b="0">
                <a:solidFill>
                  <a:srgbClr val="1C1F24"/>
                </a:solidFill>
                <a:latin typeface="Calibri"/>
              </a:rPr>
              <a:t>BD-NMS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446020" y="3209544"/>
            <a:ext cx="1568196" cy="210312"/>
          </a:xfrm>
          <a:prstGeom prst="rect">
            <a:avLst/>
          </a:prstGeom>
          <a:solidFill>
            <a:srgbClr val="FFFFFF"/>
          </a:solidFill>
          <a:ln w="9525">
            <a:solidFill>
              <a:srgbClr val="CFD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446020" y="3209544"/>
            <a:ext cx="1568196" cy="21031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850" b="0">
                <a:solidFill>
                  <a:srgbClr val="1C1F24"/>
                </a:solidFill>
                <a:latin typeface="Calibri"/>
              </a:rPr>
              <a:t>BD-PATCH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069080" y="3209544"/>
            <a:ext cx="1568196" cy="210312"/>
          </a:xfrm>
          <a:prstGeom prst="rect">
            <a:avLst/>
          </a:prstGeom>
          <a:solidFill>
            <a:srgbClr val="FFFFFF"/>
          </a:solidFill>
          <a:ln w="9525">
            <a:solidFill>
              <a:srgbClr val="CFD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069080" y="3209544"/>
            <a:ext cx="1568196" cy="21031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850" b="0">
                <a:solidFill>
                  <a:srgbClr val="1C1F24"/>
                </a:solidFill>
                <a:latin typeface="Calibri"/>
              </a:rPr>
              <a:t>BD-PKI-SRV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692140" y="3209544"/>
            <a:ext cx="1568196" cy="210312"/>
          </a:xfrm>
          <a:prstGeom prst="rect">
            <a:avLst/>
          </a:prstGeom>
          <a:solidFill>
            <a:srgbClr val="FFFFFF"/>
          </a:solidFill>
          <a:ln w="9525">
            <a:solidFill>
              <a:srgbClr val="CFD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692140" y="3209544"/>
            <a:ext cx="1568196" cy="21031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850" b="0">
                <a:solidFill>
                  <a:srgbClr val="1C1F24"/>
                </a:solidFill>
                <a:latin typeface="Calibri"/>
              </a:rPr>
              <a:t>BD-VHOST-MGMT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22960" y="3456432"/>
            <a:ext cx="1568196" cy="210312"/>
          </a:xfrm>
          <a:prstGeom prst="rect">
            <a:avLst/>
          </a:prstGeom>
          <a:solidFill>
            <a:srgbClr val="FFFFFF"/>
          </a:solidFill>
          <a:ln w="9525">
            <a:solidFill>
              <a:srgbClr val="CFD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22960" y="3456432"/>
            <a:ext cx="1568196" cy="21031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850" b="0">
                <a:solidFill>
                  <a:srgbClr val="1C1F24"/>
                </a:solidFill>
                <a:latin typeface="Calibri"/>
              </a:rPr>
              <a:t>BD-VVOIP-PROXY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446020" y="3456432"/>
            <a:ext cx="1568196" cy="210312"/>
          </a:xfrm>
          <a:prstGeom prst="rect">
            <a:avLst/>
          </a:prstGeom>
          <a:solidFill>
            <a:srgbClr val="FFFFFF"/>
          </a:solidFill>
          <a:ln w="9525">
            <a:solidFill>
              <a:srgbClr val="CFD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446020" y="3456432"/>
            <a:ext cx="1568196" cy="21031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850" b="0">
                <a:solidFill>
                  <a:srgbClr val="1C1F24"/>
                </a:solidFill>
                <a:latin typeface="Calibri"/>
              </a:rPr>
              <a:t>BD-ADM-DCO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069080" y="3456432"/>
            <a:ext cx="1568196" cy="210312"/>
          </a:xfrm>
          <a:prstGeom prst="rect">
            <a:avLst/>
          </a:prstGeom>
          <a:solidFill>
            <a:srgbClr val="FFFFFF"/>
          </a:solidFill>
          <a:ln w="9525">
            <a:solidFill>
              <a:srgbClr val="CFD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069080" y="3456432"/>
            <a:ext cx="1568196" cy="21031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850" b="0">
                <a:solidFill>
                  <a:srgbClr val="1C1F24"/>
                </a:solidFill>
                <a:latin typeface="Calibri"/>
              </a:rPr>
              <a:t>BD-DNS-MGMT (L2)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692140" y="3456432"/>
            <a:ext cx="1568196" cy="210312"/>
          </a:xfrm>
          <a:prstGeom prst="rect">
            <a:avLst/>
          </a:prstGeom>
          <a:solidFill>
            <a:srgbClr val="FFFFFF"/>
          </a:solidFill>
          <a:ln w="9525">
            <a:solidFill>
              <a:srgbClr val="CFD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692140" y="3456432"/>
            <a:ext cx="1568196" cy="21031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850" b="0">
                <a:solidFill>
                  <a:srgbClr val="1C1F24"/>
                </a:solidFill>
                <a:latin typeface="Calibri"/>
              </a:rPr>
              <a:t>BD-GEF-MGMT (L2)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22960" y="3703320"/>
            <a:ext cx="1568196" cy="210312"/>
          </a:xfrm>
          <a:prstGeom prst="rect">
            <a:avLst/>
          </a:prstGeom>
          <a:solidFill>
            <a:srgbClr val="F4F6FA"/>
          </a:solidFill>
          <a:ln w="9525">
            <a:solidFill>
              <a:srgbClr val="CFD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22960" y="3703320"/>
            <a:ext cx="1568196" cy="21031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850" b="0">
                <a:solidFill>
                  <a:srgbClr val="1C1F24"/>
                </a:solidFill>
                <a:latin typeface="Calibri"/>
              </a:rPr>
              <a:t>BD-ACAS-MGMT*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446020" y="3703320"/>
            <a:ext cx="1568196" cy="210312"/>
          </a:xfrm>
          <a:prstGeom prst="rect">
            <a:avLst/>
          </a:prstGeom>
          <a:solidFill>
            <a:srgbClr val="F4F6FA"/>
          </a:solidFill>
          <a:ln w="9525">
            <a:solidFill>
              <a:srgbClr val="CFD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446020" y="3703320"/>
            <a:ext cx="1568196" cy="21031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850" b="0">
                <a:solidFill>
                  <a:srgbClr val="1C1F24"/>
                </a:solidFill>
                <a:latin typeface="Calibri"/>
              </a:rPr>
              <a:t>BD-ADFS*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069080" y="3703320"/>
            <a:ext cx="1568196" cy="210312"/>
          </a:xfrm>
          <a:prstGeom prst="rect">
            <a:avLst/>
          </a:prstGeom>
          <a:solidFill>
            <a:srgbClr val="F4F6FA"/>
          </a:solidFill>
          <a:ln w="9525">
            <a:solidFill>
              <a:srgbClr val="CFD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069080" y="3703320"/>
            <a:ext cx="1568196" cy="21031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850" b="0">
                <a:solidFill>
                  <a:srgbClr val="1C1F24"/>
                </a:solidFill>
                <a:latin typeface="Calibri"/>
              </a:rPr>
              <a:t>BD-C2C-SCANNERS*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692140" y="3703320"/>
            <a:ext cx="1568196" cy="210312"/>
          </a:xfrm>
          <a:prstGeom prst="rect">
            <a:avLst/>
          </a:prstGeom>
          <a:solidFill>
            <a:srgbClr val="F4F6FA"/>
          </a:solidFill>
          <a:ln w="9525">
            <a:solidFill>
              <a:srgbClr val="CFD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692140" y="3703320"/>
            <a:ext cx="1568196" cy="21031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850" b="0">
                <a:solidFill>
                  <a:srgbClr val="1C1F24"/>
                </a:solidFill>
                <a:latin typeface="Calibri"/>
              </a:rPr>
              <a:t>BD-DHCP-SVR*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22960" y="3950208"/>
            <a:ext cx="1568196" cy="210312"/>
          </a:xfrm>
          <a:prstGeom prst="rect">
            <a:avLst/>
          </a:prstGeom>
          <a:solidFill>
            <a:srgbClr val="F4F6FA"/>
          </a:solidFill>
          <a:ln w="9525">
            <a:solidFill>
              <a:srgbClr val="CFD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22960" y="3950208"/>
            <a:ext cx="1568196" cy="21031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850" b="0">
                <a:solidFill>
                  <a:srgbClr val="1C1F24"/>
                </a:solidFill>
                <a:latin typeface="Calibri"/>
              </a:rPr>
              <a:t>BD-E911-SVR*</a:t>
            </a:r>
          </a:p>
        </p:txBody>
      </p:sp>
      <p:sp>
        <p:nvSpPr>
          <p:cNvPr id="65" name="Rectangle 64"/>
          <p:cNvSpPr/>
          <p:nvPr/>
        </p:nvSpPr>
        <p:spPr>
          <a:xfrm>
            <a:off x="2446020" y="3950208"/>
            <a:ext cx="1568196" cy="210312"/>
          </a:xfrm>
          <a:prstGeom prst="rect">
            <a:avLst/>
          </a:prstGeom>
          <a:solidFill>
            <a:srgbClr val="F4F6FA"/>
          </a:solidFill>
          <a:ln w="9525">
            <a:solidFill>
              <a:srgbClr val="CFD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2446020" y="3950208"/>
            <a:ext cx="1568196" cy="21031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850" b="0">
                <a:solidFill>
                  <a:srgbClr val="1C1F24"/>
                </a:solidFill>
                <a:latin typeface="Calibri"/>
              </a:rPr>
              <a:t>BD-FMWR-SVR*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069080" y="3950208"/>
            <a:ext cx="1568196" cy="210312"/>
          </a:xfrm>
          <a:prstGeom prst="rect">
            <a:avLst/>
          </a:prstGeom>
          <a:solidFill>
            <a:srgbClr val="F4F6FA"/>
          </a:solidFill>
          <a:ln w="9525">
            <a:solidFill>
              <a:srgbClr val="CFD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069080" y="3950208"/>
            <a:ext cx="1568196" cy="21031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850" b="0">
                <a:solidFill>
                  <a:srgbClr val="1C1F24"/>
                </a:solidFill>
                <a:latin typeface="Calibri"/>
              </a:rPr>
              <a:t>BD-LMR*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692140" y="3950208"/>
            <a:ext cx="1568196" cy="210312"/>
          </a:xfrm>
          <a:prstGeom prst="rect">
            <a:avLst/>
          </a:prstGeom>
          <a:solidFill>
            <a:srgbClr val="F4F6FA"/>
          </a:solidFill>
          <a:ln w="9525">
            <a:solidFill>
              <a:srgbClr val="CFD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692140" y="3950208"/>
            <a:ext cx="1568196" cy="21031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850" b="0">
                <a:solidFill>
                  <a:srgbClr val="1C1F24"/>
                </a:solidFill>
                <a:latin typeface="Calibri"/>
              </a:rPr>
              <a:t>BD-NAC*</a:t>
            </a:r>
          </a:p>
        </p:txBody>
      </p:sp>
      <p:sp>
        <p:nvSpPr>
          <p:cNvPr id="71" name="Rectangle 70"/>
          <p:cNvSpPr/>
          <p:nvPr/>
        </p:nvSpPr>
        <p:spPr>
          <a:xfrm>
            <a:off x="822960" y="4197096"/>
            <a:ext cx="1568196" cy="210312"/>
          </a:xfrm>
          <a:prstGeom prst="rect">
            <a:avLst/>
          </a:prstGeom>
          <a:solidFill>
            <a:srgbClr val="F4F6FA"/>
          </a:solidFill>
          <a:ln w="9525">
            <a:solidFill>
              <a:srgbClr val="CFD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22960" y="4197096"/>
            <a:ext cx="1568196" cy="21031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850" b="0">
                <a:solidFill>
                  <a:srgbClr val="1C1F24"/>
                </a:solidFill>
                <a:latin typeface="Calibri"/>
              </a:rPr>
              <a:t>BD-OCSP*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446020" y="4197096"/>
            <a:ext cx="1568196" cy="210312"/>
          </a:xfrm>
          <a:prstGeom prst="rect">
            <a:avLst/>
          </a:prstGeom>
          <a:solidFill>
            <a:srgbClr val="F4F6FA"/>
          </a:solidFill>
          <a:ln w="9525">
            <a:solidFill>
              <a:srgbClr val="CFD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2446020" y="4197096"/>
            <a:ext cx="1568196" cy="21031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850" b="0">
                <a:solidFill>
                  <a:srgbClr val="1C1F24"/>
                </a:solidFill>
                <a:latin typeface="Calibri"/>
              </a:rPr>
              <a:t>BD-PRINT-SVR*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069080" y="4197096"/>
            <a:ext cx="1568196" cy="210312"/>
          </a:xfrm>
          <a:prstGeom prst="rect">
            <a:avLst/>
          </a:prstGeom>
          <a:solidFill>
            <a:srgbClr val="F4F6FA"/>
          </a:solidFill>
          <a:ln w="9525">
            <a:solidFill>
              <a:srgbClr val="CFD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069080" y="4197096"/>
            <a:ext cx="1568196" cy="21031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850" b="0">
                <a:solidFill>
                  <a:srgbClr val="1C1F24"/>
                </a:solidFill>
                <a:latin typeface="Calibri"/>
              </a:rPr>
              <a:t>BD-RCC-DCO*</a:t>
            </a:r>
          </a:p>
        </p:txBody>
      </p:sp>
      <p:sp>
        <p:nvSpPr>
          <p:cNvPr id="77" name="Rectangle 76"/>
          <p:cNvSpPr/>
          <p:nvPr/>
        </p:nvSpPr>
        <p:spPr>
          <a:xfrm>
            <a:off x="5692140" y="4197096"/>
            <a:ext cx="1568196" cy="210312"/>
          </a:xfrm>
          <a:prstGeom prst="rect">
            <a:avLst/>
          </a:prstGeom>
          <a:solidFill>
            <a:srgbClr val="F4F6FA"/>
          </a:solidFill>
          <a:ln w="9525">
            <a:solidFill>
              <a:srgbClr val="CFD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5692140" y="4197096"/>
            <a:ext cx="1568196" cy="21031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850" b="0">
                <a:solidFill>
                  <a:srgbClr val="1C1F24"/>
                </a:solidFill>
                <a:latin typeface="Calibri"/>
              </a:rPr>
              <a:t>BD-RCC-DNS*</a:t>
            </a:r>
          </a:p>
        </p:txBody>
      </p:sp>
      <p:sp>
        <p:nvSpPr>
          <p:cNvPr id="79" name="Rectangle 78"/>
          <p:cNvSpPr/>
          <p:nvPr/>
        </p:nvSpPr>
        <p:spPr>
          <a:xfrm>
            <a:off x="822960" y="4443984"/>
            <a:ext cx="1568196" cy="210312"/>
          </a:xfrm>
          <a:prstGeom prst="rect">
            <a:avLst/>
          </a:prstGeom>
          <a:solidFill>
            <a:srgbClr val="F4F6FA"/>
          </a:solidFill>
          <a:ln w="9525">
            <a:solidFill>
              <a:srgbClr val="CFD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22960" y="4443984"/>
            <a:ext cx="1568196" cy="21031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850" b="0">
                <a:solidFill>
                  <a:srgbClr val="1C1F24"/>
                </a:solidFill>
                <a:latin typeface="Calibri"/>
              </a:rPr>
              <a:t>BD-RCC-SVR*</a:t>
            </a:r>
          </a:p>
        </p:txBody>
      </p:sp>
      <p:sp>
        <p:nvSpPr>
          <p:cNvPr id="81" name="Rectangle 80"/>
          <p:cNvSpPr/>
          <p:nvPr/>
        </p:nvSpPr>
        <p:spPr>
          <a:xfrm>
            <a:off x="2446020" y="4443984"/>
            <a:ext cx="1568196" cy="210312"/>
          </a:xfrm>
          <a:prstGeom prst="rect">
            <a:avLst/>
          </a:prstGeom>
          <a:solidFill>
            <a:srgbClr val="F4F6FA"/>
          </a:solidFill>
          <a:ln w="9525">
            <a:solidFill>
              <a:srgbClr val="CFD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2446020" y="4443984"/>
            <a:ext cx="1568196" cy="21031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850" b="0">
                <a:solidFill>
                  <a:srgbClr val="1C1F24"/>
                </a:solidFill>
                <a:latin typeface="Calibri"/>
              </a:rPr>
              <a:t>BD-RCC-UNIX*</a:t>
            </a:r>
          </a:p>
        </p:txBody>
      </p:sp>
      <p:sp>
        <p:nvSpPr>
          <p:cNvPr id="83" name="Rectangle 82"/>
          <p:cNvSpPr/>
          <p:nvPr/>
        </p:nvSpPr>
        <p:spPr>
          <a:xfrm>
            <a:off x="4069080" y="4443984"/>
            <a:ext cx="1568196" cy="210312"/>
          </a:xfrm>
          <a:prstGeom prst="rect">
            <a:avLst/>
          </a:prstGeom>
          <a:solidFill>
            <a:srgbClr val="F4F6FA"/>
          </a:solidFill>
          <a:ln w="9525">
            <a:solidFill>
              <a:srgbClr val="CFD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069080" y="4443984"/>
            <a:ext cx="1568196" cy="21031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850" b="0">
                <a:solidFill>
                  <a:srgbClr val="1C1F24"/>
                </a:solidFill>
                <a:latin typeface="Calibri"/>
              </a:rPr>
              <a:t>BD-SMTP-SVR*</a:t>
            </a:r>
          </a:p>
        </p:txBody>
      </p:sp>
      <p:sp>
        <p:nvSpPr>
          <p:cNvPr id="85" name="Rectangle 84"/>
          <p:cNvSpPr/>
          <p:nvPr/>
        </p:nvSpPr>
        <p:spPr>
          <a:xfrm>
            <a:off x="5692140" y="4443984"/>
            <a:ext cx="1568196" cy="210312"/>
          </a:xfrm>
          <a:prstGeom prst="rect">
            <a:avLst/>
          </a:prstGeom>
          <a:solidFill>
            <a:srgbClr val="F4F6FA"/>
          </a:solidFill>
          <a:ln w="9525">
            <a:solidFill>
              <a:srgbClr val="CFD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5692140" y="4443984"/>
            <a:ext cx="1568196" cy="21031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850" b="0">
                <a:solidFill>
                  <a:srgbClr val="1C1F24"/>
                </a:solidFill>
                <a:latin typeface="Calibri"/>
              </a:rPr>
              <a:t>BD-SYSMAN*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22960" y="4526280"/>
            <a:ext cx="6492240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>
                <a:solidFill>
                  <a:srgbClr val="555C66"/>
                </a:solidFill>
                <a:latin typeface="Calibri"/>
              </a:rPr>
              <a:t>* placeholder BD - created for parity with IPv6 RCC model, no IPv4 subnet yet</a:t>
            </a:r>
          </a:p>
        </p:txBody>
      </p:sp>
      <p:sp>
        <p:nvSpPr>
          <p:cNvPr id="88" name="Rectangle 87"/>
          <p:cNvSpPr/>
          <p:nvPr/>
        </p:nvSpPr>
        <p:spPr>
          <a:xfrm>
            <a:off x="731520" y="4846320"/>
            <a:ext cx="3291840" cy="1143000"/>
          </a:xfrm>
          <a:prstGeom prst="rect">
            <a:avLst/>
          </a:prstGeom>
          <a:solidFill>
            <a:srgbClr val="F4F6FA"/>
          </a:solidFill>
          <a:ln w="9525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731520" y="4846320"/>
            <a:ext cx="3291840" cy="411480"/>
          </a:xfrm>
          <a:prstGeom prst="rect">
            <a:avLst/>
          </a:prstGeom>
          <a:solidFill>
            <a:srgbClr val="005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868680" y="4846320"/>
            <a:ext cx="310896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AppProf-NetCentric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22960" y="5303520"/>
            <a:ext cx="3108960" cy="6400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>
              <a:lnSpc>
                <a:spcPct val="115000"/>
              </a:lnSpc>
            </a:pPr>
            <a:r>
              <a:rPr sz="1100" b="0">
                <a:solidFill>
                  <a:srgbClr val="1C1F24"/>
                </a:solidFill>
                <a:latin typeface="Calibri"/>
              </a:rPr>
              <a:t>•  36 EPGs (EPG-AD, EPG-APP-SVR, ...)</a:t>
            </a:r>
          </a:p>
          <a:p>
            <a:pPr>
              <a:lnSpc>
                <a:spcPct val="115000"/>
              </a:lnSpc>
            </a:pPr>
            <a:r>
              <a:rPr sz="1100" b="0">
                <a:solidFill>
                  <a:srgbClr val="1C1F24"/>
                </a:solidFill>
                <a:latin typeface="Calibri"/>
              </a:rPr>
              <a:t>•  Bound to per-fabric VMMs (APCG-VDS1, APCK-VDS1)</a:t>
            </a:r>
          </a:p>
          <a:p>
            <a:pPr>
              <a:lnSpc>
                <a:spcPct val="115000"/>
              </a:lnSpc>
            </a:pPr>
            <a:r>
              <a:rPr sz="1100" b="0">
                <a:solidFill>
                  <a:srgbClr val="1C1F24"/>
                </a:solidFill>
                <a:latin typeface="Calibri"/>
              </a:rPr>
              <a:t>•  Dynamic VLAN 3501-3967</a:t>
            </a:r>
          </a:p>
        </p:txBody>
      </p:sp>
      <p:sp>
        <p:nvSpPr>
          <p:cNvPr id="92" name="Rectangle 91"/>
          <p:cNvSpPr/>
          <p:nvPr/>
        </p:nvSpPr>
        <p:spPr>
          <a:xfrm>
            <a:off x="4114800" y="4846320"/>
            <a:ext cx="3291840" cy="1143000"/>
          </a:xfrm>
          <a:prstGeom prst="rect">
            <a:avLst/>
          </a:prstGeom>
          <a:solidFill>
            <a:srgbClr val="F4F6FA"/>
          </a:solidFill>
          <a:ln w="9525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4114800" y="4846320"/>
            <a:ext cx="3291840" cy="411480"/>
          </a:xfrm>
          <a:prstGeom prst="rect">
            <a:avLst/>
          </a:prstGeom>
          <a:solidFill>
            <a:srgbClr val="1D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4251960" y="4846320"/>
            <a:ext cx="310896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ESG-All-Internal-EPGs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206240" y="5303520"/>
            <a:ext cx="3108960" cy="6400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>
              <a:lnSpc>
                <a:spcPct val="115000"/>
              </a:lnSpc>
            </a:pPr>
            <a:r>
              <a:rPr sz="1100" b="0">
                <a:solidFill>
                  <a:srgbClr val="1C1F24"/>
                </a:solidFill>
                <a:latin typeface="Calibri"/>
              </a:rPr>
              <a:t>•  Selects all 36 internal EPGs</a:t>
            </a:r>
          </a:p>
          <a:p>
            <a:pPr>
              <a:lnSpc>
                <a:spcPct val="115000"/>
              </a:lnSpc>
            </a:pPr>
            <a:r>
              <a:rPr sz="1100" b="0">
                <a:solidFill>
                  <a:srgbClr val="1C1F24"/>
                </a:solidFill>
                <a:latin typeface="Calibri"/>
              </a:rPr>
              <a:t>•  Provider + consumer of Any_VRF-EUR</a:t>
            </a:r>
          </a:p>
          <a:p>
            <a:pPr>
              <a:lnSpc>
                <a:spcPct val="115000"/>
              </a:lnSpc>
            </a:pPr>
            <a:r>
              <a:rPr sz="1100" b="0">
                <a:solidFill>
                  <a:srgbClr val="1C1F24"/>
                </a:solidFill>
                <a:latin typeface="Calibri"/>
              </a:rPr>
              <a:t>•  Classification ready for Phase 3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726680" y="1600200"/>
            <a:ext cx="3886200" cy="4572000"/>
          </a:xfrm>
          <a:prstGeom prst="rect">
            <a:avLst/>
          </a:prstGeom>
          <a:solidFill>
            <a:srgbClr val="F4F6FA"/>
          </a:solidFill>
          <a:ln w="9525">
            <a:solidFill>
              <a:srgbClr val="CFD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7726680" y="1600200"/>
            <a:ext cx="3886200" cy="41148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7863840" y="1600200"/>
            <a:ext cx="388620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VRF-DMZ  -  Proxy</a:t>
            </a:r>
          </a:p>
        </p:txBody>
      </p:sp>
      <p:sp>
        <p:nvSpPr>
          <p:cNvPr id="99" name="Rectangle 98"/>
          <p:cNvSpPr/>
          <p:nvPr/>
        </p:nvSpPr>
        <p:spPr>
          <a:xfrm>
            <a:off x="7863840" y="2103120"/>
            <a:ext cx="3611880" cy="292608"/>
          </a:xfrm>
          <a:prstGeom prst="rect">
            <a:avLst/>
          </a:prstGeom>
          <a:solidFill>
            <a:srgbClr val="F4F6FA"/>
          </a:solidFill>
          <a:ln w="9525">
            <a:solidFill>
              <a:srgbClr val="CFD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7863840" y="2103120"/>
            <a:ext cx="3611880" cy="29260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0">
                <a:solidFill>
                  <a:srgbClr val="1C1F24"/>
                </a:solidFill>
                <a:latin typeface="Calibri"/>
              </a:rPr>
              <a:t>BD-D64-PROXY*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7863840" y="2468880"/>
            <a:ext cx="3611880" cy="292608"/>
          </a:xfrm>
          <a:prstGeom prst="rect">
            <a:avLst/>
          </a:prstGeom>
          <a:solidFill>
            <a:srgbClr val="FFFFFF"/>
          </a:solidFill>
          <a:ln w="9525">
            <a:solidFill>
              <a:srgbClr val="CFD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7863840" y="2468880"/>
            <a:ext cx="3611880" cy="29260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0">
                <a:solidFill>
                  <a:srgbClr val="1C1F24"/>
                </a:solidFill>
                <a:latin typeface="Calibri"/>
              </a:rPr>
              <a:t>BD-FWEB-PROXY (3)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7863840" y="2834640"/>
            <a:ext cx="3611880" cy="292608"/>
          </a:xfrm>
          <a:prstGeom prst="rect">
            <a:avLst/>
          </a:prstGeom>
          <a:solidFill>
            <a:srgbClr val="F4F6FA"/>
          </a:solidFill>
          <a:ln w="9525">
            <a:solidFill>
              <a:srgbClr val="CFD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7863840" y="2834640"/>
            <a:ext cx="3611880" cy="29260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0">
                <a:solidFill>
                  <a:srgbClr val="1C1F24"/>
                </a:solidFill>
                <a:latin typeface="Calibri"/>
              </a:rPr>
              <a:t>BD-RWEB-PROXY*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7863840" y="3429000"/>
            <a:ext cx="3611880" cy="1143000"/>
          </a:xfrm>
          <a:prstGeom prst="rect">
            <a:avLst/>
          </a:prstGeom>
          <a:solidFill>
            <a:srgbClr val="F4F6FA"/>
          </a:solidFill>
          <a:ln w="9525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7863840" y="3429000"/>
            <a:ext cx="3611880" cy="411480"/>
          </a:xfrm>
          <a:prstGeom prst="rect">
            <a:avLst/>
          </a:prstGeom>
          <a:solidFill>
            <a:srgbClr val="005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8001000" y="3429000"/>
            <a:ext cx="342900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AppProf-DMZ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7955280" y="3886200"/>
            <a:ext cx="3429000" cy="6400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>
              <a:lnSpc>
                <a:spcPct val="115000"/>
              </a:lnSpc>
            </a:pPr>
            <a:r>
              <a:rPr sz="1100" b="0">
                <a:solidFill>
                  <a:srgbClr val="1C1F24"/>
                </a:solidFill>
                <a:latin typeface="Calibri"/>
              </a:rPr>
              <a:t>•  3 EPGs on per-fabric VMMs</a:t>
            </a:r>
          </a:p>
          <a:p>
            <a:pPr>
              <a:lnSpc>
                <a:spcPct val="115000"/>
              </a:lnSpc>
            </a:pPr>
            <a:r>
              <a:rPr sz="1100" b="0">
                <a:solidFill>
                  <a:srgbClr val="1C1F24"/>
                </a:solidFill>
                <a:latin typeface="Calibri"/>
              </a:rPr>
              <a:t>•  Dynamic VLAN 3501-3967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7863840" y="4663440"/>
            <a:ext cx="3611880" cy="1143000"/>
          </a:xfrm>
          <a:prstGeom prst="rect">
            <a:avLst/>
          </a:prstGeom>
          <a:solidFill>
            <a:srgbClr val="F4F6FA"/>
          </a:solidFill>
          <a:ln w="9525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7863840" y="4663440"/>
            <a:ext cx="3611880" cy="411480"/>
          </a:xfrm>
          <a:prstGeom prst="rect">
            <a:avLst/>
          </a:prstGeom>
          <a:solidFill>
            <a:srgbClr val="1D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8001000" y="4663440"/>
            <a:ext cx="342900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ESG-All-DMZ-EPGs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955280" y="5120640"/>
            <a:ext cx="3429000" cy="6400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>
              <a:lnSpc>
                <a:spcPct val="115000"/>
              </a:lnSpc>
            </a:pPr>
            <a:r>
              <a:rPr sz="1100" b="0">
                <a:solidFill>
                  <a:srgbClr val="1C1F24"/>
                </a:solidFill>
                <a:latin typeface="Calibri"/>
              </a:rPr>
              <a:t>•  Selects all 3 DMZ EPGs</a:t>
            </a:r>
          </a:p>
          <a:p>
            <a:pPr>
              <a:lnSpc>
                <a:spcPct val="115000"/>
              </a:lnSpc>
            </a:pPr>
            <a:r>
              <a:rPr sz="1100" b="0">
                <a:solidFill>
                  <a:srgbClr val="1C1F24"/>
                </a:solidFill>
                <a:latin typeface="Calibri"/>
              </a:rPr>
              <a:t>•  Provider + consumer of Any_VRF-DMZ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B2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65760" y="6565392"/>
            <a:ext cx="7315200" cy="29260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ACI Redesign Strategy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820095" y="6565392"/>
            <a:ext cx="1097280" cy="29260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6 / 27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B2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45720"/>
          </a:xfrm>
          <a:prstGeom prst="rect">
            <a:avLst/>
          </a:prstGeom>
          <a:solidFill>
            <a:srgbClr val="F2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0515600" cy="5486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Key Design Decisions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0515600" cy="3200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200" b="0">
                <a:solidFill>
                  <a:srgbClr val="CFDAEA"/>
                </a:solidFill>
                <a:latin typeface="Calibri"/>
              </a:rPr>
              <a:t>Why the target model looks the way it does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051560"/>
          <a:ext cx="11247119" cy="5303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15609"/>
                <a:gridCol w="8631510"/>
              </a:tblGrid>
              <a:tr h="589280">
                <a:tc>
                  <a:txBody>
                    <a:bodyPr lIns="36000" rIns="36000"/>
                    <a:lstStyle/>
                    <a:p>
                      <a:pPr algn="l"/>
                      <a:r>
                        <a:rPr b="1" sz="1200">
                          <a:solidFill>
                            <a:srgbClr val="FFFFFF"/>
                          </a:solidFill>
                          <a:latin typeface="Calibri"/>
                        </a:rPr>
                        <a:t>Decision</a:t>
                      </a:r>
                    </a:p>
                  </a:txBody>
                  <a:tcPr anchor="ctr">
                    <a:solidFill>
                      <a:srgbClr val="0B2E5C"/>
                    </a:solidFill>
                  </a:tcPr>
                </a:tc>
                <a:tc>
                  <a:txBody>
                    <a:bodyPr lIns="36000" rIns="36000"/>
                    <a:lstStyle/>
                    <a:p>
                      <a:pPr algn="l"/>
                      <a:r>
                        <a:rPr b="1" sz="1200">
                          <a:solidFill>
                            <a:srgbClr val="FFFFFF"/>
                          </a:solidFill>
                          <a:latin typeface="Calibri"/>
                        </a:rPr>
                        <a:t>Rationale</a:t>
                      </a:r>
                    </a:p>
                  </a:txBody>
                  <a:tcPr anchor="ctr">
                    <a:solidFill>
                      <a:srgbClr val="0B2E5C"/>
                    </a:solidFill>
                  </a:tcPr>
                </a:tc>
              </a:tr>
              <a:tr h="589280">
                <a:tc>
                  <a:txBody>
                    <a:bodyPr lIns="36000" rIns="36000"/>
                    <a:lstStyle/>
                    <a:p>
                      <a:pPr algn="l"/>
                      <a:r>
                        <a:rPr sz="1100">
                          <a:solidFill>
                            <a:srgbClr val="1C1F24"/>
                          </a:solidFill>
                          <a:latin typeface="Calibri"/>
                        </a:rPr>
                        <a:t>2 VRFs instead of 11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36000" rIns="36000"/>
                    <a:lstStyle/>
                    <a:p>
                      <a:pPr algn="l"/>
                      <a:r>
                        <a:rPr sz="1100">
                          <a:solidFill>
                            <a:srgbClr val="1C1F24"/>
                          </a:solidFill>
                          <a:latin typeface="Calibri"/>
                        </a:rPr>
                        <a:t>The firewall already enforces real security boundaries - extra VRFs added ops complexity without security value. ESGs + contracts replace VRF-based segmentation.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89280">
                <a:tc>
                  <a:txBody>
                    <a:bodyPr lIns="36000" rIns="36000"/>
                    <a:lstStyle/>
                    <a:p>
                      <a:pPr algn="l"/>
                      <a:r>
                        <a:rPr sz="1100">
                          <a:solidFill>
                            <a:srgbClr val="1C1F24"/>
                          </a:solidFill>
                          <a:latin typeface="Calibri"/>
                        </a:rPr>
                        <a:t>VRF-EUR (internal)</a:t>
                      </a:r>
                    </a:p>
                  </a:txBody>
                  <a:tcPr anchor="ctr">
                    <a:solidFill>
                      <a:srgbClr val="F4F6FA"/>
                    </a:solidFill>
                  </a:tcPr>
                </a:tc>
                <a:tc>
                  <a:txBody>
                    <a:bodyPr lIns="36000" rIns="36000"/>
                    <a:lstStyle/>
                    <a:p>
                      <a:pPr algn="l"/>
                      <a:r>
                        <a:rPr sz="1100">
                          <a:solidFill>
                            <a:srgbClr val="1C1F24"/>
                          </a:solidFill>
                          <a:latin typeface="Calibri"/>
                        </a:rPr>
                        <a:t>Consolidates EUR-E (101) + EUR-AIS (132) + EUR-AIM (15) + EUR-AIV (12) + EUR-AIZ (11) + EUR-AIG (1) + EUR-AIP (4) + EUR-GSN-Test (1) ≈ 276 legacy EPGs.</a:t>
                      </a:r>
                    </a:p>
                  </a:txBody>
                  <a:tcPr anchor="ctr">
                    <a:solidFill>
                      <a:srgbClr val="F4F6FA"/>
                    </a:solidFill>
                  </a:tcPr>
                </a:tc>
              </a:tr>
              <a:tr h="589280">
                <a:tc>
                  <a:txBody>
                    <a:bodyPr lIns="36000" rIns="36000"/>
                    <a:lstStyle/>
                    <a:p>
                      <a:pPr algn="l"/>
                      <a:r>
                        <a:rPr sz="1100">
                          <a:solidFill>
                            <a:srgbClr val="1C1F24"/>
                          </a:solidFill>
                          <a:latin typeface="Calibri"/>
                        </a:rPr>
                        <a:t>VRF-DMZ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36000" rIns="36000"/>
                    <a:lstStyle/>
                    <a:p>
                      <a:pPr algn="l"/>
                      <a:r>
                        <a:rPr sz="1100">
                          <a:solidFill>
                            <a:srgbClr val="1C1F24"/>
                          </a:solidFill>
                          <a:latin typeface="Calibri"/>
                        </a:rPr>
                        <a:t>Keeps EUR-AOV-UC-DMZ and EUR-ARMY-ENT-SVR-DMZ routing-isolated - DMZ must never share a routing table with internal.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89280">
                <a:tc>
                  <a:txBody>
                    <a:bodyPr lIns="36000" rIns="36000"/>
                    <a:lstStyle/>
                    <a:p>
                      <a:pPr algn="l"/>
                      <a:r>
                        <a:rPr sz="1100">
                          <a:solidFill>
                            <a:srgbClr val="1C1F24"/>
                          </a:solidFill>
                          <a:latin typeface="Calibri"/>
                        </a:rPr>
                        <a:t>VRF-RCC (IPv6)</a:t>
                      </a:r>
                    </a:p>
                  </a:txBody>
                  <a:tcPr anchor="ctr">
                    <a:solidFill>
                      <a:srgbClr val="F4F6FA"/>
                    </a:solidFill>
                  </a:tcPr>
                </a:tc>
                <a:tc>
                  <a:txBody>
                    <a:bodyPr lIns="36000" rIns="36000"/>
                    <a:lstStyle/>
                    <a:p>
                      <a:pPr algn="l"/>
                      <a:r>
                        <a:rPr sz="1100">
                          <a:solidFill>
                            <a:srgbClr val="1C1F24"/>
                          </a:solidFill>
                          <a:latin typeface="Calibri"/>
                        </a:rPr>
                        <a:t>Unchanged. Managed separately in ndo-terraform-nac/136.215.4.96/. No IPv6 refactor in this redesign.</a:t>
                      </a:r>
                    </a:p>
                  </a:txBody>
                  <a:tcPr anchor="ctr">
                    <a:solidFill>
                      <a:srgbClr val="F4F6FA"/>
                    </a:solidFill>
                  </a:tcPr>
                </a:tc>
              </a:tr>
              <a:tr h="589280">
                <a:tc>
                  <a:txBody>
                    <a:bodyPr lIns="36000" rIns="36000"/>
                    <a:lstStyle/>
                    <a:p>
                      <a:pPr algn="l"/>
                      <a:r>
                        <a:rPr sz="1100">
                          <a:solidFill>
                            <a:srgbClr val="1C1F24"/>
                          </a:solidFill>
                          <a:latin typeface="Calibri"/>
                        </a:rPr>
                        <a:t>Descriptive naming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36000" rIns="36000"/>
                    <a:lstStyle/>
                    <a:p>
                      <a:pPr algn="l"/>
                      <a:r>
                        <a:rPr sz="1100">
                          <a:solidFill>
                            <a:srgbClr val="1C1F24"/>
                          </a:solidFill>
                          <a:latin typeface="Calibri"/>
                        </a:rPr>
                        <a:t>BD-DNS-MGMT / EPG-DNS-MGMT replace numeric BD-V0005 / EPG-V0005. Same conventions as the IPv6 RCC model.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89280">
                <a:tc>
                  <a:txBody>
                    <a:bodyPr lIns="36000" rIns="36000"/>
                    <a:lstStyle/>
                    <a:p>
                      <a:pPr algn="l"/>
                      <a:r>
                        <a:rPr sz="1100">
                          <a:solidFill>
                            <a:srgbClr val="1C1F24"/>
                          </a:solidFill>
                          <a:latin typeface="Calibri"/>
                        </a:rPr>
                        <a:t>vzAny permit-all (initial)</a:t>
                      </a:r>
                    </a:p>
                  </a:txBody>
                  <a:tcPr anchor="ctr">
                    <a:solidFill>
                      <a:srgbClr val="F4F6FA"/>
                    </a:solidFill>
                  </a:tcPr>
                </a:tc>
                <a:tc>
                  <a:txBody>
                    <a:bodyPr lIns="36000" rIns="36000"/>
                    <a:lstStyle/>
                    <a:p>
                      <a:pPr algn="l"/>
                      <a:r>
                        <a:rPr sz="1100">
                          <a:solidFill>
                            <a:srgbClr val="1C1F24"/>
                          </a:solidFill>
                          <a:latin typeface="Calibri"/>
                        </a:rPr>
                        <a:t>All EPGs can talk inside a VRF on day 1. ESGs classify endpoints today so contracts can be tightened tomorrow without reclassification.</a:t>
                      </a:r>
                    </a:p>
                  </a:txBody>
                  <a:tcPr anchor="ctr">
                    <a:solidFill>
                      <a:srgbClr val="F4F6FA"/>
                    </a:solidFill>
                  </a:tcPr>
                </a:tc>
              </a:tr>
              <a:tr h="589280">
                <a:tc>
                  <a:txBody>
                    <a:bodyPr lIns="36000" rIns="36000"/>
                    <a:lstStyle/>
                    <a:p>
                      <a:pPr algn="l"/>
                      <a:r>
                        <a:rPr sz="1100">
                          <a:solidFill>
                            <a:srgbClr val="1C1F24"/>
                          </a:solidFill>
                          <a:latin typeface="Calibri"/>
                        </a:rPr>
                        <a:t>L3Out consolidation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36000" rIns="36000"/>
                    <a:lstStyle/>
                    <a:p>
                      <a:pPr algn="l"/>
                      <a:r>
                        <a:rPr sz="1100">
                          <a:solidFill>
                            <a:srgbClr val="1C1F24"/>
                          </a:solidFill>
                          <a:latin typeface="Calibri"/>
                        </a:rPr>
                        <a:t>Production shrinks 13 L3Outs to ~4 (1 internal + 1 DMZ per site). Lab does not deploy L3Outs.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89280">
                <a:tc>
                  <a:txBody>
                    <a:bodyPr lIns="36000" rIns="36000"/>
                    <a:lstStyle/>
                    <a:p>
                      <a:pPr algn="l"/>
                      <a:r>
                        <a:rPr sz="1100">
                          <a:solidFill>
                            <a:srgbClr val="1C1F24"/>
                          </a:solidFill>
                          <a:latin typeface="Calibri"/>
                        </a:rPr>
                        <a:t>L2 'DMZ'-aliased BDs stay in VRF-EUR</a:t>
                      </a:r>
                    </a:p>
                  </a:txBody>
                  <a:tcPr anchor="ctr">
                    <a:solidFill>
                      <a:srgbClr val="F4F6FA"/>
                    </a:solidFill>
                  </a:tcPr>
                </a:tc>
                <a:tc>
                  <a:txBody>
                    <a:bodyPr lIns="36000" rIns="36000"/>
                    <a:lstStyle/>
                    <a:p>
                      <a:pPr algn="l"/>
                      <a:r>
                        <a:rPr sz="1100">
                          <a:solidFill>
                            <a:srgbClr val="1C1F24"/>
                          </a:solidFill>
                          <a:latin typeface="Calibri"/>
                        </a:rPr>
                        <a:t>Gateway lives on an external firewall - VRF choice doesn't affect routing. ESG-based grouping (Phase 3) enforces the DMZ/internal boundary instead.</a:t>
                      </a:r>
                    </a:p>
                  </a:txBody>
                  <a:tcPr anchor="ctr">
                    <a:solidFill>
                      <a:srgbClr val="F4F6FA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B2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65392"/>
            <a:ext cx="7315200" cy="29260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ACI Redesign Strategy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565392"/>
            <a:ext cx="1097280" cy="29260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7 / 27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B2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45720"/>
          </a:xfrm>
          <a:prstGeom prst="rect">
            <a:avLst/>
          </a:prstGeom>
          <a:solidFill>
            <a:srgbClr val="F2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0515600" cy="5486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Brownfield-Safe: No IP Addresses Change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0515600" cy="3200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200" b="0">
                <a:solidFill>
                  <a:srgbClr val="CFDAEA"/>
                </a:solidFill>
                <a:latin typeface="Calibri"/>
              </a:rPr>
              <a:t>Every existing subnet is preserved under the new naming structure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97280"/>
            <a:ext cx="5486400" cy="5120640"/>
          </a:xfrm>
          <a:prstGeom prst="rect">
            <a:avLst/>
          </a:prstGeom>
          <a:solidFill>
            <a:srgbClr val="F4F6FA"/>
          </a:solidFill>
          <a:ln w="9525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097280"/>
            <a:ext cx="5486400" cy="411480"/>
          </a:xfrm>
          <a:prstGeom prst="rect">
            <a:avLst/>
          </a:prstGeom>
          <a:solidFill>
            <a:srgbClr val="005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097280"/>
            <a:ext cx="548640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Example - BD-APP-SVR (VRF-EUR) absorbs 32 subnets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600200"/>
            <a:ext cx="5120640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600200"/>
            <a:ext cx="2011680" cy="43891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300" b="1">
                <a:solidFill>
                  <a:srgbClr val="0B2E5C"/>
                </a:solidFill>
                <a:latin typeface="Calibri"/>
              </a:rPr>
              <a:t>155.155.236.65/26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34640" y="1600200"/>
            <a:ext cx="2926080" cy="43891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200" b="0">
                <a:solidFill>
                  <a:srgbClr val="555C66"/>
                </a:solidFill>
                <a:latin typeface="Calibri"/>
              </a:rPr>
              <a:t>was BD-V0572 / APCE_EUR_APPS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103120"/>
            <a:ext cx="5120640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103120"/>
            <a:ext cx="2011680" cy="43891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300" b="1">
                <a:solidFill>
                  <a:srgbClr val="0B2E5C"/>
                </a:solidFill>
                <a:latin typeface="Calibri"/>
              </a:rPr>
              <a:t>155.155.172.1/24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34640" y="2103120"/>
            <a:ext cx="2926080" cy="43891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200" b="0">
                <a:solidFill>
                  <a:srgbClr val="555C66"/>
                </a:solidFill>
                <a:latin typeface="Calibri"/>
              </a:rPr>
              <a:t>was BD-V0372 / APCG_EUR_APPS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2606040"/>
            <a:ext cx="5120640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2606040"/>
            <a:ext cx="2011680" cy="43891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300" b="1">
                <a:solidFill>
                  <a:srgbClr val="0B2E5C"/>
                </a:solidFill>
                <a:latin typeface="Calibri"/>
              </a:rPr>
              <a:t>155.155.108.1/24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34640" y="2606040"/>
            <a:ext cx="2926080" cy="43891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200" b="0">
                <a:solidFill>
                  <a:srgbClr val="555C66"/>
                </a:solidFill>
                <a:latin typeface="Calibri"/>
              </a:rPr>
              <a:t>was BD-V0272 / APCK_EUR_APPS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3108960"/>
            <a:ext cx="5120640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108960"/>
            <a:ext cx="2011680" cy="43891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300" b="1">
                <a:solidFill>
                  <a:srgbClr val="0B2E5C"/>
                </a:solidFill>
                <a:latin typeface="Calibri"/>
              </a:rPr>
              <a:t>136.215.37.129/26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34640" y="3108960"/>
            <a:ext cx="2926080" cy="43891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200" b="0">
                <a:solidFill>
                  <a:srgbClr val="555C66"/>
                </a:solidFill>
                <a:latin typeface="Calibri"/>
              </a:rPr>
              <a:t>was BD-V0455 / APCK_RDS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3611880"/>
            <a:ext cx="5120640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3611880"/>
            <a:ext cx="2011680" cy="43891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300" b="1">
                <a:solidFill>
                  <a:srgbClr val="0B2E5C"/>
                </a:solidFill>
                <a:latin typeface="Calibri"/>
              </a:rPr>
              <a:t>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34640" y="3611880"/>
            <a:ext cx="2926080" cy="43891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200" b="0">
                <a:solidFill>
                  <a:srgbClr val="555C66"/>
                </a:solidFill>
                <a:latin typeface="Calibri"/>
              </a:rPr>
              <a:t>28 more subnets absorbed under BD-APP-SVR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0" y="1097280"/>
            <a:ext cx="5577840" cy="4114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600" b="1">
                <a:solidFill>
                  <a:srgbClr val="0B2E5C"/>
                </a:solidFill>
                <a:latin typeface="Calibri"/>
              </a:rPr>
              <a:t>What actually moves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17920" y="1554480"/>
            <a:ext cx="5577840" cy="22860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>
              <a:lnSpc>
                <a:spcPct val="115000"/>
              </a:lnSpc>
            </a:pPr>
            <a:r>
              <a:rPr sz="1300" b="0">
                <a:solidFill>
                  <a:srgbClr val="1C1F24"/>
                </a:solidFill>
                <a:latin typeface="Calibri"/>
              </a:rPr>
              <a:t>•  Gateway MAC/IP stays on ACI - assigned to a renamed BD.</a:t>
            </a:r>
          </a:p>
          <a:p>
            <a:pPr>
              <a:lnSpc>
                <a:spcPct val="115000"/>
              </a:lnSpc>
            </a:pPr>
            <a:r>
              <a:rPr sz="1300" b="0">
                <a:solidFill>
                  <a:srgbClr val="1C1F24"/>
                </a:solidFill>
                <a:latin typeface="Calibri"/>
              </a:rPr>
              <a:t>•  EPG identifiers change, but endpoint IPs don't.</a:t>
            </a:r>
          </a:p>
          <a:p>
            <a:pPr>
              <a:lnSpc>
                <a:spcPct val="115000"/>
              </a:lnSpc>
            </a:pPr>
            <a:r>
              <a:rPr sz="1300" b="0">
                <a:solidFill>
                  <a:srgbClr val="1C1F24"/>
                </a:solidFill>
                <a:latin typeface="Calibri"/>
              </a:rPr>
              <a:t>•  BDs may carry multiple anycast subnets (one BD, many old BDs).</a:t>
            </a:r>
          </a:p>
          <a:p>
            <a:pPr>
              <a:lnSpc>
                <a:spcPct val="115000"/>
              </a:lnSpc>
            </a:pPr>
            <a:r>
              <a:rPr sz="1300" b="0">
                <a:solidFill>
                  <a:srgbClr val="1C1F24"/>
                </a:solidFill>
                <a:latin typeface="Calibri"/>
              </a:rPr>
              <a:t>•  VMM rebinding is transparent - VDS port groups are refreshed by ACI.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17920" y="3840480"/>
            <a:ext cx="5577840" cy="4114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600" b="1">
                <a:solidFill>
                  <a:srgbClr val="0B2E5C"/>
                </a:solidFill>
                <a:latin typeface="Calibri"/>
              </a:rPr>
              <a:t>Why this de-risks the migration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7920" y="4297680"/>
            <a:ext cx="5577840" cy="21031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>
              <a:lnSpc>
                <a:spcPct val="115000"/>
              </a:lnSpc>
            </a:pPr>
            <a:r>
              <a:rPr sz="1300" b="0">
                <a:solidFill>
                  <a:srgbClr val="1C1F24"/>
                </a:solidFill>
                <a:latin typeface="Calibri"/>
              </a:rPr>
              <a:t>•  No DNS, firewall, or NAT changes required.</a:t>
            </a:r>
          </a:p>
          <a:p>
            <a:pPr>
              <a:lnSpc>
                <a:spcPct val="115000"/>
              </a:lnSpc>
            </a:pPr>
            <a:r>
              <a:rPr sz="1300" b="0">
                <a:solidFill>
                  <a:srgbClr val="1C1F24"/>
                </a:solidFill>
                <a:latin typeface="Calibri"/>
              </a:rPr>
              <a:t>•  Hosts/VMs/switches don't get new addresses.</a:t>
            </a:r>
          </a:p>
          <a:p>
            <a:pPr>
              <a:lnSpc>
                <a:spcPct val="115000"/>
              </a:lnSpc>
            </a:pPr>
            <a:r>
              <a:rPr sz="1300" b="0">
                <a:solidFill>
                  <a:srgbClr val="1C1F24"/>
                </a:solidFill>
                <a:latin typeface="Calibri"/>
              </a:rPr>
              <a:t>•  Per-subnet change windows - not a big-bang migration.</a:t>
            </a:r>
          </a:p>
          <a:p>
            <a:pPr>
              <a:lnSpc>
                <a:spcPct val="115000"/>
              </a:lnSpc>
            </a:pPr>
            <a:r>
              <a:rPr sz="1300" b="0">
                <a:solidFill>
                  <a:srgbClr val="1C1F24"/>
                </a:solidFill>
                <a:latin typeface="Calibri"/>
              </a:rPr>
              <a:t>•  Rollback is a VRF reassignment, not a readdressing project.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B2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5760" y="6565392"/>
            <a:ext cx="7315200" cy="29260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ACI Redesign Strategy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820095" y="6565392"/>
            <a:ext cx="1097280" cy="29260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8 / 27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B2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45720"/>
          </a:xfrm>
          <a:prstGeom prst="rect">
            <a:avLst/>
          </a:prstGeom>
          <a:solidFill>
            <a:srgbClr val="F2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0515600" cy="5486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BD Consolidation - 215 Legacy → 39 Functional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0515600" cy="3200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200" b="0">
                <a:solidFill>
                  <a:srgbClr val="CFDAEA"/>
                </a:solidFill>
                <a:latin typeface="Calibri"/>
              </a:rPr>
              <a:t>Every legacy BD is accounted for (mapped, placeholder, or decommissioned)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051560"/>
          <a:ext cx="11247119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4571"/>
                <a:gridCol w="1405890"/>
                <a:gridCol w="2284571"/>
                <a:gridCol w="5272087"/>
              </a:tblGrid>
              <a:tr h="325120">
                <a:tc>
                  <a:txBody>
                    <a:bodyPr lIns="36000" rIns="36000"/>
                    <a:lstStyle/>
                    <a:p>
                      <a:pPr algn="l"/>
                      <a:r>
                        <a:rPr b="1" sz="1200">
                          <a:solidFill>
                            <a:srgbClr val="FFFFFF"/>
                          </a:solidFill>
                          <a:latin typeface="Calibri"/>
                        </a:rPr>
                        <a:t>New BD</a:t>
                      </a:r>
                    </a:p>
                  </a:txBody>
                  <a:tcPr anchor="ctr">
                    <a:solidFill>
                      <a:srgbClr val="0B2E5C"/>
                    </a:solidFill>
                  </a:tcPr>
                </a:tc>
                <a:tc>
                  <a:txBody>
                    <a:bodyPr lIns="36000" rIns="36000"/>
                    <a:lstStyle/>
                    <a:p>
                      <a:pPr algn="l"/>
                      <a:r>
                        <a:rPr b="1" sz="1200">
                          <a:solidFill>
                            <a:srgbClr val="FFFFFF"/>
                          </a:solidFill>
                          <a:latin typeface="Calibri"/>
                        </a:rPr>
                        <a:t>Subnets</a:t>
                      </a:r>
                    </a:p>
                  </a:txBody>
                  <a:tcPr anchor="ctr">
                    <a:solidFill>
                      <a:srgbClr val="0B2E5C"/>
                    </a:solidFill>
                  </a:tcPr>
                </a:tc>
                <a:tc>
                  <a:txBody>
                    <a:bodyPr lIns="36000" rIns="36000"/>
                    <a:lstStyle/>
                    <a:p>
                      <a:pPr algn="l"/>
                      <a:r>
                        <a:rPr b="1" sz="1200">
                          <a:solidFill>
                            <a:srgbClr val="FFFFFF"/>
                          </a:solidFill>
                          <a:latin typeface="Calibri"/>
                        </a:rPr>
                        <a:t>Legacy BDs absorbed</a:t>
                      </a:r>
                    </a:p>
                  </a:txBody>
                  <a:tcPr anchor="ctr">
                    <a:solidFill>
                      <a:srgbClr val="0B2E5C"/>
                    </a:solidFill>
                  </a:tcPr>
                </a:tc>
                <a:tc>
                  <a:txBody>
                    <a:bodyPr lIns="36000" rIns="36000"/>
                    <a:lstStyle/>
                    <a:p>
                      <a:pPr algn="l"/>
                      <a:r>
                        <a:rPr b="1" sz="1200">
                          <a:solidFill>
                            <a:srgbClr val="FFFFFF"/>
                          </a:solidFill>
                          <a:latin typeface="Calibri"/>
                        </a:rPr>
                        <a:t>Primary function</a:t>
                      </a:r>
                    </a:p>
                  </a:txBody>
                  <a:tcPr anchor="ctr">
                    <a:solidFill>
                      <a:srgbClr val="0B2E5C"/>
                    </a:solidFill>
                  </a:tcPr>
                </a:tc>
              </a:tr>
              <a:tr h="325120">
                <a:tc>
                  <a:txBody>
                    <a:bodyPr lIns="36000" rIns="36000"/>
                    <a:lstStyle/>
                    <a:p>
                      <a:pPr algn="l"/>
                      <a:r>
                        <a:rPr sz="1100">
                          <a:solidFill>
                            <a:srgbClr val="1C1F24"/>
                          </a:solidFill>
                          <a:latin typeface="Calibri"/>
                        </a:rPr>
                        <a:t>BD-APP-SVR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36000" rIns="36000"/>
                    <a:lstStyle/>
                    <a:p>
                      <a:pPr algn="l"/>
                      <a:r>
                        <a:rPr sz="1100">
                          <a:solidFill>
                            <a:srgbClr val="1C1F24"/>
                          </a:solidFill>
                          <a:latin typeface="Calibri"/>
                        </a:rPr>
                        <a:t>32 subnets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36000" rIns="36000"/>
                    <a:lstStyle/>
                    <a:p>
                      <a:pPr algn="l"/>
                      <a:r>
                        <a:rPr sz="1100">
                          <a:solidFill>
                            <a:srgbClr val="1C1F24"/>
                          </a:solidFill>
                          <a:latin typeface="Calibri"/>
                        </a:rPr>
                        <a:t>39 legacy BDs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36000" rIns="36000"/>
                    <a:lstStyle/>
                    <a:p>
                      <a:pPr algn="l"/>
                      <a:r>
                        <a:rPr sz="1100">
                          <a:solidFill>
                            <a:srgbClr val="1C1F24"/>
                          </a:solidFill>
                          <a:latin typeface="Calibri"/>
                        </a:rPr>
                        <a:t>Application servers, VDI, ITSM apps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5120">
                <a:tc>
                  <a:txBody>
                    <a:bodyPr lIns="36000" rIns="36000"/>
                    <a:lstStyle/>
                    <a:p>
                      <a:pPr algn="l"/>
                      <a:r>
                        <a:rPr sz="1100">
                          <a:solidFill>
                            <a:srgbClr val="1C1F24"/>
                          </a:solidFill>
                          <a:latin typeface="Calibri"/>
                        </a:rPr>
                        <a:t>BD-CFG-MGMT</a:t>
                      </a:r>
                    </a:p>
                  </a:txBody>
                  <a:tcPr anchor="ctr">
                    <a:solidFill>
                      <a:srgbClr val="F4F6FA"/>
                    </a:solidFill>
                  </a:tcPr>
                </a:tc>
                <a:tc>
                  <a:txBody>
                    <a:bodyPr lIns="36000" rIns="36000"/>
                    <a:lstStyle/>
                    <a:p>
                      <a:pPr algn="l"/>
                      <a:r>
                        <a:rPr sz="1100">
                          <a:solidFill>
                            <a:srgbClr val="1C1F24"/>
                          </a:solidFill>
                          <a:latin typeface="Calibri"/>
                        </a:rPr>
                        <a:t>19 subnets</a:t>
                      </a:r>
                    </a:p>
                  </a:txBody>
                  <a:tcPr anchor="ctr">
                    <a:solidFill>
                      <a:srgbClr val="F4F6FA"/>
                    </a:solidFill>
                  </a:tcPr>
                </a:tc>
                <a:tc>
                  <a:txBody>
                    <a:bodyPr lIns="36000" rIns="36000"/>
                    <a:lstStyle/>
                    <a:p>
                      <a:pPr algn="l"/>
                      <a:r>
                        <a:rPr sz="1100">
                          <a:solidFill>
                            <a:srgbClr val="1C1F24"/>
                          </a:solidFill>
                          <a:latin typeface="Calibri"/>
                        </a:rPr>
                        <a:t>40 legacy BDs</a:t>
                      </a:r>
                    </a:p>
                  </a:txBody>
                  <a:tcPr anchor="ctr">
                    <a:solidFill>
                      <a:srgbClr val="F4F6FA"/>
                    </a:solidFill>
                  </a:tcPr>
                </a:tc>
                <a:tc>
                  <a:txBody>
                    <a:bodyPr lIns="36000" rIns="36000"/>
                    <a:lstStyle/>
                    <a:p>
                      <a:pPr algn="l"/>
                      <a:r>
                        <a:rPr sz="1100">
                          <a:solidFill>
                            <a:srgbClr val="1C1F24"/>
                          </a:solidFill>
                          <a:latin typeface="Calibri"/>
                        </a:rPr>
                        <a:t>Server mgmt (OOB, inband, DRAC, IACS)</a:t>
                      </a:r>
                    </a:p>
                  </a:txBody>
                  <a:tcPr anchor="ctr">
                    <a:solidFill>
                      <a:srgbClr val="F4F6FA"/>
                    </a:solidFill>
                  </a:tcPr>
                </a:tc>
              </a:tr>
              <a:tr h="325120">
                <a:tc>
                  <a:txBody>
                    <a:bodyPr lIns="36000" rIns="36000"/>
                    <a:lstStyle/>
                    <a:p>
                      <a:pPr algn="l"/>
                      <a:r>
                        <a:rPr sz="1100">
                          <a:solidFill>
                            <a:srgbClr val="1C1F24"/>
                          </a:solidFill>
                          <a:latin typeface="Calibri"/>
                        </a:rPr>
                        <a:t>BD-WEB-SVR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36000" rIns="36000"/>
                    <a:lstStyle/>
                    <a:p>
                      <a:pPr algn="l"/>
                      <a:r>
                        <a:rPr sz="1100">
                          <a:solidFill>
                            <a:srgbClr val="1C1F24"/>
                          </a:solidFill>
                          <a:latin typeface="Calibri"/>
                        </a:rPr>
                        <a:t>11 subnets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36000" rIns="36000"/>
                    <a:lstStyle/>
                    <a:p>
                      <a:pPr algn="l"/>
                      <a:r>
                        <a:rPr sz="1100">
                          <a:solidFill>
                            <a:srgbClr val="1C1F24"/>
                          </a:solidFill>
                          <a:latin typeface="Calibri"/>
                        </a:rPr>
                        <a:t>18 legacy BDs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36000" rIns="36000"/>
                    <a:lstStyle/>
                    <a:p>
                      <a:pPr algn="l"/>
                      <a:r>
                        <a:rPr sz="1100">
                          <a:solidFill>
                            <a:srgbClr val="1C1F24"/>
                          </a:solidFill>
                          <a:latin typeface="Calibri"/>
                        </a:rPr>
                        <a:t>Web frontends, ITSM web tiers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5120">
                <a:tc>
                  <a:txBody>
                    <a:bodyPr lIns="36000" rIns="36000"/>
                    <a:lstStyle/>
                    <a:p>
                      <a:pPr algn="l"/>
                      <a:r>
                        <a:rPr sz="1100">
                          <a:solidFill>
                            <a:srgbClr val="1C1F24"/>
                          </a:solidFill>
                          <a:latin typeface="Calibri"/>
                        </a:rPr>
                        <a:t>BD-VVOIP-MGMT</a:t>
                      </a:r>
                    </a:p>
                  </a:txBody>
                  <a:tcPr anchor="ctr">
                    <a:solidFill>
                      <a:srgbClr val="F4F6FA"/>
                    </a:solidFill>
                  </a:tcPr>
                </a:tc>
                <a:tc>
                  <a:txBody>
                    <a:bodyPr lIns="36000" rIns="36000"/>
                    <a:lstStyle/>
                    <a:p>
                      <a:pPr algn="l"/>
                      <a:r>
                        <a:rPr sz="1100">
                          <a:solidFill>
                            <a:srgbClr val="1C1F24"/>
                          </a:solidFill>
                          <a:latin typeface="Calibri"/>
                        </a:rPr>
                        <a:t>9 subnets</a:t>
                      </a:r>
                    </a:p>
                  </a:txBody>
                  <a:tcPr anchor="ctr">
                    <a:solidFill>
                      <a:srgbClr val="F4F6FA"/>
                    </a:solidFill>
                  </a:tcPr>
                </a:tc>
                <a:tc>
                  <a:txBody>
                    <a:bodyPr lIns="36000" rIns="36000"/>
                    <a:lstStyle/>
                    <a:p>
                      <a:pPr algn="l"/>
                      <a:r>
                        <a:rPr sz="1100">
                          <a:solidFill>
                            <a:srgbClr val="1C1F24"/>
                          </a:solidFill>
                          <a:latin typeface="Calibri"/>
                        </a:rPr>
                        <a:t>14 legacy BDs</a:t>
                      </a:r>
                    </a:p>
                  </a:txBody>
                  <a:tcPr anchor="ctr">
                    <a:solidFill>
                      <a:srgbClr val="F4F6FA"/>
                    </a:solidFill>
                  </a:tcPr>
                </a:tc>
                <a:tc>
                  <a:txBody>
                    <a:bodyPr lIns="36000" rIns="36000"/>
                    <a:lstStyle/>
                    <a:p>
                      <a:pPr algn="l"/>
                      <a:r>
                        <a:rPr sz="1100">
                          <a:solidFill>
                            <a:srgbClr val="1C1F24"/>
                          </a:solidFill>
                          <a:latin typeface="Calibri"/>
                        </a:rPr>
                        <a:t>UC public/restricted, gateways, messaging</a:t>
                      </a:r>
                    </a:p>
                  </a:txBody>
                  <a:tcPr anchor="ctr">
                    <a:solidFill>
                      <a:srgbClr val="F4F6FA"/>
                    </a:solidFill>
                  </a:tcPr>
                </a:tc>
              </a:tr>
              <a:tr h="325120">
                <a:tc>
                  <a:txBody>
                    <a:bodyPr lIns="36000" rIns="36000"/>
                    <a:lstStyle/>
                    <a:p>
                      <a:pPr algn="l"/>
                      <a:r>
                        <a:rPr sz="1100">
                          <a:solidFill>
                            <a:srgbClr val="1C1F24"/>
                          </a:solidFill>
                          <a:latin typeface="Calibri"/>
                        </a:rPr>
                        <a:t>BD-DB-SVR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36000" rIns="36000"/>
                    <a:lstStyle/>
                    <a:p>
                      <a:pPr algn="l"/>
                      <a:r>
                        <a:rPr sz="1100">
                          <a:solidFill>
                            <a:srgbClr val="1C1F24"/>
                          </a:solidFill>
                          <a:latin typeface="Calibri"/>
                        </a:rPr>
                        <a:t>8 subnets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36000" rIns="36000"/>
                    <a:lstStyle/>
                    <a:p>
                      <a:pPr algn="l"/>
                      <a:r>
                        <a:rPr sz="1100">
                          <a:solidFill>
                            <a:srgbClr val="1C1F24"/>
                          </a:solidFill>
                          <a:latin typeface="Calibri"/>
                        </a:rPr>
                        <a:t>11 legacy BDs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36000" rIns="36000"/>
                    <a:lstStyle/>
                    <a:p>
                      <a:pPr algn="l"/>
                      <a:r>
                        <a:rPr sz="1100">
                          <a:solidFill>
                            <a:srgbClr val="1C1F24"/>
                          </a:solidFill>
                          <a:latin typeface="Calibri"/>
                        </a:rPr>
                        <a:t>SQL / database backends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5120">
                <a:tc>
                  <a:txBody>
                    <a:bodyPr lIns="36000" rIns="36000"/>
                    <a:lstStyle/>
                    <a:p>
                      <a:pPr algn="l"/>
                      <a:r>
                        <a:rPr sz="1100">
                          <a:solidFill>
                            <a:srgbClr val="1C1F24"/>
                          </a:solidFill>
                          <a:latin typeface="Calibri"/>
                        </a:rPr>
                        <a:t>BD-MECM</a:t>
                      </a:r>
                    </a:p>
                  </a:txBody>
                  <a:tcPr anchor="ctr">
                    <a:solidFill>
                      <a:srgbClr val="F4F6FA"/>
                    </a:solidFill>
                  </a:tcPr>
                </a:tc>
                <a:tc>
                  <a:txBody>
                    <a:bodyPr lIns="36000" rIns="36000"/>
                    <a:lstStyle/>
                    <a:p>
                      <a:pPr algn="l"/>
                      <a:r>
                        <a:rPr sz="1100">
                          <a:solidFill>
                            <a:srgbClr val="1C1F24"/>
                          </a:solidFill>
                          <a:latin typeface="Calibri"/>
                        </a:rPr>
                        <a:t>6 subnets</a:t>
                      </a:r>
                    </a:p>
                  </a:txBody>
                  <a:tcPr anchor="ctr">
                    <a:solidFill>
                      <a:srgbClr val="F4F6FA"/>
                    </a:solidFill>
                  </a:tcPr>
                </a:tc>
                <a:tc>
                  <a:txBody>
                    <a:bodyPr lIns="36000" rIns="36000"/>
                    <a:lstStyle/>
                    <a:p>
                      <a:pPr algn="l"/>
                      <a:r>
                        <a:rPr sz="1100">
                          <a:solidFill>
                            <a:srgbClr val="1C1F24"/>
                          </a:solidFill>
                          <a:latin typeface="Calibri"/>
                        </a:rPr>
                        <a:t>6 legacy BDs</a:t>
                      </a:r>
                    </a:p>
                  </a:txBody>
                  <a:tcPr anchor="ctr">
                    <a:solidFill>
                      <a:srgbClr val="F4F6FA"/>
                    </a:solidFill>
                  </a:tcPr>
                </a:tc>
                <a:tc>
                  <a:txBody>
                    <a:bodyPr lIns="36000" rIns="36000"/>
                    <a:lstStyle/>
                    <a:p>
                      <a:pPr algn="l"/>
                      <a:r>
                        <a:rPr sz="1100">
                          <a:solidFill>
                            <a:srgbClr val="1C1F24"/>
                          </a:solidFill>
                          <a:latin typeface="Calibri"/>
                        </a:rPr>
                        <a:t>SCCM / MECM patching infrastructure</a:t>
                      </a:r>
                    </a:p>
                  </a:txBody>
                  <a:tcPr anchor="ctr">
                    <a:solidFill>
                      <a:srgbClr val="F4F6FA"/>
                    </a:solidFill>
                  </a:tcPr>
                </a:tc>
              </a:tr>
              <a:tr h="325120">
                <a:tc>
                  <a:txBody>
                    <a:bodyPr lIns="36000" rIns="36000"/>
                    <a:lstStyle/>
                    <a:p>
                      <a:pPr algn="l"/>
                      <a:r>
                        <a:rPr sz="1100">
                          <a:solidFill>
                            <a:srgbClr val="1C1F24"/>
                          </a:solidFill>
                          <a:latin typeface="Calibri"/>
                        </a:rPr>
                        <a:t>BD-BACKUP-SVR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36000" rIns="36000"/>
                    <a:lstStyle/>
                    <a:p>
                      <a:pPr algn="l"/>
                      <a:r>
                        <a:rPr sz="1100">
                          <a:solidFill>
                            <a:srgbClr val="1C1F24"/>
                          </a:solidFill>
                          <a:latin typeface="Calibri"/>
                        </a:rPr>
                        <a:t>4 subnets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36000" rIns="36000"/>
                    <a:lstStyle/>
                    <a:p>
                      <a:pPr algn="l"/>
                      <a:r>
                        <a:rPr sz="1100">
                          <a:solidFill>
                            <a:srgbClr val="1C1F24"/>
                          </a:solidFill>
                          <a:latin typeface="Calibri"/>
                        </a:rPr>
                        <a:t>— 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36000" rIns="36000"/>
                    <a:lstStyle/>
                    <a:p>
                      <a:pPr algn="l"/>
                      <a:r>
                        <a:rPr sz="1100">
                          <a:solidFill>
                            <a:srgbClr val="1C1F24"/>
                          </a:solidFill>
                          <a:latin typeface="Calibri"/>
                        </a:rPr>
                        <a:t>Backup infrastructure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5120">
                <a:tc>
                  <a:txBody>
                    <a:bodyPr lIns="36000" rIns="36000"/>
                    <a:lstStyle/>
                    <a:p>
                      <a:pPr algn="l"/>
                      <a:r>
                        <a:rPr sz="1100">
                          <a:solidFill>
                            <a:srgbClr val="1C1F24"/>
                          </a:solidFill>
                          <a:latin typeface="Calibri"/>
                        </a:rPr>
                        <a:t>BD-FILE-SVR / BD-SYSLOG / BD-LB</a:t>
                      </a:r>
                    </a:p>
                  </a:txBody>
                  <a:tcPr anchor="ctr">
                    <a:solidFill>
                      <a:srgbClr val="F4F6FA"/>
                    </a:solidFill>
                  </a:tcPr>
                </a:tc>
                <a:tc>
                  <a:txBody>
                    <a:bodyPr lIns="36000" rIns="36000"/>
                    <a:lstStyle/>
                    <a:p>
                      <a:pPr algn="l"/>
                      <a:r>
                        <a:rPr sz="1100">
                          <a:solidFill>
                            <a:srgbClr val="1C1F24"/>
                          </a:solidFill>
                          <a:latin typeface="Calibri"/>
                        </a:rPr>
                        <a:t>3 subnets each</a:t>
                      </a:r>
                    </a:p>
                  </a:txBody>
                  <a:tcPr anchor="ctr">
                    <a:solidFill>
                      <a:srgbClr val="F4F6FA"/>
                    </a:solidFill>
                  </a:tcPr>
                </a:tc>
                <a:tc>
                  <a:txBody>
                    <a:bodyPr lIns="36000" rIns="36000"/>
                    <a:lstStyle/>
                    <a:p>
                      <a:pPr algn="l"/>
                      <a:r>
                        <a:rPr sz="1100">
                          <a:solidFill>
                            <a:srgbClr val="1C1F24"/>
                          </a:solidFill>
                          <a:latin typeface="Calibri"/>
                        </a:rPr>
                        <a:t>— </a:t>
                      </a:r>
                    </a:p>
                  </a:txBody>
                  <a:tcPr anchor="ctr">
                    <a:solidFill>
                      <a:srgbClr val="F4F6FA"/>
                    </a:solidFill>
                  </a:tcPr>
                </a:tc>
                <a:tc>
                  <a:txBody>
                    <a:bodyPr lIns="36000" rIns="36000"/>
                    <a:lstStyle/>
                    <a:p>
                      <a:pPr algn="l"/>
                      <a:r>
                        <a:rPr sz="1100">
                          <a:solidFill>
                            <a:srgbClr val="1C1F24"/>
                          </a:solidFill>
                          <a:latin typeface="Calibri"/>
                        </a:rPr>
                        <a:t>File services, logging, load balancers</a:t>
                      </a:r>
                    </a:p>
                  </a:txBody>
                  <a:tcPr anchor="ctr">
                    <a:solidFill>
                      <a:srgbClr val="F4F6FA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4297680"/>
            <a:ext cx="2697480" cy="1828800"/>
          </a:xfrm>
          <a:prstGeom prst="rect">
            <a:avLst/>
          </a:prstGeom>
          <a:solidFill>
            <a:srgbClr val="F4F6FA"/>
          </a:solidFill>
          <a:ln w="9525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4297680"/>
            <a:ext cx="2697480" cy="347472"/>
          </a:xfrm>
          <a:prstGeom prst="rect">
            <a:avLst/>
          </a:prstGeom>
          <a:solidFill>
            <a:srgbClr val="005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4297680"/>
            <a:ext cx="2514600" cy="34747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171 legacy BDs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4800600"/>
            <a:ext cx="2423160" cy="12801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0">
                <a:solidFill>
                  <a:srgbClr val="1C1F24"/>
                </a:solidFill>
                <a:latin typeface="Calibri"/>
              </a:rPr>
              <a:t>legacy BDs mapped with subnets
(110 subnets across 22 new BDs)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91840" y="4297680"/>
            <a:ext cx="2697480" cy="1828800"/>
          </a:xfrm>
          <a:prstGeom prst="rect">
            <a:avLst/>
          </a:prstGeom>
          <a:solidFill>
            <a:srgbClr val="F4F6FA"/>
          </a:solidFill>
          <a:ln w="9525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91840" y="4297680"/>
            <a:ext cx="2697480" cy="347472"/>
          </a:xfrm>
          <a:prstGeom prst="rect">
            <a:avLst/>
          </a:prstGeom>
          <a:solidFill>
            <a:srgbClr val="1D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29000" y="4297680"/>
            <a:ext cx="2514600" cy="34747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14 legacy BDs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29000" y="4800600"/>
            <a:ext cx="2423160" cy="12801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0">
                <a:solidFill>
                  <a:srgbClr val="1C1F24"/>
                </a:solidFill>
                <a:latin typeface="Calibri"/>
              </a:rPr>
              <a:t>L2-only (function known, gateway on firewall)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4297680"/>
            <a:ext cx="2697480" cy="1828800"/>
          </a:xfrm>
          <a:prstGeom prst="rect">
            <a:avLst/>
          </a:prstGeom>
          <a:solidFill>
            <a:srgbClr val="F4F6FA"/>
          </a:solidFill>
          <a:ln w="9525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26480" y="4297680"/>
            <a:ext cx="2697480" cy="347472"/>
          </a:xfrm>
          <a:prstGeom prst="rect">
            <a:avLst/>
          </a:prstGeom>
          <a:solidFill>
            <a:srgbClr val="F2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63640" y="4297680"/>
            <a:ext cx="2514600" cy="34747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17 legacy BDs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4800600"/>
            <a:ext cx="2423160" cy="12801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0">
                <a:solidFill>
                  <a:srgbClr val="1C1F24"/>
                </a:solidFill>
                <a:latin typeface="Calibri"/>
              </a:rPr>
              <a:t>Placeholder BDs (IPv6-only categories)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961120" y="4297680"/>
            <a:ext cx="2697480" cy="1828800"/>
          </a:xfrm>
          <a:prstGeom prst="rect">
            <a:avLst/>
          </a:prstGeom>
          <a:solidFill>
            <a:srgbClr val="F4F6FA"/>
          </a:solidFill>
          <a:ln w="9525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961120" y="4297680"/>
            <a:ext cx="2697480" cy="34747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98280" y="4297680"/>
            <a:ext cx="2514600" cy="34747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30 legacy BDs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98280" y="4800600"/>
            <a:ext cx="2423160" cy="12801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0">
                <a:solidFill>
                  <a:srgbClr val="1C1F24"/>
                </a:solidFill>
                <a:latin typeface="Calibri"/>
              </a:rPr>
              <a:t>Decommission candidates (20 dead + 4 deprecated + 6 test)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B2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5760" y="6565392"/>
            <a:ext cx="7315200" cy="29260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ACI Redesign Strategy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20095" y="6565392"/>
            <a:ext cx="1097280" cy="29260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9 / 27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B2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45720"/>
          </a:xfrm>
          <a:prstGeom prst="rect">
            <a:avLst/>
          </a:prstGeom>
          <a:solidFill>
            <a:srgbClr val="F2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0515600" cy="5486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Naming &amp; Object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0515600" cy="3200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200" b="0">
                <a:solidFill>
                  <a:srgbClr val="CFDAEA"/>
                </a:solidFill>
                <a:latin typeface="Calibri"/>
              </a:rPr>
              <a:t>Production-ready conventions aligned with the IPv6 RCC model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051560"/>
          <a:ext cx="7772398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27582"/>
                <a:gridCol w="2703443"/>
                <a:gridCol w="3041373"/>
              </a:tblGrid>
              <a:tr h="379827">
                <a:tc>
                  <a:txBody>
                    <a:bodyPr lIns="36000" rIns="36000"/>
                    <a:lstStyle/>
                    <a:p>
                      <a:pPr algn="l"/>
                      <a:r>
                        <a:rPr b="1" sz="1200">
                          <a:solidFill>
                            <a:srgbClr val="FFFFFF"/>
                          </a:solidFill>
                          <a:latin typeface="Calibri"/>
                        </a:rPr>
                        <a:t>Object</a:t>
                      </a:r>
                    </a:p>
                  </a:txBody>
                  <a:tcPr anchor="ctr">
                    <a:solidFill>
                      <a:srgbClr val="0B2E5C"/>
                    </a:solidFill>
                  </a:tcPr>
                </a:tc>
                <a:tc>
                  <a:txBody>
                    <a:bodyPr lIns="36000" rIns="36000"/>
                    <a:lstStyle/>
                    <a:p>
                      <a:pPr algn="l"/>
                      <a:r>
                        <a:rPr b="1" sz="1200">
                          <a:solidFill>
                            <a:srgbClr val="FFFFFF"/>
                          </a:solidFill>
                          <a:latin typeface="Calibri"/>
                        </a:rPr>
                        <a:t>Pattern</a:t>
                      </a:r>
                    </a:p>
                  </a:txBody>
                  <a:tcPr anchor="ctr">
                    <a:solidFill>
                      <a:srgbClr val="0B2E5C"/>
                    </a:solidFill>
                  </a:tcPr>
                </a:tc>
                <a:tc>
                  <a:txBody>
                    <a:bodyPr lIns="36000" rIns="36000"/>
                    <a:lstStyle/>
                    <a:p>
                      <a:pPr algn="l"/>
                      <a:r>
                        <a:rPr b="1" sz="1200">
                          <a:solidFill>
                            <a:srgbClr val="FFFFFF"/>
                          </a:solidFill>
                          <a:latin typeface="Calibri"/>
                        </a:rPr>
                        <a:t>Example</a:t>
                      </a:r>
                    </a:p>
                  </a:txBody>
                  <a:tcPr anchor="ctr">
                    <a:solidFill>
                      <a:srgbClr val="0B2E5C"/>
                    </a:solidFill>
                  </a:tcPr>
                </a:tc>
              </a:tr>
              <a:tr h="379827">
                <a:tc>
                  <a:txBody>
                    <a:bodyPr lIns="36000" rIns="36000"/>
                    <a:lstStyle/>
                    <a:p>
                      <a:pPr algn="l"/>
                      <a:r>
                        <a:rPr sz="1100">
                          <a:solidFill>
                            <a:srgbClr val="1C1F24"/>
                          </a:solidFill>
                          <a:latin typeface="Calibri"/>
                        </a:rPr>
                        <a:t>VRF (internal)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36000" rIns="36000"/>
                    <a:lstStyle/>
                    <a:p>
                      <a:pPr algn="l"/>
                      <a:r>
                        <a:rPr sz="1100">
                          <a:solidFill>
                            <a:srgbClr val="1C1F24"/>
                          </a:solidFill>
                          <a:latin typeface="Calibri"/>
                        </a:rPr>
                        <a:t>VRF-EUR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36000" rIns="36000"/>
                    <a:lstStyle/>
                    <a:p>
                      <a:pPr algn="l"/>
                      <a:r>
                        <a:rPr sz="1100">
                          <a:solidFill>
                            <a:srgbClr val="1C1F24"/>
                          </a:solidFill>
                          <a:latin typeface="Calibri"/>
                        </a:rPr>
                        <a:t>VRF-EUR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79827">
                <a:tc>
                  <a:txBody>
                    <a:bodyPr lIns="36000" rIns="36000"/>
                    <a:lstStyle/>
                    <a:p>
                      <a:pPr algn="l"/>
                      <a:r>
                        <a:rPr sz="1100">
                          <a:solidFill>
                            <a:srgbClr val="1C1F24"/>
                          </a:solidFill>
                          <a:latin typeface="Calibri"/>
                        </a:rPr>
                        <a:t>VRF (DMZ)</a:t>
                      </a:r>
                    </a:p>
                  </a:txBody>
                  <a:tcPr anchor="ctr">
                    <a:solidFill>
                      <a:srgbClr val="F4F6FA"/>
                    </a:solidFill>
                  </a:tcPr>
                </a:tc>
                <a:tc>
                  <a:txBody>
                    <a:bodyPr lIns="36000" rIns="36000"/>
                    <a:lstStyle/>
                    <a:p>
                      <a:pPr algn="l"/>
                      <a:r>
                        <a:rPr sz="1100">
                          <a:solidFill>
                            <a:srgbClr val="1C1F24"/>
                          </a:solidFill>
                          <a:latin typeface="Calibri"/>
                        </a:rPr>
                        <a:t>VRF-DMZ</a:t>
                      </a:r>
                    </a:p>
                  </a:txBody>
                  <a:tcPr anchor="ctr">
                    <a:solidFill>
                      <a:srgbClr val="F4F6FA"/>
                    </a:solidFill>
                  </a:tcPr>
                </a:tc>
                <a:tc>
                  <a:txBody>
                    <a:bodyPr lIns="36000" rIns="36000"/>
                    <a:lstStyle/>
                    <a:p>
                      <a:pPr algn="l"/>
                      <a:r>
                        <a:rPr sz="1100">
                          <a:solidFill>
                            <a:srgbClr val="1C1F24"/>
                          </a:solidFill>
                          <a:latin typeface="Calibri"/>
                        </a:rPr>
                        <a:t>VRF-DMZ</a:t>
                      </a:r>
                    </a:p>
                  </a:txBody>
                  <a:tcPr anchor="ctr">
                    <a:solidFill>
                      <a:srgbClr val="F4F6FA"/>
                    </a:solidFill>
                  </a:tcPr>
                </a:tc>
              </a:tr>
              <a:tr h="379827">
                <a:tc>
                  <a:txBody>
                    <a:bodyPr lIns="36000" rIns="36000"/>
                    <a:lstStyle/>
                    <a:p>
                      <a:pPr algn="l"/>
                      <a:r>
                        <a:rPr sz="1100">
                          <a:solidFill>
                            <a:srgbClr val="1C1F24"/>
                          </a:solidFill>
                          <a:latin typeface="Calibri"/>
                        </a:rPr>
                        <a:t>VRF (IPv6)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36000" rIns="36000"/>
                    <a:lstStyle/>
                    <a:p>
                      <a:pPr algn="l"/>
                      <a:r>
                        <a:rPr sz="1100">
                          <a:solidFill>
                            <a:srgbClr val="1C1F24"/>
                          </a:solidFill>
                          <a:latin typeface="Calibri"/>
                        </a:rPr>
                        <a:t>VRF-RCC (unchanged)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36000" rIns="36000"/>
                    <a:lstStyle/>
                    <a:p>
                      <a:pPr algn="l"/>
                      <a:r>
                        <a:rPr sz="1100">
                          <a:solidFill>
                            <a:srgbClr val="1C1F24"/>
                          </a:solidFill>
                          <a:latin typeface="Calibri"/>
                        </a:rPr>
                        <a:t>VRF-RCC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79827">
                <a:tc>
                  <a:txBody>
                    <a:bodyPr lIns="36000" rIns="36000"/>
                    <a:lstStyle/>
                    <a:p>
                      <a:pPr algn="l"/>
                      <a:r>
                        <a:rPr sz="1100">
                          <a:solidFill>
                            <a:srgbClr val="1C1F24"/>
                          </a:solidFill>
                          <a:latin typeface="Calibri"/>
                        </a:rPr>
                        <a:t>Contract</a:t>
                      </a:r>
                    </a:p>
                  </a:txBody>
                  <a:tcPr anchor="ctr">
                    <a:solidFill>
                      <a:srgbClr val="F4F6FA"/>
                    </a:solidFill>
                  </a:tcPr>
                </a:tc>
                <a:tc>
                  <a:txBody>
                    <a:bodyPr lIns="36000" rIns="36000"/>
                    <a:lstStyle/>
                    <a:p>
                      <a:pPr algn="l"/>
                      <a:r>
                        <a:rPr sz="1100">
                          <a:solidFill>
                            <a:srgbClr val="1C1F24"/>
                          </a:solidFill>
                          <a:latin typeface="Calibri"/>
                        </a:rPr>
                        <a:t>Any_&lt;VRF&gt;</a:t>
                      </a:r>
                    </a:p>
                  </a:txBody>
                  <a:tcPr anchor="ctr">
                    <a:solidFill>
                      <a:srgbClr val="F4F6FA"/>
                    </a:solidFill>
                  </a:tcPr>
                </a:tc>
                <a:tc>
                  <a:txBody>
                    <a:bodyPr lIns="36000" rIns="36000"/>
                    <a:lstStyle/>
                    <a:p>
                      <a:pPr algn="l"/>
                      <a:r>
                        <a:rPr sz="1100">
                          <a:solidFill>
                            <a:srgbClr val="1C1F24"/>
                          </a:solidFill>
                          <a:latin typeface="Calibri"/>
                        </a:rPr>
                        <a:t>Any_VRF-EUR, Any_VRF-DMZ</a:t>
                      </a:r>
                    </a:p>
                  </a:txBody>
                  <a:tcPr anchor="ctr">
                    <a:solidFill>
                      <a:srgbClr val="F4F6FA"/>
                    </a:solidFill>
                  </a:tcPr>
                </a:tc>
              </a:tr>
              <a:tr h="379827">
                <a:tc>
                  <a:txBody>
                    <a:bodyPr lIns="36000" rIns="36000"/>
                    <a:lstStyle/>
                    <a:p>
                      <a:pPr algn="l"/>
                      <a:r>
                        <a:rPr sz="1100">
                          <a:solidFill>
                            <a:srgbClr val="1C1F24"/>
                          </a:solidFill>
                          <a:latin typeface="Calibri"/>
                        </a:rPr>
                        <a:t>Filter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36000" rIns="36000"/>
                    <a:lstStyle/>
                    <a:p>
                      <a:pPr algn="l"/>
                      <a:r>
                        <a:rPr sz="1100">
                          <a:solidFill>
                            <a:srgbClr val="1C1F24"/>
                          </a:solidFill>
                          <a:latin typeface="Calibri"/>
                        </a:rPr>
                        <a:t>Any (ethertype unspecified)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36000" rIns="36000"/>
                    <a:lstStyle/>
                    <a:p>
                      <a:pPr algn="l"/>
                      <a:r>
                        <a:rPr sz="1100">
                          <a:solidFill>
                            <a:srgbClr val="1C1F24"/>
                          </a:solidFill>
                          <a:latin typeface="Calibri"/>
                        </a:rPr>
                        <a:t>Any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79827">
                <a:tc>
                  <a:txBody>
                    <a:bodyPr lIns="36000" rIns="36000"/>
                    <a:lstStyle/>
                    <a:p>
                      <a:pPr algn="l"/>
                      <a:r>
                        <a:rPr sz="1100">
                          <a:solidFill>
                            <a:srgbClr val="1C1F24"/>
                          </a:solidFill>
                          <a:latin typeface="Calibri"/>
                        </a:rPr>
                        <a:t>Bridge Domain</a:t>
                      </a:r>
                    </a:p>
                  </a:txBody>
                  <a:tcPr anchor="ctr">
                    <a:solidFill>
                      <a:srgbClr val="F4F6FA"/>
                    </a:solidFill>
                  </a:tcPr>
                </a:tc>
                <a:tc>
                  <a:txBody>
                    <a:bodyPr lIns="36000" rIns="36000"/>
                    <a:lstStyle/>
                    <a:p>
                      <a:pPr algn="l"/>
                      <a:r>
                        <a:rPr sz="1100">
                          <a:solidFill>
                            <a:srgbClr val="1C1F24"/>
                          </a:solidFill>
                          <a:latin typeface="Calibri"/>
                        </a:rPr>
                        <a:t>BD-&lt;function&gt;</a:t>
                      </a:r>
                    </a:p>
                  </a:txBody>
                  <a:tcPr anchor="ctr">
                    <a:solidFill>
                      <a:srgbClr val="F4F6FA"/>
                    </a:solidFill>
                  </a:tcPr>
                </a:tc>
                <a:tc>
                  <a:txBody>
                    <a:bodyPr lIns="36000" rIns="36000"/>
                    <a:lstStyle/>
                    <a:p>
                      <a:pPr algn="l"/>
                      <a:r>
                        <a:rPr sz="1100">
                          <a:solidFill>
                            <a:srgbClr val="1C1F24"/>
                          </a:solidFill>
                          <a:latin typeface="Calibri"/>
                        </a:rPr>
                        <a:t>BD-DNS-MGMT, BD-UC-DMZ</a:t>
                      </a:r>
                    </a:p>
                  </a:txBody>
                  <a:tcPr anchor="ctr">
                    <a:solidFill>
                      <a:srgbClr val="F4F6FA"/>
                    </a:solidFill>
                  </a:tcPr>
                </a:tc>
              </a:tr>
              <a:tr h="379827">
                <a:tc>
                  <a:txBody>
                    <a:bodyPr lIns="36000" rIns="36000"/>
                    <a:lstStyle/>
                    <a:p>
                      <a:pPr algn="l"/>
                      <a:r>
                        <a:rPr sz="1100">
                          <a:solidFill>
                            <a:srgbClr val="1C1F24"/>
                          </a:solidFill>
                          <a:latin typeface="Calibri"/>
                        </a:rPr>
                        <a:t>EPG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36000" rIns="36000"/>
                    <a:lstStyle/>
                    <a:p>
                      <a:pPr algn="l"/>
                      <a:r>
                        <a:rPr sz="1100">
                          <a:solidFill>
                            <a:srgbClr val="1C1F24"/>
                          </a:solidFill>
                          <a:latin typeface="Calibri"/>
                        </a:rPr>
                        <a:t>EPG-&lt;function&gt;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36000" rIns="36000"/>
                    <a:lstStyle/>
                    <a:p>
                      <a:pPr algn="l"/>
                      <a:r>
                        <a:rPr sz="1100">
                          <a:solidFill>
                            <a:srgbClr val="1C1F24"/>
                          </a:solidFill>
                          <a:latin typeface="Calibri"/>
                        </a:rPr>
                        <a:t>EPG-DNS-MGMT, EPG-UC-DMZ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79827">
                <a:tc>
                  <a:txBody>
                    <a:bodyPr lIns="36000" rIns="36000"/>
                    <a:lstStyle/>
                    <a:p>
                      <a:pPr algn="l"/>
                      <a:r>
                        <a:rPr sz="1100">
                          <a:solidFill>
                            <a:srgbClr val="1C1F24"/>
                          </a:solidFill>
                          <a:latin typeface="Calibri"/>
                        </a:rPr>
                        <a:t>App Profile (internal)</a:t>
                      </a:r>
                    </a:p>
                  </a:txBody>
                  <a:tcPr anchor="ctr">
                    <a:solidFill>
                      <a:srgbClr val="F4F6FA"/>
                    </a:solidFill>
                  </a:tcPr>
                </a:tc>
                <a:tc>
                  <a:txBody>
                    <a:bodyPr lIns="36000" rIns="36000"/>
                    <a:lstStyle/>
                    <a:p>
                      <a:pPr algn="l"/>
                      <a:r>
                        <a:rPr sz="1100">
                          <a:solidFill>
                            <a:srgbClr val="1C1F24"/>
                          </a:solidFill>
                          <a:latin typeface="Calibri"/>
                        </a:rPr>
                        <a:t>AppProf-NetCentric</a:t>
                      </a:r>
                    </a:p>
                  </a:txBody>
                  <a:tcPr anchor="ctr">
                    <a:solidFill>
                      <a:srgbClr val="F4F6FA"/>
                    </a:solidFill>
                  </a:tcPr>
                </a:tc>
                <a:tc>
                  <a:txBody>
                    <a:bodyPr lIns="36000" rIns="36000"/>
                    <a:lstStyle/>
                    <a:p>
                      <a:pPr algn="l"/>
                      <a:r>
                        <a:rPr sz="1100">
                          <a:solidFill>
                            <a:srgbClr val="1C1F24"/>
                          </a:solidFill>
                          <a:latin typeface="Calibri"/>
                        </a:rPr>
                        <a:t>AppProf-NetCentric</a:t>
                      </a:r>
                    </a:p>
                  </a:txBody>
                  <a:tcPr anchor="ctr">
                    <a:solidFill>
                      <a:srgbClr val="F4F6FA"/>
                    </a:solidFill>
                  </a:tcPr>
                </a:tc>
              </a:tr>
              <a:tr h="379827">
                <a:tc>
                  <a:txBody>
                    <a:bodyPr lIns="36000" rIns="36000"/>
                    <a:lstStyle/>
                    <a:p>
                      <a:pPr algn="l"/>
                      <a:r>
                        <a:rPr sz="1100">
                          <a:solidFill>
                            <a:srgbClr val="1C1F24"/>
                          </a:solidFill>
                          <a:latin typeface="Calibri"/>
                        </a:rPr>
                        <a:t>App Profile (DMZ)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36000" rIns="36000"/>
                    <a:lstStyle/>
                    <a:p>
                      <a:pPr algn="l"/>
                      <a:r>
                        <a:rPr sz="1100">
                          <a:solidFill>
                            <a:srgbClr val="1C1F24"/>
                          </a:solidFill>
                          <a:latin typeface="Calibri"/>
                        </a:rPr>
                        <a:t>AppProf-DMZ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36000" rIns="36000"/>
                    <a:lstStyle/>
                    <a:p>
                      <a:pPr algn="l"/>
                      <a:r>
                        <a:rPr sz="1100">
                          <a:solidFill>
                            <a:srgbClr val="1C1F24"/>
                          </a:solidFill>
                          <a:latin typeface="Calibri"/>
                        </a:rPr>
                        <a:t>AppProf-DMZ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79827">
                <a:tc>
                  <a:txBody>
                    <a:bodyPr lIns="36000" rIns="36000"/>
                    <a:lstStyle/>
                    <a:p>
                      <a:pPr algn="l"/>
                      <a:r>
                        <a:rPr sz="1100">
                          <a:solidFill>
                            <a:srgbClr val="1C1F24"/>
                          </a:solidFill>
                          <a:latin typeface="Calibri"/>
                        </a:rPr>
                        <a:t>App Profile (ESGs)</a:t>
                      </a:r>
                    </a:p>
                  </a:txBody>
                  <a:tcPr anchor="ctr">
                    <a:solidFill>
                      <a:srgbClr val="F4F6FA"/>
                    </a:solidFill>
                  </a:tcPr>
                </a:tc>
                <a:tc>
                  <a:txBody>
                    <a:bodyPr lIns="36000" rIns="36000"/>
                    <a:lstStyle/>
                    <a:p>
                      <a:pPr algn="l"/>
                      <a:r>
                        <a:rPr sz="1100">
                          <a:solidFill>
                            <a:srgbClr val="1C1F24"/>
                          </a:solidFill>
                          <a:latin typeface="Calibri"/>
                        </a:rPr>
                        <a:t>AppProf-SecurityGroups</a:t>
                      </a:r>
                    </a:p>
                  </a:txBody>
                  <a:tcPr anchor="ctr">
                    <a:solidFill>
                      <a:srgbClr val="F4F6FA"/>
                    </a:solidFill>
                  </a:tcPr>
                </a:tc>
                <a:tc>
                  <a:txBody>
                    <a:bodyPr lIns="36000" rIns="36000"/>
                    <a:lstStyle/>
                    <a:p>
                      <a:pPr algn="l"/>
                      <a:r>
                        <a:rPr sz="1100">
                          <a:solidFill>
                            <a:srgbClr val="1C1F24"/>
                          </a:solidFill>
                          <a:latin typeface="Calibri"/>
                        </a:rPr>
                        <a:t>AppProf-SecurityGroups</a:t>
                      </a:r>
                    </a:p>
                  </a:txBody>
                  <a:tcPr anchor="ctr">
                    <a:solidFill>
                      <a:srgbClr val="F4F6FA"/>
                    </a:solidFill>
                  </a:tcPr>
                </a:tc>
              </a:tr>
              <a:tr h="379827">
                <a:tc>
                  <a:txBody>
                    <a:bodyPr lIns="36000" rIns="36000"/>
                    <a:lstStyle/>
                    <a:p>
                      <a:pPr algn="l"/>
                      <a:r>
                        <a:rPr sz="1100">
                          <a:solidFill>
                            <a:srgbClr val="1C1F24"/>
                          </a:solidFill>
                          <a:latin typeface="Calibri"/>
                        </a:rPr>
                        <a:t>ESG (internal)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36000" rIns="36000"/>
                    <a:lstStyle/>
                    <a:p>
                      <a:pPr algn="l"/>
                      <a:r>
                        <a:rPr sz="1100">
                          <a:solidFill>
                            <a:srgbClr val="1C1F24"/>
                          </a:solidFill>
                          <a:latin typeface="Calibri"/>
                        </a:rPr>
                        <a:t>ESG-All-Internal-EPGs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36000" rIns="36000"/>
                    <a:lstStyle/>
                    <a:p>
                      <a:pPr algn="l"/>
                      <a:r>
                        <a:rPr sz="1100">
                          <a:solidFill>
                            <a:srgbClr val="1C1F24"/>
                          </a:solidFill>
                          <a:latin typeface="Calibri"/>
                        </a:rPr>
                        <a:t>ESG-All-Internal-EPGs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79836">
                <a:tc>
                  <a:txBody>
                    <a:bodyPr lIns="36000" rIns="36000"/>
                    <a:lstStyle/>
                    <a:p>
                      <a:pPr algn="l"/>
                      <a:r>
                        <a:rPr sz="1100">
                          <a:solidFill>
                            <a:srgbClr val="1C1F24"/>
                          </a:solidFill>
                          <a:latin typeface="Calibri"/>
                        </a:rPr>
                        <a:t>ESG (DMZ)</a:t>
                      </a:r>
                    </a:p>
                  </a:txBody>
                  <a:tcPr anchor="ctr">
                    <a:solidFill>
                      <a:srgbClr val="F4F6FA"/>
                    </a:solidFill>
                  </a:tcPr>
                </a:tc>
                <a:tc>
                  <a:txBody>
                    <a:bodyPr lIns="36000" rIns="36000"/>
                    <a:lstStyle/>
                    <a:p>
                      <a:pPr algn="l"/>
                      <a:r>
                        <a:rPr sz="1100">
                          <a:solidFill>
                            <a:srgbClr val="1C1F24"/>
                          </a:solidFill>
                          <a:latin typeface="Calibri"/>
                        </a:rPr>
                        <a:t>ESG-All-DMZ-EPGs</a:t>
                      </a:r>
                    </a:p>
                  </a:txBody>
                  <a:tcPr anchor="ctr">
                    <a:solidFill>
                      <a:srgbClr val="F4F6FA"/>
                    </a:solidFill>
                  </a:tcPr>
                </a:tc>
                <a:tc>
                  <a:txBody>
                    <a:bodyPr lIns="36000" rIns="36000"/>
                    <a:lstStyle/>
                    <a:p>
                      <a:pPr algn="l"/>
                      <a:r>
                        <a:rPr sz="1100">
                          <a:solidFill>
                            <a:srgbClr val="1C1F24"/>
                          </a:solidFill>
                          <a:latin typeface="Calibri"/>
                        </a:rPr>
                        <a:t>ESG-All-DMZ-EPGs</a:t>
                      </a:r>
                    </a:p>
                  </a:txBody>
                  <a:tcPr anchor="ctr">
                    <a:solidFill>
                      <a:srgbClr val="F4F6FA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8412480" y="1051560"/>
            <a:ext cx="3383280" cy="4937760"/>
          </a:xfrm>
          <a:prstGeom prst="rect">
            <a:avLst/>
          </a:prstGeom>
          <a:solidFill>
            <a:srgbClr val="F4F6FA"/>
          </a:solidFill>
          <a:ln w="9525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412480" y="1051560"/>
            <a:ext cx="3383280" cy="411480"/>
          </a:xfrm>
          <a:prstGeom prst="rect">
            <a:avLst/>
          </a:prstGeom>
          <a:solidFill>
            <a:srgbClr val="F2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49640" y="1051560"/>
            <a:ext cx="320040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Legacy → Redesign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1508760"/>
            <a:ext cx="3200400" cy="443484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>
              <a:lnSpc>
                <a:spcPct val="115000"/>
              </a:lnSpc>
            </a:pPr>
            <a:r>
              <a:rPr sz="1100" b="0">
                <a:solidFill>
                  <a:srgbClr val="1C1F24"/>
                </a:solidFill>
                <a:latin typeface="Calibri"/>
              </a:rPr>
              <a:t>•  BD-V0172 / V0222 / V0322  →  BD-AD</a:t>
            </a:r>
          </a:p>
          <a:p>
            <a:pPr>
              <a:lnSpc>
                <a:spcPct val="115000"/>
              </a:lnSpc>
            </a:pPr>
            <a:r>
              <a:rPr sz="1100" b="0">
                <a:solidFill>
                  <a:srgbClr val="1C1F24"/>
                </a:solidFill>
                <a:latin typeface="Calibri"/>
              </a:rPr>
              <a:t>•  BD-V0372 + 38 more  →  BD-APP-SVR</a:t>
            </a:r>
          </a:p>
          <a:p>
            <a:pPr>
              <a:lnSpc>
                <a:spcPct val="115000"/>
              </a:lnSpc>
            </a:pPr>
            <a:r>
              <a:rPr sz="1100" b="0">
                <a:solidFill>
                  <a:srgbClr val="1C1F24"/>
                </a:solidFill>
                <a:latin typeface="Calibri"/>
              </a:rPr>
              <a:t>•  BD-V0016 + 39 more  →  BD-CFG-MGMT</a:t>
            </a:r>
          </a:p>
          <a:p>
            <a:pPr>
              <a:lnSpc>
                <a:spcPct val="115000"/>
              </a:lnSpc>
            </a:pPr>
            <a:r>
              <a:rPr sz="1100" b="0">
                <a:solidFill>
                  <a:srgbClr val="1C1F24"/>
                </a:solidFill>
                <a:latin typeface="Calibri"/>
              </a:rPr>
              <a:t>•  BD-V0250 + 10 more  →  BD-DB-SVR</a:t>
            </a:r>
          </a:p>
          <a:p>
            <a:pPr>
              <a:lnSpc>
                <a:spcPct val="115000"/>
              </a:lnSpc>
            </a:pPr>
            <a:r>
              <a:rPr sz="1100" b="0">
                <a:solidFill>
                  <a:srgbClr val="1C1F24"/>
                </a:solidFill>
                <a:latin typeface="Calibri"/>
              </a:rPr>
              <a:t>•  </a:t>
            </a:r>
          </a:p>
          <a:p>
            <a:pPr>
              <a:lnSpc>
                <a:spcPct val="115000"/>
              </a:lnSpc>
            </a:pPr>
            <a:r>
              <a:rPr sz="1100" b="0">
                <a:solidFill>
                  <a:srgbClr val="1C1F24"/>
                </a:solidFill>
                <a:latin typeface="Calibri"/>
              </a:rPr>
              <a:t>•  Each new BD inherits every IPv4 subnet from the legacy BDs it replaces (per docs/reports/bd_mapping_analysis.txt).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B2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6565392"/>
            <a:ext cx="7315200" cy="29260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ACI Redesign Strategy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20095" y="6565392"/>
            <a:ext cx="1097280" cy="29260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10 / 27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B2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45720"/>
          </a:xfrm>
          <a:prstGeom prst="rect">
            <a:avLst/>
          </a:prstGeom>
          <a:solidFill>
            <a:srgbClr val="F2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0515600" cy="5486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Phased Security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0515600" cy="3200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200" b="0">
                <a:solidFill>
                  <a:srgbClr val="CFDAEA"/>
                </a:solidFill>
                <a:latin typeface="Calibri"/>
              </a:rPr>
              <a:t>Start permissive, add classification, then tighten - without breaking anyone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2697480" cy="3108960"/>
          </a:xfrm>
          <a:prstGeom prst="rect">
            <a:avLst/>
          </a:prstGeom>
          <a:solidFill>
            <a:srgbClr val="F4F6FA"/>
          </a:solidFill>
          <a:ln w="9525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280160"/>
            <a:ext cx="2697480" cy="502920"/>
          </a:xfrm>
          <a:prstGeom prst="rect">
            <a:avLst/>
          </a:prstGeom>
          <a:solidFill>
            <a:srgbClr val="1D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280160"/>
            <a:ext cx="2697480" cy="5029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Phase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920240"/>
            <a:ext cx="2331720" cy="10972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/>
            <a:r>
              <a:rPr sz="1300" b="1">
                <a:solidFill>
                  <a:srgbClr val="0B2E5C"/>
                </a:solidFill>
                <a:latin typeface="Calibri"/>
              </a:rPr>
              <a:t>vzAny permit-all
on VRF-EUR + VRF-DMZ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108960"/>
            <a:ext cx="2331720" cy="9144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/>
            <a:r>
              <a:rPr sz="1100" b="0">
                <a:solidFill>
                  <a:srgbClr val="1C1F24"/>
                </a:solidFill>
                <a:latin typeface="Calibri"/>
              </a:rPr>
              <a:t>Open - any EPG in a VRF can talk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97280" y="4069080"/>
            <a:ext cx="1417320" cy="274320"/>
          </a:xfrm>
          <a:prstGeom prst="rect">
            <a:avLst/>
          </a:prstGeom>
          <a:solidFill>
            <a:srgbClr val="1D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4069080"/>
            <a:ext cx="1417320" cy="2743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Current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3172968" y="2651760"/>
            <a:ext cx="146304" cy="365760"/>
          </a:xfrm>
          <a:prstGeom prst="rightArrow">
            <a:avLst/>
          </a:prstGeom>
          <a:solidFill>
            <a:srgbClr val="F2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37560" y="1280160"/>
            <a:ext cx="2697480" cy="3108960"/>
          </a:xfrm>
          <a:prstGeom prst="rect">
            <a:avLst/>
          </a:prstGeom>
          <a:solidFill>
            <a:srgbClr val="F4F6FA"/>
          </a:solidFill>
          <a:ln w="9525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37560" y="1280160"/>
            <a:ext cx="2697480" cy="502920"/>
          </a:xfrm>
          <a:prstGeom prst="rect">
            <a:avLst/>
          </a:prstGeom>
          <a:solidFill>
            <a:srgbClr val="1D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37560" y="1280160"/>
            <a:ext cx="2697480" cy="5029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Phase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20440" y="1920240"/>
            <a:ext cx="2331720" cy="10972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/>
            <a:r>
              <a:rPr sz="1300" b="1">
                <a:solidFill>
                  <a:srgbClr val="0B2E5C"/>
                </a:solidFill>
                <a:latin typeface="Calibri"/>
              </a:rPr>
              <a:t>Single ESG per VRF
grouping all EPGs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20440" y="3108960"/>
            <a:ext cx="2331720" cy="9144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/>
            <a:r>
              <a:rPr sz="1100" b="0">
                <a:solidFill>
                  <a:srgbClr val="1C1F24"/>
                </a:solidFill>
                <a:latin typeface="Calibri"/>
              </a:rPr>
              <a:t>Classification ready, no policy change yet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977640" y="4069080"/>
            <a:ext cx="1417320" cy="274320"/>
          </a:xfrm>
          <a:prstGeom prst="rect">
            <a:avLst/>
          </a:prstGeom>
          <a:solidFill>
            <a:srgbClr val="1D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77640" y="4069080"/>
            <a:ext cx="1417320" cy="2743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Current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6053328" y="2651760"/>
            <a:ext cx="146304" cy="365760"/>
          </a:xfrm>
          <a:prstGeom prst="rightArrow">
            <a:avLst/>
          </a:prstGeom>
          <a:solidFill>
            <a:srgbClr val="F2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17920" y="1280160"/>
            <a:ext cx="2697480" cy="3108960"/>
          </a:xfrm>
          <a:prstGeom prst="rect">
            <a:avLst/>
          </a:prstGeom>
          <a:solidFill>
            <a:srgbClr val="F4F6FA"/>
          </a:solidFill>
          <a:ln w="9525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17920" y="1280160"/>
            <a:ext cx="2697480" cy="502920"/>
          </a:xfrm>
          <a:prstGeom prst="rect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17920" y="1280160"/>
            <a:ext cx="2697480" cy="5029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Phase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1920240"/>
            <a:ext cx="2331720" cy="10972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/>
            <a:r>
              <a:rPr sz="1300" b="1">
                <a:solidFill>
                  <a:srgbClr val="0B2E5C"/>
                </a:solidFill>
                <a:latin typeface="Calibri"/>
              </a:rPr>
              <a:t>Split ESGs by zone
(ESG-AIM, ESG-AIS, ESG-DMZ-Apps, ...)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3108960"/>
            <a:ext cx="2331720" cy="9144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/>
            <a:r>
              <a:rPr sz="1100" b="0">
                <a:solidFill>
                  <a:srgbClr val="1C1F24"/>
                </a:solidFill>
                <a:latin typeface="Calibri"/>
              </a:rPr>
              <a:t>Segmentation by function with inter-ESG contracts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858000" y="4069080"/>
            <a:ext cx="1417320" cy="274320"/>
          </a:xfrm>
          <a:prstGeom prst="rect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0" y="4069080"/>
            <a:ext cx="1417320" cy="2743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Future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8933688" y="2651760"/>
            <a:ext cx="146304" cy="365760"/>
          </a:xfrm>
          <a:prstGeom prst="rightArrow">
            <a:avLst/>
          </a:prstGeom>
          <a:solidFill>
            <a:srgbClr val="F2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098280" y="1280160"/>
            <a:ext cx="2697480" cy="3108960"/>
          </a:xfrm>
          <a:prstGeom prst="rect">
            <a:avLst/>
          </a:prstGeom>
          <a:solidFill>
            <a:srgbClr val="F4F6FA"/>
          </a:solidFill>
          <a:ln w="9525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098280" y="1280160"/>
            <a:ext cx="2697480" cy="502920"/>
          </a:xfrm>
          <a:prstGeom prst="rect">
            <a:avLst/>
          </a:prstGeom>
          <a:solidFill>
            <a:srgbClr val="005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98280" y="1280160"/>
            <a:ext cx="2697480" cy="5029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Phase 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81160" y="1920240"/>
            <a:ext cx="2331720" cy="10972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/>
            <a:r>
              <a:rPr sz="1300" b="1">
                <a:solidFill>
                  <a:srgbClr val="0B2E5C"/>
                </a:solidFill>
                <a:latin typeface="Calibri"/>
              </a:rPr>
              <a:t>Tighten contracts
to required flows only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81160" y="3108960"/>
            <a:ext cx="2331720" cy="9144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/>
            <a:r>
              <a:rPr sz="1100" b="0">
                <a:solidFill>
                  <a:srgbClr val="1C1F24"/>
                </a:solidFill>
                <a:latin typeface="Calibri"/>
              </a:rPr>
              <a:t>Micro-segmentation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738360" y="4069080"/>
            <a:ext cx="1417320" cy="274320"/>
          </a:xfrm>
          <a:prstGeom prst="rect">
            <a:avLst/>
          </a:prstGeom>
          <a:solidFill>
            <a:srgbClr val="005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738360" y="4069080"/>
            <a:ext cx="1417320" cy="2743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Future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663440"/>
            <a:ext cx="11247120" cy="1554480"/>
          </a:xfrm>
          <a:prstGeom prst="rect">
            <a:avLst/>
          </a:prstGeom>
          <a:solidFill>
            <a:srgbClr val="F4F6FA"/>
          </a:solidFill>
          <a:ln w="9525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" y="4754880"/>
            <a:ext cx="109728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400" b="1">
                <a:solidFill>
                  <a:srgbClr val="0B2E5C"/>
                </a:solidFill>
                <a:latin typeface="Calibri"/>
              </a:rPr>
              <a:t>Why phased?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" y="5074920"/>
            <a:ext cx="10972800" cy="10972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>
              <a:lnSpc>
                <a:spcPct val="115000"/>
              </a:lnSpc>
            </a:pPr>
            <a:r>
              <a:rPr sz="1200" b="0">
                <a:solidFill>
                  <a:srgbClr val="1C1F24"/>
                </a:solidFill>
                <a:latin typeface="Calibri"/>
              </a:rPr>
              <a:t>•  Phase 1+2 deliver the new object model with zero behavior change.</a:t>
            </a:r>
          </a:p>
          <a:p>
            <a:pPr>
              <a:lnSpc>
                <a:spcPct val="115000"/>
              </a:lnSpc>
            </a:pPr>
            <a:r>
              <a:rPr sz="1200" b="0">
                <a:solidFill>
                  <a:srgbClr val="1C1F24"/>
                </a:solidFill>
                <a:latin typeface="Calibri"/>
              </a:rPr>
              <a:t>•  Phases 3-4 add enforcement, one zone / one contract at a time.</a:t>
            </a:r>
          </a:p>
          <a:p>
            <a:pPr>
              <a:lnSpc>
                <a:spcPct val="115000"/>
              </a:lnSpc>
            </a:pPr>
            <a:r>
              <a:rPr sz="1200" b="0">
                <a:solidFill>
                  <a:srgbClr val="1C1F24"/>
                </a:solidFill>
                <a:latin typeface="Calibri"/>
              </a:rPr>
              <a:t>•  Every phase is independently reversible; no phase requires an IP change.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B2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6565392"/>
            <a:ext cx="7315200" cy="29260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ACI Redesign Strategy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820095" y="6565392"/>
            <a:ext cx="1097280" cy="29260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11 / 27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B2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45720"/>
          </a:xfrm>
          <a:prstGeom prst="rect">
            <a:avLst/>
          </a:prstGeom>
          <a:solidFill>
            <a:srgbClr val="F2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0515600" cy="5486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Lab Migration (Greenfield)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0515600" cy="3200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200" b="0">
                <a:solidFill>
                  <a:srgbClr val="CFDAEA"/>
                </a:solidFill>
                <a:latin typeface="Calibri"/>
              </a:rPr>
              <a:t>Built from scratch to validate the target design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051560"/>
          <a:ext cx="1124712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49808"/>
                <a:gridCol w="2249424"/>
                <a:gridCol w="6748272"/>
                <a:gridCol w="1499616"/>
              </a:tblGrid>
              <a:tr h="548640">
                <a:tc>
                  <a:txBody>
                    <a:bodyPr lIns="36000" rIns="36000"/>
                    <a:lstStyle/>
                    <a:p>
                      <a:pPr algn="l"/>
                      <a:r>
                        <a:rPr b="1" sz="1200">
                          <a:solidFill>
                            <a:srgbClr val="FFFFFF"/>
                          </a:solidFill>
                          <a:latin typeface="Calibri"/>
                        </a:rPr>
                        <a:t>Phase</a:t>
                      </a:r>
                    </a:p>
                  </a:txBody>
                  <a:tcPr anchor="ctr">
                    <a:solidFill>
                      <a:srgbClr val="0B2E5C"/>
                    </a:solidFill>
                  </a:tcPr>
                </a:tc>
                <a:tc>
                  <a:txBody>
                    <a:bodyPr lIns="36000" rIns="36000"/>
                    <a:lstStyle/>
                    <a:p>
                      <a:pPr algn="l"/>
                      <a:r>
                        <a:rPr b="1" sz="1200">
                          <a:solidFill>
                            <a:srgbClr val="FFFFFF"/>
                          </a:solidFill>
                          <a:latin typeface="Calibri"/>
                        </a:rPr>
                        <a:t>Name</a:t>
                      </a:r>
                    </a:p>
                  </a:txBody>
                  <a:tcPr anchor="ctr">
                    <a:solidFill>
                      <a:srgbClr val="0B2E5C"/>
                    </a:solidFill>
                  </a:tcPr>
                </a:tc>
                <a:tc>
                  <a:txBody>
                    <a:bodyPr lIns="36000" rIns="36000"/>
                    <a:lstStyle/>
                    <a:p>
                      <a:pPr algn="l"/>
                      <a:r>
                        <a:rPr b="1" sz="1200">
                          <a:solidFill>
                            <a:srgbClr val="FFFFFF"/>
                          </a:solidFill>
                          <a:latin typeface="Calibri"/>
                        </a:rPr>
                        <a:t>What</a:t>
                      </a:r>
                    </a:p>
                  </a:txBody>
                  <a:tcPr anchor="ctr">
                    <a:solidFill>
                      <a:srgbClr val="0B2E5C"/>
                    </a:solidFill>
                  </a:tcPr>
                </a:tc>
                <a:tc>
                  <a:txBody>
                    <a:bodyPr lIns="36000" rIns="36000"/>
                    <a:lstStyle/>
                    <a:p>
                      <a:pPr algn="l"/>
                      <a:r>
                        <a:rPr b="1" sz="1200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 anchor="ctr">
                    <a:solidFill>
                      <a:srgbClr val="0B2E5C"/>
                    </a:solidFill>
                  </a:tcPr>
                </a:tc>
              </a:tr>
              <a:tr h="548640">
                <a:tc>
                  <a:txBody>
                    <a:bodyPr lIns="36000" rIns="36000"/>
                    <a:lstStyle/>
                    <a:p>
                      <a:pPr algn="l"/>
                      <a:r>
                        <a:rPr sz="1100">
                          <a:solidFill>
                            <a:srgbClr val="1C1F24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36000" rIns="36000"/>
                    <a:lstStyle/>
                    <a:p>
                      <a:pPr algn="l"/>
                      <a:r>
                        <a:rPr sz="1100">
                          <a:solidFill>
                            <a:srgbClr val="1C1F24"/>
                          </a:solidFill>
                          <a:latin typeface="Calibri"/>
                        </a:rPr>
                        <a:t>Base build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36000" rIns="36000"/>
                    <a:lstStyle/>
                    <a:p>
                      <a:pPr algn="l"/>
                      <a:r>
                        <a:rPr sz="1100">
                          <a:solidFill>
                            <a:srgbClr val="1C1F24"/>
                          </a:solidFill>
                          <a:latin typeface="Calibri"/>
                        </a:rPr>
                        <a:t>2 VRFs, 39 BDs with consolidated IPv4 subnets, 39 EPGs, VMM domain, vzAny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36000" rIns="36000"/>
                    <a:lstStyle/>
                    <a:p>
                      <a:pPr algn="l"/>
                      <a:r>
                        <a:rPr sz="1100">
                          <a:solidFill>
                            <a:srgbClr val="1C1F24"/>
                          </a:solidFill>
                          <a:latin typeface="Calibri"/>
                        </a:rPr>
                        <a:t>✓ Complete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lIns="36000" rIns="36000"/>
                    <a:lstStyle/>
                    <a:p>
                      <a:pPr algn="l"/>
                      <a:r>
                        <a:rPr sz="1100">
                          <a:solidFill>
                            <a:srgbClr val="1C1F24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>
                    <a:solidFill>
                      <a:srgbClr val="F4F6FA"/>
                    </a:solidFill>
                  </a:tcPr>
                </a:tc>
                <a:tc>
                  <a:txBody>
                    <a:bodyPr lIns="36000" rIns="36000"/>
                    <a:lstStyle/>
                    <a:p>
                      <a:pPr algn="l"/>
                      <a:r>
                        <a:rPr sz="1100">
                          <a:solidFill>
                            <a:srgbClr val="1C1F24"/>
                          </a:solidFill>
                          <a:latin typeface="Calibri"/>
                        </a:rPr>
                        <a:t>ESG grouping</a:t>
                      </a:r>
                    </a:p>
                  </a:txBody>
                  <a:tcPr anchor="ctr">
                    <a:solidFill>
                      <a:srgbClr val="F4F6FA"/>
                    </a:solidFill>
                  </a:tcPr>
                </a:tc>
                <a:tc>
                  <a:txBody>
                    <a:bodyPr lIns="36000" rIns="36000"/>
                    <a:lstStyle/>
                    <a:p>
                      <a:pPr algn="l"/>
                      <a:r>
                        <a:rPr sz="1100">
                          <a:solidFill>
                            <a:srgbClr val="1C1F24"/>
                          </a:solidFill>
                          <a:latin typeface="Calibri"/>
                        </a:rPr>
                        <a:t>36 internal + 3 DMZ EPGs grouped under ESG-All-Internal-EPGs and ESG-All-DMZ-EPGs</a:t>
                      </a:r>
                    </a:p>
                  </a:txBody>
                  <a:tcPr anchor="ctr">
                    <a:solidFill>
                      <a:srgbClr val="F4F6FA"/>
                    </a:solidFill>
                  </a:tcPr>
                </a:tc>
                <a:tc>
                  <a:txBody>
                    <a:bodyPr lIns="36000" rIns="36000"/>
                    <a:lstStyle/>
                    <a:p>
                      <a:pPr algn="l"/>
                      <a:r>
                        <a:rPr sz="1100">
                          <a:solidFill>
                            <a:srgbClr val="1C1F24"/>
                          </a:solidFill>
                          <a:latin typeface="Calibri"/>
                        </a:rPr>
                        <a:t>✓ Complete</a:t>
                      </a:r>
                    </a:p>
                  </a:txBody>
                  <a:tcPr anchor="ctr">
                    <a:solidFill>
                      <a:srgbClr val="F4F6FA"/>
                    </a:solidFill>
                  </a:tcPr>
                </a:tc>
              </a:tr>
              <a:tr h="548640">
                <a:tc>
                  <a:txBody>
                    <a:bodyPr lIns="36000" rIns="36000"/>
                    <a:lstStyle/>
                    <a:p>
                      <a:pPr algn="l"/>
                      <a:r>
                        <a:rPr sz="1100">
                          <a:solidFill>
                            <a:srgbClr val="1C1F24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36000" rIns="36000"/>
                    <a:lstStyle/>
                    <a:p>
                      <a:pPr algn="l"/>
                      <a:r>
                        <a:rPr sz="1100">
                          <a:solidFill>
                            <a:srgbClr val="1C1F24"/>
                          </a:solidFill>
                          <a:latin typeface="Calibri"/>
                        </a:rPr>
                        <a:t>Zone ESGs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36000" rIns="36000"/>
                    <a:lstStyle/>
                    <a:p>
                      <a:pPr algn="l"/>
                      <a:r>
                        <a:rPr sz="1100">
                          <a:solidFill>
                            <a:srgbClr val="1C1F24"/>
                          </a:solidFill>
                          <a:latin typeface="Calibri"/>
                        </a:rPr>
                        <a:t>Split into ESG-AIM, ESG-AIS, ESG-DMZ-Apps, ... with inter-ESG contracts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36000" rIns="36000"/>
                    <a:lstStyle/>
                    <a:p>
                      <a:pPr algn="l"/>
                      <a:r>
                        <a:rPr sz="1100">
                          <a:solidFill>
                            <a:srgbClr val="1C1F24"/>
                          </a:solidFill>
                          <a:latin typeface="Calibri"/>
                        </a:rPr>
                        <a:t>Future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lIns="36000" rIns="36000"/>
                    <a:lstStyle/>
                    <a:p>
                      <a:pPr algn="l"/>
                      <a:r>
                        <a:rPr sz="1100">
                          <a:solidFill>
                            <a:srgbClr val="1C1F24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>
                    <a:solidFill>
                      <a:srgbClr val="F4F6FA"/>
                    </a:solidFill>
                  </a:tcPr>
                </a:tc>
                <a:tc>
                  <a:txBody>
                    <a:bodyPr lIns="36000" rIns="36000"/>
                    <a:lstStyle/>
                    <a:p>
                      <a:pPr algn="l"/>
                      <a:r>
                        <a:rPr sz="1100">
                          <a:solidFill>
                            <a:srgbClr val="1C1F24"/>
                          </a:solidFill>
                          <a:latin typeface="Calibri"/>
                        </a:rPr>
                        <a:t>Contract tightening</a:t>
                      </a:r>
                    </a:p>
                  </a:txBody>
                  <a:tcPr anchor="ctr">
                    <a:solidFill>
                      <a:srgbClr val="F4F6FA"/>
                    </a:solidFill>
                  </a:tcPr>
                </a:tc>
                <a:tc>
                  <a:txBody>
                    <a:bodyPr lIns="36000" rIns="36000"/>
                    <a:lstStyle/>
                    <a:p>
                      <a:pPr algn="l"/>
                      <a:r>
                        <a:rPr sz="1100">
                          <a:solidFill>
                            <a:srgbClr val="1C1F24"/>
                          </a:solidFill>
                          <a:latin typeface="Calibri"/>
                        </a:rPr>
                        <a:t>Restrict flows to what apps actually need</a:t>
                      </a:r>
                    </a:p>
                  </a:txBody>
                  <a:tcPr anchor="ctr">
                    <a:solidFill>
                      <a:srgbClr val="F4F6FA"/>
                    </a:solidFill>
                  </a:tcPr>
                </a:tc>
                <a:tc>
                  <a:txBody>
                    <a:bodyPr lIns="36000" rIns="36000"/>
                    <a:lstStyle/>
                    <a:p>
                      <a:pPr algn="l"/>
                      <a:r>
                        <a:rPr sz="1100">
                          <a:solidFill>
                            <a:srgbClr val="1C1F24"/>
                          </a:solidFill>
                          <a:latin typeface="Calibri"/>
                        </a:rPr>
                        <a:t>Future</a:t>
                      </a:r>
                    </a:p>
                  </a:txBody>
                  <a:tcPr anchor="ctr">
                    <a:solidFill>
                      <a:srgbClr val="F4F6FA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4114800"/>
            <a:ext cx="5486400" cy="2286000"/>
          </a:xfrm>
          <a:prstGeom prst="rect">
            <a:avLst/>
          </a:prstGeom>
          <a:solidFill>
            <a:srgbClr val="F4F6FA"/>
          </a:solidFill>
          <a:ln w="9525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4114800"/>
            <a:ext cx="5486400" cy="411480"/>
          </a:xfrm>
          <a:prstGeom prst="rect">
            <a:avLst/>
          </a:prstGeom>
          <a:solidFill>
            <a:srgbClr val="005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4114800"/>
            <a:ext cx="530352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How the lab runs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72000"/>
            <a:ext cx="5303520" cy="17830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>
              <a:lnSpc>
                <a:spcPct val="115000"/>
              </a:lnSpc>
            </a:pPr>
            <a:r>
              <a:rPr sz="1100" b="0">
                <a:solidFill>
                  <a:srgbClr val="1C1F24"/>
                </a:solidFill>
                <a:latin typeface="Calibri"/>
              </a:rPr>
              <a:t>•  make init / plan / apply from aci-redesign/apic-vmware/.</a:t>
            </a:r>
          </a:p>
          <a:p>
            <a:pPr>
              <a:lnSpc>
                <a:spcPct val="115000"/>
              </a:lnSpc>
            </a:pPr>
            <a:r>
              <a:rPr sz="1100" b="0">
                <a:solidFill>
                  <a:srgbClr val="1C1F24"/>
                </a:solidFill>
                <a:latin typeface="Calibri"/>
              </a:rPr>
              <a:t>•  nac-aci module (v0.7.0) consumes YAML in data/nac-aci-shared/ + data/nac-aci-aedcg/.</a:t>
            </a:r>
          </a:p>
          <a:p>
            <a:pPr>
              <a:lnSpc>
                <a:spcPct val="115000"/>
              </a:lnSpc>
            </a:pPr>
            <a:r>
              <a:rPr sz="1100" b="0">
                <a:solidFill>
                  <a:srgbClr val="1C1F24"/>
                </a:solidFill>
                <a:latin typeface="Calibri"/>
              </a:rPr>
              <a:t>•  Local state file; first apply creates ~200+ ACI objects.</a:t>
            </a:r>
          </a:p>
          <a:p>
            <a:pPr>
              <a:lnSpc>
                <a:spcPct val="115000"/>
              </a:lnSpc>
            </a:pPr>
            <a:r>
              <a:rPr sz="1100" b="0">
                <a:solidFill>
                  <a:srgbClr val="1C1F24"/>
                </a:solidFill>
                <a:latin typeface="Calibri"/>
              </a:rPr>
              <a:t>•  Validation: APIC GUI + vCenter port group presence.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4114800"/>
            <a:ext cx="5577840" cy="2286000"/>
          </a:xfrm>
          <a:prstGeom prst="rect">
            <a:avLst/>
          </a:prstGeom>
          <a:solidFill>
            <a:srgbClr val="F4F6FA"/>
          </a:solidFill>
          <a:ln w="9525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7920" y="4114800"/>
            <a:ext cx="5577840" cy="411480"/>
          </a:xfrm>
          <a:prstGeom prst="rect">
            <a:avLst/>
          </a:prstGeom>
          <a:solidFill>
            <a:srgbClr val="F2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5080" y="4114800"/>
            <a:ext cx="539496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Lab tooling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4572000"/>
            <a:ext cx="5394960" cy="17830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>
              <a:lnSpc>
                <a:spcPct val="115000"/>
              </a:lnSpc>
            </a:pPr>
            <a:r>
              <a:rPr sz="1100" b="0">
                <a:solidFill>
                  <a:srgbClr val="1C1F24"/>
                </a:solidFill>
                <a:latin typeface="Calibri"/>
              </a:rPr>
              <a:t>•  apic-vmware/main.tf - nac-aci module wiring</a:t>
            </a:r>
          </a:p>
          <a:p>
            <a:pPr>
              <a:lnSpc>
                <a:spcPct val="115000"/>
              </a:lnSpc>
            </a:pPr>
            <a:r>
              <a:rPr sz="1100" b="0">
                <a:solidFill>
                  <a:srgbClr val="1C1F24"/>
                </a:solidFill>
                <a:latin typeface="Calibri"/>
              </a:rPr>
              <a:t>•  data/nac-aci-aedcg/access-policies.nac.yaml - VLAN pool + AAEP (per-fabric)</a:t>
            </a:r>
          </a:p>
          <a:p>
            <a:pPr>
              <a:lnSpc>
                <a:spcPct val="115000"/>
              </a:lnSpc>
            </a:pPr>
            <a:r>
              <a:rPr sz="1100" b="0">
                <a:solidFill>
                  <a:srgbClr val="1C1F24"/>
                </a:solidFill>
                <a:latin typeface="Calibri"/>
              </a:rPr>
              <a:t>•  data/nac-aci-aedcg-rendered/vmm-domain.nac.yaml - rendered from TF_VAR_vcenter_* (gitignored)</a:t>
            </a:r>
          </a:p>
          <a:p>
            <a:pPr>
              <a:lnSpc>
                <a:spcPct val="115000"/>
              </a:lnSpc>
            </a:pPr>
            <a:r>
              <a:rPr sz="1100" b="0">
                <a:solidFill>
                  <a:srgbClr val="1C1F24"/>
                </a:solidFill>
                <a:latin typeface="Calibri"/>
              </a:rPr>
              <a:t>•  data/nac-aci-shared/tenant-epg-nac.nac.yaml - 2 VRFs, 39 BDs/EPGs, ESGs (cross-fabric)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B2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6565392"/>
            <a:ext cx="7315200" cy="29260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ACI Redesign Strategy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20095" y="6565392"/>
            <a:ext cx="1097280" cy="29260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12 / 27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B2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45720"/>
          </a:xfrm>
          <a:prstGeom prst="rect">
            <a:avLst/>
          </a:prstGeom>
          <a:solidFill>
            <a:srgbClr val="F2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0515600" cy="5486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Production Migration (Brownfield)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0515600" cy="3200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200" b="0">
                <a:solidFill>
                  <a:srgbClr val="CFDAEA"/>
                </a:solidFill>
                <a:latin typeface="Calibri"/>
              </a:rPr>
              <a:t>Coexistence model - live traffic keeps flowing through every phase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051560"/>
          <a:ext cx="11247119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5792"/>
                <a:gridCol w="5045437"/>
                <a:gridCol w="5465890"/>
              </a:tblGrid>
              <a:tr h="514350">
                <a:tc>
                  <a:txBody>
                    <a:bodyPr lIns="36000" rIns="36000"/>
                    <a:lstStyle/>
                    <a:p>
                      <a:pPr algn="l"/>
                      <a:r>
                        <a:rPr b="1" sz="1200">
                          <a:solidFill>
                            <a:srgbClr val="FFFFFF"/>
                          </a:solidFill>
                          <a:latin typeface="Calibri"/>
                        </a:rPr>
                        <a:t>Phase</a:t>
                      </a:r>
                    </a:p>
                  </a:txBody>
                  <a:tcPr anchor="ctr">
                    <a:solidFill>
                      <a:srgbClr val="0B2E5C"/>
                    </a:solidFill>
                  </a:tcPr>
                </a:tc>
                <a:tc>
                  <a:txBody>
                    <a:bodyPr lIns="36000" rIns="36000"/>
                    <a:lstStyle/>
                    <a:p>
                      <a:pPr algn="l"/>
                      <a:r>
                        <a:rPr b="1" sz="1200">
                          <a:solidFill>
                            <a:srgbClr val="FFFFFF"/>
                          </a:solidFill>
                          <a:latin typeface="Calibri"/>
                        </a:rPr>
                        <a:t>Action</a:t>
                      </a:r>
                    </a:p>
                  </a:txBody>
                  <a:tcPr anchor="ctr">
                    <a:solidFill>
                      <a:srgbClr val="0B2E5C"/>
                    </a:solidFill>
                  </a:tcPr>
                </a:tc>
                <a:tc>
                  <a:txBody>
                    <a:bodyPr lIns="36000" rIns="36000"/>
                    <a:lstStyle/>
                    <a:p>
                      <a:pPr algn="l"/>
                      <a:r>
                        <a:rPr b="1" sz="1200">
                          <a:solidFill>
                            <a:srgbClr val="FFFFFF"/>
                          </a:solidFill>
                          <a:latin typeface="Calibri"/>
                        </a:rPr>
                        <a:t>Key consideration</a:t>
                      </a:r>
                    </a:p>
                  </a:txBody>
                  <a:tcPr anchor="ctr">
                    <a:solidFill>
                      <a:srgbClr val="0B2E5C"/>
                    </a:solidFill>
                  </a:tcPr>
                </a:tc>
              </a:tr>
              <a:tr h="514350">
                <a:tc>
                  <a:txBody>
                    <a:bodyPr lIns="36000" rIns="36000"/>
                    <a:lstStyle/>
                    <a:p>
                      <a:pPr algn="l"/>
                      <a:r>
                        <a:rPr sz="1200">
                          <a:solidFill>
                            <a:srgbClr val="1C1F24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36000" rIns="36000"/>
                    <a:lstStyle/>
                    <a:p>
                      <a:pPr algn="l"/>
                      <a:r>
                        <a:rPr sz="1200">
                          <a:solidFill>
                            <a:srgbClr val="1C1F24"/>
                          </a:solidFill>
                          <a:latin typeface="Calibri"/>
                        </a:rPr>
                        <a:t>Create VRF-EUR and VRF-DMZ alongside existing 11 VRFs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36000" rIns="36000"/>
                    <a:lstStyle/>
                    <a:p>
                      <a:pPr algn="l"/>
                      <a:r>
                        <a:rPr sz="1200">
                          <a:solidFill>
                            <a:srgbClr val="1C1F24"/>
                          </a:solidFill>
                          <a:latin typeface="Calibri"/>
                        </a:rPr>
                        <a:t>None - new VRFs are empty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 lIns="36000" rIns="36000"/>
                    <a:lstStyle/>
                    <a:p>
                      <a:pPr algn="l"/>
                      <a:r>
                        <a:rPr sz="1200">
                          <a:solidFill>
                            <a:srgbClr val="1C1F24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>
                    <a:solidFill>
                      <a:srgbClr val="F4F6FA"/>
                    </a:solidFill>
                  </a:tcPr>
                </a:tc>
                <a:tc>
                  <a:txBody>
                    <a:bodyPr lIns="36000" rIns="36000"/>
                    <a:lstStyle/>
                    <a:p>
                      <a:pPr algn="l"/>
                      <a:r>
                        <a:rPr sz="1200">
                          <a:solidFill>
                            <a:srgbClr val="1C1F24"/>
                          </a:solidFill>
                          <a:latin typeface="Calibri"/>
                        </a:rPr>
                        <a:t>Create new BDs with descriptive names in VRF-EUR/VRF-DMZ</a:t>
                      </a:r>
                    </a:p>
                  </a:txBody>
                  <a:tcPr anchor="ctr">
                    <a:solidFill>
                      <a:srgbClr val="F4F6FA"/>
                    </a:solidFill>
                  </a:tcPr>
                </a:tc>
                <a:tc>
                  <a:txBody>
                    <a:bodyPr lIns="36000" rIns="36000"/>
                    <a:lstStyle/>
                    <a:p>
                      <a:pPr algn="l"/>
                      <a:r>
                        <a:rPr sz="1200">
                          <a:solidFill>
                            <a:srgbClr val="1C1F24"/>
                          </a:solidFill>
                          <a:latin typeface="Calibri"/>
                        </a:rPr>
                        <a:t>None - new BDs have no endpoints yet</a:t>
                      </a:r>
                    </a:p>
                  </a:txBody>
                  <a:tcPr anchor="ctr">
                    <a:solidFill>
                      <a:srgbClr val="F4F6FA"/>
                    </a:solidFill>
                  </a:tcPr>
                </a:tc>
              </a:tr>
              <a:tr h="514350">
                <a:tc>
                  <a:txBody>
                    <a:bodyPr lIns="36000" rIns="36000"/>
                    <a:lstStyle/>
                    <a:p>
                      <a:pPr algn="l"/>
                      <a:r>
                        <a:rPr sz="1200">
                          <a:solidFill>
                            <a:srgbClr val="1C1F24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36000" rIns="36000"/>
                    <a:lstStyle/>
                    <a:p>
                      <a:pPr algn="l"/>
                      <a:r>
                        <a:rPr sz="1200">
                          <a:solidFill>
                            <a:srgbClr val="1C1F24"/>
                          </a:solidFill>
                          <a:latin typeface="Calibri"/>
                        </a:rPr>
                        <a:t>Create ESGs and vzAny contracts on VRF-EUR/VRF-DMZ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36000" rIns="36000"/>
                    <a:lstStyle/>
                    <a:p>
                      <a:pPr algn="l"/>
                      <a:r>
                        <a:rPr sz="1200">
                          <a:solidFill>
                            <a:srgbClr val="1C1F24"/>
                          </a:solidFill>
                          <a:latin typeface="Calibri"/>
                        </a:rPr>
                        <a:t>None - policy ready, no enforcement yet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 lIns="36000" rIns="36000"/>
                    <a:lstStyle/>
                    <a:p>
                      <a:pPr algn="l"/>
                      <a:r>
                        <a:rPr sz="1200">
                          <a:solidFill>
                            <a:srgbClr val="1C1F24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>
                    <a:solidFill>
                      <a:srgbClr val="F4F6FA"/>
                    </a:solidFill>
                  </a:tcPr>
                </a:tc>
                <a:tc>
                  <a:txBody>
                    <a:bodyPr lIns="36000" rIns="36000"/>
                    <a:lstStyle/>
                    <a:p>
                      <a:pPr algn="l"/>
                      <a:r>
                        <a:rPr sz="1200">
                          <a:solidFill>
                            <a:srgbClr val="1C1F24"/>
                          </a:solidFill>
                          <a:latin typeface="Calibri"/>
                        </a:rPr>
                        <a:t>Migrate EPGs one-at-a-time from old VRFs to new VRFs</a:t>
                      </a:r>
                    </a:p>
                  </a:txBody>
                  <a:tcPr anchor="ctr">
                    <a:solidFill>
                      <a:srgbClr val="F4F6FA"/>
                    </a:solidFill>
                  </a:tcPr>
                </a:tc>
                <a:tc>
                  <a:txBody>
                    <a:bodyPr lIns="36000" rIns="36000"/>
                    <a:lstStyle/>
                    <a:p>
                      <a:pPr algn="l"/>
                      <a:r>
                        <a:rPr sz="1200">
                          <a:solidFill>
                            <a:srgbClr val="1C1F24"/>
                          </a:solidFill>
                          <a:latin typeface="Calibri"/>
                        </a:rPr>
                        <a:t>Brief traffic loss per subnet - schedule maintenance windows</a:t>
                      </a:r>
                    </a:p>
                  </a:txBody>
                  <a:tcPr anchor="ctr">
                    <a:solidFill>
                      <a:srgbClr val="F4F6FA"/>
                    </a:solidFill>
                  </a:tcPr>
                </a:tc>
              </a:tr>
              <a:tr h="514350">
                <a:tc>
                  <a:txBody>
                    <a:bodyPr lIns="36000" rIns="36000"/>
                    <a:lstStyle/>
                    <a:p>
                      <a:pPr algn="l"/>
                      <a:r>
                        <a:rPr sz="1200">
                          <a:solidFill>
                            <a:srgbClr val="1C1F24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36000" rIns="36000"/>
                    <a:lstStyle/>
                    <a:p>
                      <a:pPr algn="l"/>
                      <a:r>
                        <a:rPr sz="1200">
                          <a:solidFill>
                            <a:srgbClr val="1C1F24"/>
                          </a:solidFill>
                          <a:latin typeface="Calibri"/>
                        </a:rPr>
                        <a:t>Consolidate L3Outs (13 → ~4)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36000" rIns="36000"/>
                    <a:lstStyle/>
                    <a:p>
                      <a:pPr algn="l"/>
                      <a:r>
                        <a:rPr sz="1200">
                          <a:solidFill>
                            <a:srgbClr val="1C1F24"/>
                          </a:solidFill>
                          <a:latin typeface="Calibri"/>
                        </a:rPr>
                        <a:t>Routing re-convergence - coordinate with FW/WAN teams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 lIns="36000" rIns="36000"/>
                    <a:lstStyle/>
                    <a:p>
                      <a:pPr algn="l"/>
                      <a:r>
                        <a:rPr sz="1200">
                          <a:solidFill>
                            <a:srgbClr val="1C1F24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>
                    <a:solidFill>
                      <a:srgbClr val="F4F6FA"/>
                    </a:solidFill>
                  </a:tcPr>
                </a:tc>
                <a:tc>
                  <a:txBody>
                    <a:bodyPr lIns="36000" rIns="36000"/>
                    <a:lstStyle/>
                    <a:p>
                      <a:pPr algn="l"/>
                      <a:r>
                        <a:rPr sz="1200">
                          <a:solidFill>
                            <a:srgbClr val="1C1F24"/>
                          </a:solidFill>
                          <a:latin typeface="Calibri"/>
                        </a:rPr>
                        <a:t>Rename EPGs/BDs from numeric to descriptive</a:t>
                      </a:r>
                    </a:p>
                  </a:txBody>
                  <a:tcPr anchor="ctr">
                    <a:solidFill>
                      <a:srgbClr val="F4F6FA"/>
                    </a:solidFill>
                  </a:tcPr>
                </a:tc>
                <a:tc>
                  <a:txBody>
                    <a:bodyPr lIns="36000" rIns="36000"/>
                    <a:lstStyle/>
                    <a:p>
                      <a:pPr algn="l"/>
                      <a:r>
                        <a:rPr sz="1200">
                          <a:solidFill>
                            <a:srgbClr val="1C1F24"/>
                          </a:solidFill>
                          <a:latin typeface="Calibri"/>
                        </a:rPr>
                        <a:t>Cosmetic only - can be done during or after</a:t>
                      </a:r>
                    </a:p>
                  </a:txBody>
                  <a:tcPr anchor="ctr">
                    <a:solidFill>
                      <a:srgbClr val="F4F6FA"/>
                    </a:solidFill>
                  </a:tcPr>
                </a:tc>
              </a:tr>
              <a:tr h="514350">
                <a:tc>
                  <a:txBody>
                    <a:bodyPr lIns="36000" rIns="36000"/>
                    <a:lstStyle/>
                    <a:p>
                      <a:pPr algn="l"/>
                      <a:r>
                        <a:rPr sz="1200">
                          <a:solidFill>
                            <a:srgbClr val="1C1F24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36000" rIns="36000"/>
                    <a:lstStyle/>
                    <a:p>
                      <a:pPr algn="l"/>
                      <a:r>
                        <a:rPr sz="1200">
                          <a:solidFill>
                            <a:srgbClr val="1C1F24"/>
                          </a:solidFill>
                          <a:latin typeface="Calibri"/>
                        </a:rPr>
                        <a:t>Decommission old VRFs, contracts, and L3Outs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36000" rIns="36000"/>
                    <a:lstStyle/>
                    <a:p>
                      <a:pPr algn="l"/>
                      <a:r>
                        <a:rPr sz="1200">
                          <a:solidFill>
                            <a:srgbClr val="1C1F24"/>
                          </a:solidFill>
                          <a:latin typeface="Calibri"/>
                        </a:rPr>
                        <a:t>None (once all EPGs migrated and validated)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303520"/>
            <a:ext cx="11247120" cy="1051560"/>
          </a:xfrm>
          <a:prstGeom prst="rect">
            <a:avLst/>
          </a:prstGeom>
          <a:solidFill>
            <a:srgbClr val="F4F6FA"/>
          </a:solidFill>
          <a:ln w="9525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5303520"/>
            <a:ext cx="137160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5349240"/>
            <a:ext cx="109728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400" b="1">
                <a:solidFill>
                  <a:srgbClr val="C0392B"/>
                </a:solidFill>
                <a:latin typeface="Calibri"/>
              </a:rPr>
              <a:t>Phase 4 is the critical step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669280"/>
            <a:ext cx="10972800" cy="6858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0">
                <a:solidFill>
                  <a:srgbClr val="1C1F24"/>
                </a:solidFill>
                <a:latin typeface="Calibri"/>
              </a:rPr>
              <a:t>Moving a BD from one VRF to another causes endpoint re-learning (~seconds of traffic loss per subnet). Each subnet gets its own change window. Plan with app teams.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B2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6565392"/>
            <a:ext cx="7315200" cy="29260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ACI Redesign Strategy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20095" y="6565392"/>
            <a:ext cx="1097280" cy="29260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13 / 27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B2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45720"/>
          </a:xfrm>
          <a:prstGeom prst="rect">
            <a:avLst/>
          </a:prstGeom>
          <a:solidFill>
            <a:srgbClr val="F2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0515600" cy="5486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Risks &amp; Mitigations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0515600" cy="3200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200" b="0">
                <a:solidFill>
                  <a:srgbClr val="CFDAEA"/>
                </a:solidFill>
                <a:latin typeface="Calibri"/>
              </a:rPr>
              <a:t>Where traffic loss can occur and how we contain it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051560"/>
          <a:ext cx="11247118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08414"/>
                <a:gridCol w="3213462"/>
                <a:gridCol w="5221877"/>
                <a:gridCol w="803365"/>
              </a:tblGrid>
              <a:tr h="731520">
                <a:tc>
                  <a:txBody>
                    <a:bodyPr lIns="36000" rIns="36000"/>
                    <a:lstStyle/>
                    <a:p>
                      <a:pPr algn="l"/>
                      <a:r>
                        <a:rPr b="1" sz="1200">
                          <a:solidFill>
                            <a:srgbClr val="FFFFFF"/>
                          </a:solidFill>
                          <a:latin typeface="Calibri"/>
                        </a:rPr>
                        <a:t>Risk</a:t>
                      </a:r>
                    </a:p>
                  </a:txBody>
                  <a:tcPr anchor="ctr">
                    <a:solidFill>
                      <a:srgbClr val="0B2E5C"/>
                    </a:solidFill>
                  </a:tcPr>
                </a:tc>
                <a:tc>
                  <a:txBody>
                    <a:bodyPr lIns="36000" rIns="36000"/>
                    <a:lstStyle/>
                    <a:p>
                      <a:pPr algn="l"/>
                      <a:r>
                        <a:rPr b="1" sz="1200">
                          <a:solidFill>
                            <a:srgbClr val="FFFFFF"/>
                          </a:solidFill>
                          <a:latin typeface="Calibri"/>
                        </a:rPr>
                        <a:t>Impact</a:t>
                      </a:r>
                    </a:p>
                  </a:txBody>
                  <a:tcPr anchor="ctr">
                    <a:solidFill>
                      <a:srgbClr val="0B2E5C"/>
                    </a:solidFill>
                  </a:tcPr>
                </a:tc>
                <a:tc>
                  <a:txBody>
                    <a:bodyPr lIns="36000" rIns="36000"/>
                    <a:lstStyle/>
                    <a:p>
                      <a:pPr algn="l"/>
                      <a:r>
                        <a:rPr b="1" sz="1200">
                          <a:solidFill>
                            <a:srgbClr val="FFFFFF"/>
                          </a:solidFill>
                          <a:latin typeface="Calibri"/>
                        </a:rPr>
                        <a:t>Mitigation</a:t>
                      </a:r>
                    </a:p>
                  </a:txBody>
                  <a:tcPr anchor="ctr">
                    <a:solidFill>
                      <a:srgbClr val="0B2E5C"/>
                    </a:solidFill>
                  </a:tcPr>
                </a:tc>
                <a:tc>
                  <a:txBody>
                    <a:bodyPr lIns="36000" rIns="36000"/>
                    <a:lstStyle/>
                    <a:p>
                      <a:pPr algn="l"/>
                      <a:r>
                        <a:rPr b="1" sz="1200">
                          <a:solidFill>
                            <a:srgbClr val="FFFFFF"/>
                          </a:solidFill>
                          <a:latin typeface="Calibri"/>
                        </a:rPr>
                        <a:t>Level</a:t>
                      </a:r>
                    </a:p>
                  </a:txBody>
                  <a:tcPr anchor="ctr">
                    <a:solidFill>
                      <a:srgbClr val="0B2E5C"/>
                    </a:solidFill>
                  </a:tcPr>
                </a:tc>
              </a:tr>
              <a:tr h="731520">
                <a:tc>
                  <a:txBody>
                    <a:bodyPr lIns="36000" rIns="36000"/>
                    <a:lstStyle/>
                    <a:p>
                      <a:pPr algn="l"/>
                      <a:r>
                        <a:rPr sz="1100">
                          <a:solidFill>
                            <a:srgbClr val="1C1F24"/>
                          </a:solidFill>
                          <a:latin typeface="Calibri"/>
                        </a:rPr>
                        <a:t>BD VRF reassignment
(Phase 4)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36000" rIns="36000"/>
                    <a:lstStyle/>
                    <a:p>
                      <a:pPr algn="l"/>
                      <a:r>
                        <a:rPr sz="1100">
                          <a:solidFill>
                            <a:srgbClr val="1C1F24"/>
                          </a:solidFill>
                          <a:latin typeface="Calibri"/>
                        </a:rPr>
                        <a:t>Endpoint re-learning on the BD - brief L2/L3 blip per subnet.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36000" rIns="36000"/>
                    <a:lstStyle/>
                    <a:p>
                      <a:pPr algn="l"/>
                      <a:r>
                        <a:rPr sz="1100">
                          <a:solidFill>
                            <a:srgbClr val="1C1F24"/>
                          </a:solidFill>
                          <a:latin typeface="Calibri"/>
                        </a:rPr>
                        <a:t>Per-subnet change windows · notify app teams · rollback = reverse VRF reassignment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36000" rIns="36000"/>
                    <a:lstStyle/>
                    <a:p>
                      <a:pPr algn="l"/>
                      <a:r>
                        <a:rPr sz="1100">
                          <a:solidFill>
                            <a:srgbClr val="1C1F24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lIns="36000" rIns="36000"/>
                    <a:lstStyle/>
                    <a:p>
                      <a:pPr algn="l"/>
                      <a:r>
                        <a:rPr sz="1100">
                          <a:solidFill>
                            <a:srgbClr val="1C1F24"/>
                          </a:solidFill>
                          <a:latin typeface="Calibri"/>
                        </a:rPr>
                        <a:t>L3Out consolidation
(Phase 5)</a:t>
                      </a:r>
                    </a:p>
                  </a:txBody>
                  <a:tcPr anchor="ctr">
                    <a:solidFill>
                      <a:srgbClr val="F4F6FA"/>
                    </a:solidFill>
                  </a:tcPr>
                </a:tc>
                <a:tc>
                  <a:txBody>
                    <a:bodyPr lIns="36000" rIns="36000"/>
                    <a:lstStyle/>
                    <a:p>
                      <a:pPr algn="l"/>
                      <a:r>
                        <a:rPr sz="1100">
                          <a:solidFill>
                            <a:srgbClr val="1C1F24"/>
                          </a:solidFill>
                          <a:latin typeface="Calibri"/>
                        </a:rPr>
                        <a:t>Routing re-convergence at the fabric boundary.</a:t>
                      </a:r>
                    </a:p>
                  </a:txBody>
                  <a:tcPr anchor="ctr">
                    <a:solidFill>
                      <a:srgbClr val="F4F6FA"/>
                    </a:solidFill>
                  </a:tcPr>
                </a:tc>
                <a:tc>
                  <a:txBody>
                    <a:bodyPr lIns="36000" rIns="36000"/>
                    <a:lstStyle/>
                    <a:p>
                      <a:pPr algn="l"/>
                      <a:r>
                        <a:rPr sz="1100">
                          <a:solidFill>
                            <a:srgbClr val="1C1F24"/>
                          </a:solidFill>
                          <a:latin typeface="Calibri"/>
                        </a:rPr>
                        <a:t>Coordinate with firewall/WAN teams · phased cutover · route monitoring during change</a:t>
                      </a:r>
                    </a:p>
                  </a:txBody>
                  <a:tcPr anchor="ctr">
                    <a:solidFill>
                      <a:srgbClr val="F4F6FA"/>
                    </a:solidFill>
                  </a:tcPr>
                </a:tc>
                <a:tc>
                  <a:txBody>
                    <a:bodyPr lIns="36000" rIns="36000"/>
                    <a:lstStyle/>
                    <a:p>
                      <a:pPr algn="l"/>
                      <a:r>
                        <a:rPr sz="1100">
                          <a:solidFill>
                            <a:srgbClr val="1C1F24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 anchor="ctr">
                    <a:solidFill>
                      <a:srgbClr val="F4F6FA"/>
                    </a:solidFill>
                  </a:tcPr>
                </a:tc>
              </a:tr>
              <a:tr h="731520">
                <a:tc>
                  <a:txBody>
                    <a:bodyPr lIns="36000" rIns="36000"/>
                    <a:lstStyle/>
                    <a:p>
                      <a:pPr algn="l"/>
                      <a:r>
                        <a:rPr sz="1100">
                          <a:solidFill>
                            <a:srgbClr val="1C1F24"/>
                          </a:solidFill>
                          <a:latin typeface="Calibri"/>
                        </a:rPr>
                        <a:t>VMM VDS rebinding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36000" rIns="36000"/>
                    <a:lstStyle/>
                    <a:p>
                      <a:pPr algn="l"/>
                      <a:r>
                        <a:rPr sz="1100">
                          <a:solidFill>
                            <a:srgbClr val="1C1F24"/>
                          </a:solidFill>
                          <a:latin typeface="Calibri"/>
                        </a:rPr>
                        <a:t>Port group updates in vCenter as EPGs move between VMM-bound BDs.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36000" rIns="36000"/>
                    <a:lstStyle/>
                    <a:p>
                      <a:pPr algn="l"/>
                      <a:r>
                        <a:rPr sz="1100">
                          <a:solidFill>
                            <a:srgbClr val="1C1F24"/>
                          </a:solidFill>
                          <a:latin typeface="Calibri"/>
                        </a:rPr>
                        <a:t>Use read-write VMM domain · validate in lab first · schedule outside peak hours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36000" rIns="36000"/>
                    <a:lstStyle/>
                    <a:p>
                      <a:pPr algn="l"/>
                      <a:r>
                        <a:rPr sz="1100">
                          <a:solidFill>
                            <a:srgbClr val="1C1F24"/>
                          </a:solidFill>
                          <a:latin typeface="Calibri"/>
                        </a:rPr>
                        <a:t>MED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lIns="36000" rIns="36000"/>
                    <a:lstStyle/>
                    <a:p>
                      <a:pPr algn="l"/>
                      <a:r>
                        <a:rPr sz="1100">
                          <a:solidFill>
                            <a:srgbClr val="1C1F24"/>
                          </a:solidFill>
                          <a:latin typeface="Calibri"/>
                        </a:rPr>
                        <a:t>Contract tightening
(Phase 3-4)</a:t>
                      </a:r>
                    </a:p>
                  </a:txBody>
                  <a:tcPr anchor="ctr">
                    <a:solidFill>
                      <a:srgbClr val="F4F6FA"/>
                    </a:solidFill>
                  </a:tcPr>
                </a:tc>
                <a:tc>
                  <a:txBody>
                    <a:bodyPr lIns="36000" rIns="36000"/>
                    <a:lstStyle/>
                    <a:p>
                      <a:pPr algn="l"/>
                      <a:r>
                        <a:rPr sz="1100">
                          <a:solidFill>
                            <a:srgbClr val="1C1F24"/>
                          </a:solidFill>
                          <a:latin typeface="Calibri"/>
                        </a:rPr>
                        <a:t>Flows that weren't designed for can break.</a:t>
                      </a:r>
                    </a:p>
                  </a:txBody>
                  <a:tcPr anchor="ctr">
                    <a:solidFill>
                      <a:srgbClr val="F4F6FA"/>
                    </a:solidFill>
                  </a:tcPr>
                </a:tc>
                <a:tc>
                  <a:txBody>
                    <a:bodyPr lIns="36000" rIns="36000"/>
                    <a:lstStyle/>
                    <a:p>
                      <a:pPr algn="l"/>
                      <a:r>
                        <a:rPr sz="1100">
                          <a:solidFill>
                            <a:srgbClr val="1C1F24"/>
                          </a:solidFill>
                          <a:latin typeface="Calibri"/>
                        </a:rPr>
                        <a:t>Log-first mode · use ESGs to group before tightening · staged contract rollout</a:t>
                      </a:r>
                    </a:p>
                  </a:txBody>
                  <a:tcPr anchor="ctr">
                    <a:solidFill>
                      <a:srgbClr val="F4F6FA"/>
                    </a:solidFill>
                  </a:tcPr>
                </a:tc>
                <a:tc>
                  <a:txBody>
                    <a:bodyPr lIns="36000" rIns="36000"/>
                    <a:lstStyle/>
                    <a:p>
                      <a:pPr algn="l"/>
                      <a:r>
                        <a:rPr sz="1100">
                          <a:solidFill>
                            <a:srgbClr val="1C1F24"/>
                          </a:solidFill>
                          <a:latin typeface="Calibri"/>
                        </a:rPr>
                        <a:t>MED</a:t>
                      </a:r>
                    </a:p>
                  </a:txBody>
                  <a:tcPr anchor="ctr">
                    <a:solidFill>
                      <a:srgbClr val="F4F6FA"/>
                    </a:solidFill>
                  </a:tcPr>
                </a:tc>
              </a:tr>
              <a:tr h="731520">
                <a:tc>
                  <a:txBody>
                    <a:bodyPr lIns="36000" rIns="36000"/>
                    <a:lstStyle/>
                    <a:p>
                      <a:pPr algn="l"/>
                      <a:r>
                        <a:rPr sz="1100">
                          <a:solidFill>
                            <a:srgbClr val="1C1F24"/>
                          </a:solidFill>
                          <a:latin typeface="Calibri"/>
                        </a:rPr>
                        <a:t>Naming / alias drift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36000" rIns="36000"/>
                    <a:lstStyle/>
                    <a:p>
                      <a:pPr algn="l"/>
                      <a:r>
                        <a:rPr sz="1100">
                          <a:solidFill>
                            <a:srgbClr val="1C1F24"/>
                          </a:solidFill>
                          <a:latin typeface="Calibri"/>
                        </a:rPr>
                        <a:t>Legacy scripts referencing numeric EPG names break.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36000" rIns="36000"/>
                    <a:lstStyle/>
                    <a:p>
                      <a:pPr algn="l"/>
                      <a:r>
                        <a:rPr sz="1100">
                          <a:solidFill>
                            <a:srgbClr val="1C1F24"/>
                          </a:solidFill>
                          <a:latin typeface="Calibri"/>
                        </a:rPr>
                        <a:t>Keep aliases during Phase 6 · rename with deprecation notice · update automation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36000" rIns="36000"/>
                    <a:lstStyle/>
                    <a:p>
                      <a:pPr algn="l"/>
                      <a:r>
                        <a:rPr sz="1100">
                          <a:solidFill>
                            <a:srgbClr val="1C1F24"/>
                          </a:solidFill>
                          <a:latin typeface="Calibri"/>
                        </a:rPr>
                        <a:t>LOW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lIns="36000" rIns="36000"/>
                    <a:lstStyle/>
                    <a:p>
                      <a:pPr algn="l"/>
                      <a:r>
                        <a:rPr sz="1100">
                          <a:solidFill>
                            <a:srgbClr val="1C1F24"/>
                          </a:solidFill>
                          <a:latin typeface="Calibri"/>
                        </a:rPr>
                        <a:t>Decommission timing</a:t>
                      </a:r>
                    </a:p>
                  </a:txBody>
                  <a:tcPr anchor="ctr">
                    <a:solidFill>
                      <a:srgbClr val="F4F6FA"/>
                    </a:solidFill>
                  </a:tcPr>
                </a:tc>
                <a:tc>
                  <a:txBody>
                    <a:bodyPr lIns="36000" rIns="36000"/>
                    <a:lstStyle/>
                    <a:p>
                      <a:pPr algn="l"/>
                      <a:r>
                        <a:rPr sz="1100">
                          <a:solidFill>
                            <a:srgbClr val="1C1F24"/>
                          </a:solidFill>
                          <a:latin typeface="Calibri"/>
                        </a:rPr>
                        <a:t>Removing old VRFs/L3Outs before all EPGs migrate.</a:t>
                      </a:r>
                    </a:p>
                  </a:txBody>
                  <a:tcPr anchor="ctr">
                    <a:solidFill>
                      <a:srgbClr val="F4F6FA"/>
                    </a:solidFill>
                  </a:tcPr>
                </a:tc>
                <a:tc>
                  <a:txBody>
                    <a:bodyPr lIns="36000" rIns="36000"/>
                    <a:lstStyle/>
                    <a:p>
                      <a:pPr algn="l"/>
                      <a:r>
                        <a:rPr sz="1100">
                          <a:solidFill>
                            <a:srgbClr val="1C1F24"/>
                          </a:solidFill>
                          <a:latin typeface="Calibri"/>
                        </a:rPr>
                        <a:t>Gate decom on validation checklist per subnet · automated orphan object report</a:t>
                      </a:r>
                    </a:p>
                  </a:txBody>
                  <a:tcPr anchor="ctr">
                    <a:solidFill>
                      <a:srgbClr val="F4F6FA"/>
                    </a:solidFill>
                  </a:tcPr>
                </a:tc>
                <a:tc>
                  <a:txBody>
                    <a:bodyPr lIns="36000" rIns="36000"/>
                    <a:lstStyle/>
                    <a:p>
                      <a:pPr algn="l"/>
                      <a:r>
                        <a:rPr sz="1100">
                          <a:solidFill>
                            <a:srgbClr val="1C1F24"/>
                          </a:solidFill>
                          <a:latin typeface="Calibri"/>
                        </a:rPr>
                        <a:t>LOW</a:t>
                      </a:r>
                    </a:p>
                  </a:txBody>
                  <a:tcPr anchor="ctr">
                    <a:solidFill>
                      <a:srgbClr val="F4F6FA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B2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65392"/>
            <a:ext cx="7315200" cy="29260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ACI Redesign Strategy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565392"/>
            <a:ext cx="1097280" cy="29260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14 / 27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B2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45720"/>
          </a:xfrm>
          <a:prstGeom prst="rect">
            <a:avLst/>
          </a:prstGeom>
          <a:solidFill>
            <a:srgbClr val="F2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0515600" cy="5486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VMM &amp; VLAN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0515600" cy="3200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200" b="0">
                <a:solidFill>
                  <a:srgbClr val="CFDAEA"/>
                </a:solidFill>
                <a:latin typeface="Calibri"/>
              </a:rPr>
              <a:t>Dynamic VLAN assignment under the new VMM domain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600" b="1">
                <a:solidFill>
                  <a:srgbClr val="0B2E5C"/>
                </a:solidFill>
                <a:latin typeface="Calibri"/>
              </a:rPr>
              <a:t>VLAN allocation plan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508760"/>
            <a:ext cx="11247120" cy="640080"/>
          </a:xfrm>
          <a:prstGeom prst="rect">
            <a:avLst/>
          </a:prstGeom>
          <a:solidFill>
            <a:srgbClr val="F4F6FA"/>
          </a:solidFill>
          <a:ln w="9525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67471" y="1508760"/>
            <a:ext cx="5135671" cy="640080"/>
          </a:xfrm>
          <a:prstGeom prst="rect">
            <a:avLst/>
          </a:prstGeom>
          <a:solidFill>
            <a:srgbClr val="005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7471" y="1508760"/>
            <a:ext cx="5135671" cy="6400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3001-3500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03142" y="1508760"/>
            <a:ext cx="4796716" cy="640080"/>
          </a:xfrm>
          <a:prstGeom prst="rect">
            <a:avLst/>
          </a:prstGeom>
          <a:solidFill>
            <a:srgbClr val="1D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03142" y="1508760"/>
            <a:ext cx="4796716" cy="6400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3501-3967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399859" y="1508760"/>
            <a:ext cx="1314731" cy="64008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399859" y="1508760"/>
            <a:ext cx="1314731" cy="6400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3968-4095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7471" y="2240280"/>
            <a:ext cx="5135671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/>
            <a:r>
              <a:rPr sz="1000" b="0">
                <a:solidFill>
                  <a:srgbClr val="005A9C"/>
                </a:solidFill>
                <a:latin typeface="Calibri"/>
              </a:rPr>
              <a:t>IPv6 RCC EPGs (static)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03142" y="2240280"/>
            <a:ext cx="4796716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/>
            <a:r>
              <a:rPr sz="1000" b="0">
                <a:solidFill>
                  <a:srgbClr val="1D8A3E"/>
                </a:solidFill>
                <a:latin typeface="Calibri"/>
              </a:rPr>
              <a:t>VMM domain (IPv4 EPGs, dynamic)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99859" y="2240280"/>
            <a:ext cx="1314731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/>
            <a:r>
              <a:rPr sz="1000" b="0">
                <a:solidFill>
                  <a:srgbClr val="C0392B"/>
                </a:solidFill>
                <a:latin typeface="Calibri"/>
              </a:rPr>
              <a:t>ACI reserved (do not use)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457200" y="3017520"/>
          <a:ext cx="7132319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7805"/>
                <a:gridCol w="5094514"/>
              </a:tblGrid>
              <a:tr h="411480">
                <a:tc>
                  <a:txBody>
                    <a:bodyPr lIns="36000" rIns="36000"/>
                    <a:lstStyle/>
                    <a:p>
                      <a:pPr algn="l"/>
                      <a:r>
                        <a:rPr b="1" sz="1200">
                          <a:solidFill>
                            <a:srgbClr val="FFFFFF"/>
                          </a:solidFill>
                          <a:latin typeface="Calibri"/>
                        </a:rPr>
                        <a:t>Component</a:t>
                      </a:r>
                    </a:p>
                  </a:txBody>
                  <a:tcPr anchor="ctr">
                    <a:solidFill>
                      <a:srgbClr val="0B2E5C"/>
                    </a:solidFill>
                  </a:tcPr>
                </a:tc>
                <a:tc>
                  <a:txBody>
                    <a:bodyPr lIns="36000" rIns="36000"/>
                    <a:lstStyle/>
                    <a:p>
                      <a:pPr algn="l"/>
                      <a:r>
                        <a:rPr b="1" sz="1200">
                          <a:solidFill>
                            <a:srgbClr val="FFFFFF"/>
                          </a:solidFill>
                          <a:latin typeface="Calibri"/>
                        </a:rPr>
                        <a:t>Configuration</a:t>
                      </a:r>
                    </a:p>
                  </a:txBody>
                  <a:tcPr anchor="ctr">
                    <a:solidFill>
                      <a:srgbClr val="0B2E5C"/>
                    </a:solidFill>
                  </a:tcPr>
                </a:tc>
              </a:tr>
              <a:tr h="411480">
                <a:tc>
                  <a:txBody>
                    <a:bodyPr lIns="36000" rIns="36000"/>
                    <a:lstStyle/>
                    <a:p>
                      <a:pPr algn="l"/>
                      <a:r>
                        <a:rPr sz="1100">
                          <a:solidFill>
                            <a:srgbClr val="1C1F24"/>
                          </a:solidFill>
                          <a:latin typeface="Calibri"/>
                        </a:rPr>
                        <a:t>VMM domain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36000" rIns="36000"/>
                    <a:lstStyle/>
                    <a:p>
                      <a:pPr algn="l"/>
                      <a:r>
                        <a:rPr sz="1100">
                          <a:solidFill>
                            <a:srgbClr val="1C1F24"/>
                          </a:solidFill>
                          <a:latin typeface="Calibri"/>
                        </a:rPr>
                        <a:t>Per-fabric: APCG-VDS1 (AEDCG), APCK-VDS1 (AEDCK)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lIns="36000" rIns="36000"/>
                    <a:lstStyle/>
                    <a:p>
                      <a:pPr algn="l"/>
                      <a:r>
                        <a:rPr sz="1100">
                          <a:solidFill>
                            <a:srgbClr val="1C1F24"/>
                          </a:solidFill>
                          <a:latin typeface="Calibri"/>
                        </a:rPr>
                        <a:t>vCenter controller</a:t>
                      </a:r>
                    </a:p>
                  </a:txBody>
                  <a:tcPr anchor="ctr">
                    <a:solidFill>
                      <a:srgbClr val="F4F6FA"/>
                    </a:solidFill>
                  </a:tcPr>
                </a:tc>
                <a:tc>
                  <a:txBody>
                    <a:bodyPr lIns="36000" rIns="36000"/>
                    <a:lstStyle/>
                    <a:p>
                      <a:pPr algn="l"/>
                      <a:r>
                        <a:rPr sz="1100">
                          <a:solidFill>
                            <a:srgbClr val="1C1F24"/>
                          </a:solidFill>
                          <a:latin typeface="Calibri"/>
                        </a:rPr>
                        <a:t>vcenter01 with credential policy (shared vCenter)</a:t>
                      </a:r>
                    </a:p>
                  </a:txBody>
                  <a:tcPr anchor="ctr">
                    <a:solidFill>
                      <a:srgbClr val="F4F6FA"/>
                    </a:solidFill>
                  </a:tcPr>
                </a:tc>
              </a:tr>
              <a:tr h="411480">
                <a:tc>
                  <a:txBody>
                    <a:bodyPr lIns="36000" rIns="36000"/>
                    <a:lstStyle/>
                    <a:p>
                      <a:pPr algn="l"/>
                      <a:r>
                        <a:rPr sz="1100">
                          <a:solidFill>
                            <a:srgbClr val="1C1F24"/>
                          </a:solidFill>
                          <a:latin typeface="Calibri"/>
                        </a:rPr>
                        <a:t>Virtual Distributed Switch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36000" rIns="36000"/>
                    <a:lstStyle/>
                    <a:p>
                      <a:pPr algn="l"/>
                      <a:r>
                        <a:rPr sz="1100">
                          <a:solidFill>
                            <a:srgbClr val="1C1F24"/>
                          </a:solidFill>
                          <a:latin typeface="Calibri"/>
                        </a:rPr>
                        <a:t>Adopted from existing per-fabric VDS (dvs_version='unmanaged')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lIns="36000" rIns="36000"/>
                    <a:lstStyle/>
                    <a:p>
                      <a:pPr algn="l"/>
                      <a:r>
                        <a:rPr sz="1100">
                          <a:solidFill>
                            <a:srgbClr val="1C1F24"/>
                          </a:solidFill>
                          <a:latin typeface="Calibri"/>
                        </a:rPr>
                        <a:t>AAEP</a:t>
                      </a:r>
                    </a:p>
                  </a:txBody>
                  <a:tcPr anchor="ctr">
                    <a:solidFill>
                      <a:srgbClr val="F4F6FA"/>
                    </a:solidFill>
                  </a:tcPr>
                </a:tc>
                <a:tc>
                  <a:txBody>
                    <a:bodyPr lIns="36000" rIns="36000"/>
                    <a:lstStyle/>
                    <a:p>
                      <a:pPr algn="l"/>
                      <a:r>
                        <a:rPr sz="1100">
                          <a:solidFill>
                            <a:srgbClr val="1C1F24"/>
                          </a:solidFill>
                          <a:latin typeface="Calibri"/>
                        </a:rPr>
                        <a:t>vmm-aaep (lab) / fi-aaep (prod, with phys-fi-domain)</a:t>
                      </a:r>
                    </a:p>
                  </a:txBody>
                  <a:tcPr anchor="ctr">
                    <a:solidFill>
                      <a:srgbClr val="F4F6FA"/>
                    </a:solidFill>
                  </a:tcPr>
                </a:tc>
              </a:tr>
              <a:tr h="411480">
                <a:tc>
                  <a:txBody>
                    <a:bodyPr lIns="36000" rIns="36000"/>
                    <a:lstStyle/>
                    <a:p>
                      <a:pPr algn="l"/>
                      <a:r>
                        <a:rPr sz="1100">
                          <a:solidFill>
                            <a:srgbClr val="1C1F24"/>
                          </a:solidFill>
                          <a:latin typeface="Calibri"/>
                        </a:rPr>
                        <a:t>Port channel policy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36000" rIns="36000"/>
                    <a:lstStyle/>
                    <a:p>
                      <a:pPr algn="l"/>
                      <a:r>
                        <a:rPr sz="1100">
                          <a:solidFill>
                            <a:srgbClr val="1C1F24"/>
                          </a:solidFill>
                          <a:latin typeface="Calibri"/>
                        </a:rPr>
                        <a:t>mac-pin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lIns="36000" rIns="36000"/>
                    <a:lstStyle/>
                    <a:p>
                      <a:pPr algn="l"/>
                      <a:r>
                        <a:rPr sz="1100">
                          <a:solidFill>
                            <a:srgbClr val="1C1F24"/>
                          </a:solidFill>
                          <a:latin typeface="Calibri"/>
                        </a:rPr>
                        <a:t>Uplinks</a:t>
                      </a:r>
                    </a:p>
                  </a:txBody>
                  <a:tcPr anchor="ctr">
                    <a:solidFill>
                      <a:srgbClr val="F4F6FA"/>
                    </a:solidFill>
                  </a:tcPr>
                </a:tc>
                <a:tc>
                  <a:txBody>
                    <a:bodyPr lIns="36000" rIns="36000"/>
                    <a:lstStyle/>
                    <a:p>
                      <a:pPr algn="l"/>
                      <a:r>
                        <a:rPr sz="1100">
                          <a:solidFill>
                            <a:srgbClr val="1C1F24"/>
                          </a:solidFill>
                          <a:latin typeface="Calibri"/>
                        </a:rPr>
                        <a:t>uplink1, uplink2</a:t>
                      </a:r>
                    </a:p>
                  </a:txBody>
                  <a:tcPr anchor="ctr">
                    <a:solidFill>
                      <a:srgbClr val="F4F6FA"/>
                    </a:solidFill>
                  </a:tcPr>
                </a:tc>
              </a:tr>
              <a:tr h="411480">
                <a:tc>
                  <a:txBody>
                    <a:bodyPr lIns="36000" rIns="36000"/>
                    <a:lstStyle/>
                    <a:p>
                      <a:pPr algn="l"/>
                      <a:r>
                        <a:rPr sz="1100">
                          <a:solidFill>
                            <a:srgbClr val="1C1F24"/>
                          </a:solidFill>
                          <a:latin typeface="Calibri"/>
                        </a:rPr>
                        <a:t>Leaf interface profile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36000" rIns="36000"/>
                    <a:lstStyle/>
                    <a:p>
                      <a:pPr algn="l"/>
                      <a:r>
                        <a:rPr sz="1100">
                          <a:solidFill>
                            <a:srgbClr val="1C1F24"/>
                          </a:solidFill>
                          <a:latin typeface="Calibri"/>
                        </a:rPr>
                        <a:t>leaf-152-153-intprof (ports 1-48, AEDCG nodes 152-153)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Rectangle 17"/>
          <p:cNvSpPr/>
          <p:nvPr/>
        </p:nvSpPr>
        <p:spPr>
          <a:xfrm>
            <a:off x="7863840" y="3017520"/>
            <a:ext cx="3931920" cy="3291840"/>
          </a:xfrm>
          <a:prstGeom prst="rect">
            <a:avLst/>
          </a:prstGeom>
          <a:solidFill>
            <a:srgbClr val="F4F6FA"/>
          </a:solidFill>
          <a:ln w="9525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863840" y="3017520"/>
            <a:ext cx="3931920" cy="411480"/>
          </a:xfrm>
          <a:prstGeom prst="rect">
            <a:avLst/>
          </a:prstGeom>
          <a:solidFill>
            <a:srgbClr val="F2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01000" y="3017520"/>
            <a:ext cx="374904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Production config touch-points (Design A: UCS-FI direct attach)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80" y="3474720"/>
            <a:ext cx="3749040" cy="27889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>
              <a:lnSpc>
                <a:spcPct val="115000"/>
              </a:lnSpc>
            </a:pPr>
            <a:r>
              <a:rPr sz="1100" b="0">
                <a:solidFill>
                  <a:srgbClr val="1C1F24"/>
                </a:solidFill>
                <a:latin typeface="Calibri"/>
              </a:rPr>
              <a:t>•  data/nac-aci-{aedcg,aedck}-prod/access-policies.nac.yaml - fi-static-vlan-pool (213 VLANs), fi-aaep, PC_FI_A/PC_FI_B policy groups, leaf 152/153 (AEDCG) and 119/191 (AEDCK) split between VMM ports (8-48) and FI uplinks (eth1/6, eth1/7).</a:t>
            </a:r>
          </a:p>
          <a:p>
            <a:pPr>
              <a:lnSpc>
                <a:spcPct val="115000"/>
              </a:lnSpc>
            </a:pPr>
            <a:r>
              <a:rPr sz="1100" b="0">
                <a:solidFill>
                  <a:srgbClr val="1C1F24"/>
                </a:solidFill>
                <a:latin typeface="Calibri"/>
              </a:rPr>
              <a:t>•  data/nac-aci-shared/modules.nac.yaml - aci_mcp sub-module disabled so MCP InstP is managed inline in apic-vmware-prod/main.tf.</a:t>
            </a:r>
          </a:p>
          <a:p>
            <a:pPr>
              <a:lnSpc>
                <a:spcPct val="115000"/>
              </a:lnSpc>
            </a:pPr>
            <a:r>
              <a:rPr sz="1100" b="0">
                <a:solidFill>
                  <a:srgbClr val="1C1F24"/>
                </a:solidFill>
                <a:latin typeface="Calibri"/>
              </a:rPr>
              <a:t>•  data/nac-ndo/schema-aedce-ipv4.nac.yaml - 39 EPG site entries bound to APCG-VDS1 (AEDCG) and APCK-VDS1 (AEDCK).</a:t>
            </a:r>
          </a:p>
          <a:p>
            <a:pPr>
              <a:lnSpc>
                <a:spcPct val="115000"/>
              </a:lnSpc>
            </a:pPr>
            <a:r>
              <a:rPr sz="1100" b="0">
                <a:solidFill>
                  <a:srgbClr val="1C1F24"/>
                </a:solidFill>
                <a:latin typeface="Calibri"/>
              </a:rPr>
              <a:t>•  vCenter creds flow in via TF_VAR_vcenter_* env vars (no CHANGE_ME placeholders in tracked YAML).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B2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" y="6565392"/>
            <a:ext cx="7315200" cy="29260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ACI Redesign Strategy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20095" y="6565392"/>
            <a:ext cx="1097280" cy="29260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15 / 27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B2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45720"/>
          </a:xfrm>
          <a:prstGeom prst="rect">
            <a:avLst/>
          </a:prstGeom>
          <a:solidFill>
            <a:srgbClr val="F2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0515600" cy="5486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What Gets Deployed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0515600" cy="3200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200" b="0">
                <a:solidFill>
                  <a:srgbClr val="CFDAEA"/>
                </a:solidFill>
                <a:latin typeface="Calibri"/>
              </a:rPr>
              <a:t>Concrete ACI objects created by terraform apply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51560"/>
            <a:ext cx="557784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600" b="1">
                <a:solidFill>
                  <a:srgbClr val="0B2E5C"/>
                </a:solidFill>
                <a:latin typeface="Calibri"/>
              </a:rPr>
              <a:t>Access &amp; Fabric Policies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463040"/>
          <a:ext cx="5577840" cy="484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59280"/>
                <a:gridCol w="3718560"/>
              </a:tblGrid>
              <a:tr h="403860">
                <a:tc>
                  <a:txBody>
                    <a:bodyPr lIns="36000" rIns="36000"/>
                    <a:lstStyle/>
                    <a:p>
                      <a:pPr algn="l"/>
                      <a:r>
                        <a:rPr b="1" sz="1200">
                          <a:solidFill>
                            <a:srgbClr val="FFFFFF"/>
                          </a:solidFill>
                          <a:latin typeface="Calibri"/>
                        </a:rPr>
                        <a:t>Object</a:t>
                      </a:r>
                    </a:p>
                  </a:txBody>
                  <a:tcPr anchor="ctr">
                    <a:solidFill>
                      <a:srgbClr val="0B2E5C"/>
                    </a:solidFill>
                  </a:tcPr>
                </a:tc>
                <a:tc>
                  <a:txBody>
                    <a:bodyPr lIns="36000" rIns="36000"/>
                    <a:lstStyle/>
                    <a:p>
                      <a:pPr algn="l"/>
                      <a:r>
                        <a:rPr b="1" sz="1200">
                          <a:solidFill>
                            <a:srgbClr val="FFFFFF"/>
                          </a:solidFill>
                          <a:latin typeface="Calibri"/>
                        </a:rPr>
                        <a:t>Detail</a:t>
                      </a:r>
                    </a:p>
                  </a:txBody>
                  <a:tcPr anchor="ctr">
                    <a:solidFill>
                      <a:srgbClr val="0B2E5C"/>
                    </a:solidFill>
                  </a:tcPr>
                </a:tc>
              </a:tr>
              <a:tr h="403860">
                <a:tc>
                  <a:txBody>
                    <a:bodyPr lIns="36000" rIns="36000"/>
                    <a:lstStyle/>
                    <a:p>
                      <a:pPr algn="l"/>
                      <a:r>
                        <a:rPr sz="1000">
                          <a:solidFill>
                            <a:srgbClr val="1C1F24"/>
                          </a:solidFill>
                          <a:latin typeface="Calibri"/>
                        </a:rPr>
                        <a:t>VLAN pools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36000" rIns="36000"/>
                    <a:lstStyle/>
                    <a:p>
                      <a:pPr algn="l"/>
                      <a:r>
                        <a:rPr sz="1000">
                          <a:solidFill>
                            <a:srgbClr val="1C1F24"/>
                          </a:solidFill>
                          <a:latin typeface="Calibri"/>
                        </a:rPr>
                        <a:t>vmm-vlan-pool (dynamic, 3501-3967) + fi-static-vlan-pool (static, 213 VLANs, prod)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03860">
                <a:tc>
                  <a:txBody>
                    <a:bodyPr lIns="36000" rIns="36000"/>
                    <a:lstStyle/>
                    <a:p>
                      <a:pPr algn="l"/>
                      <a:r>
                        <a:rPr sz="1000">
                          <a:solidFill>
                            <a:srgbClr val="1C1F24"/>
                          </a:solidFill>
                          <a:latin typeface="Calibri"/>
                        </a:rPr>
                        <a:t>CDP / LLDP</a:t>
                      </a:r>
                    </a:p>
                  </a:txBody>
                  <a:tcPr anchor="ctr">
                    <a:solidFill>
                      <a:srgbClr val="F4F6FA"/>
                    </a:solidFill>
                  </a:tcPr>
                </a:tc>
                <a:tc>
                  <a:txBody>
                    <a:bodyPr lIns="36000" rIns="36000"/>
                    <a:lstStyle/>
                    <a:p>
                      <a:pPr algn="l"/>
                      <a:r>
                        <a:rPr sz="1000">
                          <a:solidFill>
                            <a:srgbClr val="1C1F24"/>
                          </a:solidFill>
                          <a:latin typeface="Calibri"/>
                        </a:rPr>
                        <a:t>cdp-enabled, lldp-enabled (admin_rx_state, admin_tx_state)</a:t>
                      </a:r>
                    </a:p>
                  </a:txBody>
                  <a:tcPr anchor="ctr">
                    <a:solidFill>
                      <a:srgbClr val="F4F6FA"/>
                    </a:solidFill>
                  </a:tcPr>
                </a:tc>
              </a:tr>
              <a:tr h="403860">
                <a:tc>
                  <a:txBody>
                    <a:bodyPr lIns="36000" rIns="36000"/>
                    <a:lstStyle/>
                    <a:p>
                      <a:pPr algn="l"/>
                      <a:r>
                        <a:rPr sz="1000">
                          <a:solidFill>
                            <a:srgbClr val="1C1F24"/>
                          </a:solidFill>
                          <a:latin typeface="Calibri"/>
                        </a:rPr>
                        <a:t>Port channel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36000" rIns="36000"/>
                    <a:lstStyle/>
                    <a:p>
                      <a:pPr algn="l"/>
                      <a:r>
                        <a:rPr sz="1000">
                          <a:solidFill>
                            <a:srgbClr val="1C1F24"/>
                          </a:solidFill>
                          <a:latin typeface="Calibri"/>
                        </a:rPr>
                        <a:t>mac-pin (created from port_channel_policies)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03860">
                <a:tc>
                  <a:txBody>
                    <a:bodyPr lIns="36000" rIns="36000"/>
                    <a:lstStyle/>
                    <a:p>
                      <a:pPr algn="l"/>
                      <a:r>
                        <a:rPr sz="1000">
                          <a:solidFill>
                            <a:srgbClr val="1C1F24"/>
                          </a:solidFill>
                          <a:latin typeface="Calibri"/>
                        </a:rPr>
                        <a:t>Link level</a:t>
                      </a:r>
                    </a:p>
                  </a:txBody>
                  <a:tcPr anchor="ctr">
                    <a:solidFill>
                      <a:srgbClr val="F4F6FA"/>
                    </a:solidFill>
                  </a:tcPr>
                </a:tc>
                <a:tc>
                  <a:txBody>
                    <a:bodyPr lIns="36000" rIns="36000"/>
                    <a:lstStyle/>
                    <a:p>
                      <a:pPr algn="l"/>
                      <a:r>
                        <a:rPr sz="1000">
                          <a:solidFill>
                            <a:srgbClr val="1C1F24"/>
                          </a:solidFill>
                          <a:latin typeface="Calibri"/>
                        </a:rPr>
                        <a:t>10G</a:t>
                      </a:r>
                    </a:p>
                  </a:txBody>
                  <a:tcPr anchor="ctr">
                    <a:solidFill>
                      <a:srgbClr val="F4F6FA"/>
                    </a:solidFill>
                  </a:tcPr>
                </a:tc>
              </a:tr>
              <a:tr h="403860">
                <a:tc>
                  <a:txBody>
                    <a:bodyPr lIns="36000" rIns="36000"/>
                    <a:lstStyle/>
                    <a:p>
                      <a:pPr algn="l"/>
                      <a:r>
                        <a:rPr sz="1000">
                          <a:solidFill>
                            <a:srgbClr val="1C1F24"/>
                          </a:solidFill>
                          <a:latin typeface="Calibri"/>
                        </a:rPr>
                        <a:t>VMware VMM domain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36000" rIns="36000"/>
                    <a:lstStyle/>
                    <a:p>
                      <a:pPr algn="l"/>
                      <a:r>
                        <a:rPr sz="1000">
                          <a:solidFill>
                            <a:srgbClr val="1C1F24"/>
                          </a:solidFill>
                          <a:latin typeface="Calibri"/>
                        </a:rPr>
                        <a:t>Per-fabric: APCG-VDS1 (AEDCG), APCK-VDS1 (AEDCK) - adopt existing VDS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03860">
                <a:tc>
                  <a:txBody>
                    <a:bodyPr lIns="36000" rIns="36000"/>
                    <a:lstStyle/>
                    <a:p>
                      <a:pPr algn="l"/>
                      <a:r>
                        <a:rPr sz="1000">
                          <a:solidFill>
                            <a:srgbClr val="1C1F24"/>
                          </a:solidFill>
                          <a:latin typeface="Calibri"/>
                        </a:rPr>
                        <a:t>vCenter controller</a:t>
                      </a:r>
                    </a:p>
                  </a:txBody>
                  <a:tcPr anchor="ctr">
                    <a:solidFill>
                      <a:srgbClr val="F4F6FA"/>
                    </a:solidFill>
                  </a:tcPr>
                </a:tc>
                <a:tc>
                  <a:txBody>
                    <a:bodyPr lIns="36000" rIns="36000"/>
                    <a:lstStyle/>
                    <a:p>
                      <a:pPr algn="l"/>
                      <a:r>
                        <a:rPr sz="1000">
                          <a:solidFill>
                            <a:srgbClr val="1C1F24"/>
                          </a:solidFill>
                          <a:latin typeface="Calibri"/>
                        </a:rPr>
                        <a:t>vcenter01 with credential policy (shared vCenter)</a:t>
                      </a:r>
                    </a:p>
                  </a:txBody>
                  <a:tcPr anchor="ctr">
                    <a:solidFill>
                      <a:srgbClr val="F4F6FA"/>
                    </a:solidFill>
                  </a:tcPr>
                </a:tc>
              </a:tr>
              <a:tr h="403860">
                <a:tc>
                  <a:txBody>
                    <a:bodyPr lIns="36000" rIns="36000"/>
                    <a:lstStyle/>
                    <a:p>
                      <a:pPr algn="l"/>
                      <a:r>
                        <a:rPr sz="1000">
                          <a:solidFill>
                            <a:srgbClr val="1C1F24"/>
                          </a:solidFill>
                          <a:latin typeface="Calibri"/>
                        </a:rPr>
                        <a:t>VDS uplinks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36000" rIns="36000"/>
                    <a:lstStyle/>
                    <a:p>
                      <a:pPr algn="l"/>
                      <a:r>
                        <a:rPr sz="1000">
                          <a:solidFill>
                            <a:srgbClr val="1C1F24"/>
                          </a:solidFill>
                          <a:latin typeface="Calibri"/>
                        </a:rPr>
                        <a:t>uplink1, uplink2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03860">
                <a:tc>
                  <a:txBody>
                    <a:bodyPr lIns="36000" rIns="36000"/>
                    <a:lstStyle/>
                    <a:p>
                      <a:pPr algn="l"/>
                      <a:r>
                        <a:rPr sz="1000">
                          <a:solidFill>
                            <a:srgbClr val="1C1F24"/>
                          </a:solidFill>
                          <a:latin typeface="Calibri"/>
                        </a:rPr>
                        <a:t>AAEP</a:t>
                      </a:r>
                    </a:p>
                  </a:txBody>
                  <a:tcPr anchor="ctr">
                    <a:solidFill>
                      <a:srgbClr val="F4F6FA"/>
                    </a:solidFill>
                  </a:tcPr>
                </a:tc>
                <a:tc>
                  <a:txBody>
                    <a:bodyPr lIns="36000" rIns="36000"/>
                    <a:lstStyle/>
                    <a:p>
                      <a:pPr algn="l"/>
                      <a:r>
                        <a:rPr sz="1000">
                          <a:solidFill>
                            <a:srgbClr val="1C1F24"/>
                          </a:solidFill>
                          <a:latin typeface="Calibri"/>
                        </a:rPr>
                        <a:t>vmm-aaep - linked to VMM domain</a:t>
                      </a:r>
                    </a:p>
                  </a:txBody>
                  <a:tcPr anchor="ctr">
                    <a:solidFill>
                      <a:srgbClr val="F4F6FA"/>
                    </a:solidFill>
                  </a:tcPr>
                </a:tc>
              </a:tr>
              <a:tr h="403860">
                <a:tc>
                  <a:txBody>
                    <a:bodyPr lIns="36000" rIns="36000"/>
                    <a:lstStyle/>
                    <a:p>
                      <a:pPr algn="l"/>
                      <a:r>
                        <a:rPr sz="1000">
                          <a:solidFill>
                            <a:srgbClr val="1C1F24"/>
                          </a:solidFill>
                          <a:latin typeface="Calibri"/>
                        </a:rPr>
                        <a:t>VPC interface policy group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36000" rIns="36000"/>
                    <a:lstStyle/>
                    <a:p>
                      <a:pPr algn="l"/>
                      <a:r>
                        <a:rPr sz="1000">
                          <a:solidFill>
                            <a:srgbClr val="1C1F24"/>
                          </a:solidFill>
                          <a:latin typeface="Calibri"/>
                        </a:rPr>
                        <a:t>vpc-vmm-hosts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03860">
                <a:tc>
                  <a:txBody>
                    <a:bodyPr lIns="36000" rIns="36000"/>
                    <a:lstStyle/>
                    <a:p>
                      <a:pPr algn="l"/>
                      <a:r>
                        <a:rPr sz="1000">
                          <a:solidFill>
                            <a:srgbClr val="1C1F24"/>
                          </a:solidFill>
                          <a:latin typeface="Calibri"/>
                        </a:rPr>
                        <a:t>Leaf interface profile</a:t>
                      </a:r>
                    </a:p>
                  </a:txBody>
                  <a:tcPr anchor="ctr">
                    <a:solidFill>
                      <a:srgbClr val="F4F6FA"/>
                    </a:solidFill>
                  </a:tcPr>
                </a:tc>
                <a:tc>
                  <a:txBody>
                    <a:bodyPr lIns="36000" rIns="36000"/>
                    <a:lstStyle/>
                    <a:p>
                      <a:pPr algn="l"/>
                      <a:r>
                        <a:rPr sz="1000">
                          <a:solidFill>
                            <a:srgbClr val="1C1F24"/>
                          </a:solidFill>
                          <a:latin typeface="Calibri"/>
                        </a:rPr>
                        <a:t>AEDCG: leaf-152-153-intprof / AEDCK: leaf-119-191-intprof</a:t>
                      </a:r>
                    </a:p>
                  </a:txBody>
                  <a:tcPr anchor="ctr">
                    <a:solidFill>
                      <a:srgbClr val="F4F6FA"/>
                    </a:solidFill>
                  </a:tcPr>
                </a:tc>
              </a:tr>
              <a:tr h="403860">
                <a:tc>
                  <a:txBody>
                    <a:bodyPr lIns="36000" rIns="36000"/>
                    <a:lstStyle/>
                    <a:p>
                      <a:pPr algn="l"/>
                      <a:r>
                        <a:rPr sz="1000">
                          <a:solidFill>
                            <a:srgbClr val="1C1F24"/>
                          </a:solidFill>
                          <a:latin typeface="Calibri"/>
                        </a:rPr>
                        <a:t>Leaf switch profile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36000" rIns="36000"/>
                    <a:lstStyle/>
                    <a:p>
                      <a:pPr algn="l"/>
                      <a:r>
                        <a:rPr sz="1000">
                          <a:solidFill>
                            <a:srgbClr val="1C1F24"/>
                          </a:solidFill>
                          <a:latin typeface="Calibri"/>
                        </a:rPr>
                        <a:t>AEDCG: leaf-152-153-prof (152-153) / AEDCK: leaf-119-191-prof (119, 191)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309360" y="1051560"/>
            <a:ext cx="54864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600" b="1">
                <a:solidFill>
                  <a:srgbClr val="0B2E5C"/>
                </a:solidFill>
                <a:latin typeface="Calibri"/>
              </a:rPr>
              <a:t>Tenant EUR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309360" y="1463040"/>
          <a:ext cx="5486399" cy="484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1051"/>
                <a:gridCol w="3605348"/>
              </a:tblGrid>
              <a:tr h="440574">
                <a:tc>
                  <a:txBody>
                    <a:bodyPr lIns="36000" rIns="36000"/>
                    <a:lstStyle/>
                    <a:p>
                      <a:pPr algn="l"/>
                      <a:r>
                        <a:rPr b="1" sz="1200">
                          <a:solidFill>
                            <a:srgbClr val="FFFFFF"/>
                          </a:solidFill>
                          <a:latin typeface="Calibri"/>
                        </a:rPr>
                        <a:t>Object</a:t>
                      </a:r>
                    </a:p>
                  </a:txBody>
                  <a:tcPr anchor="ctr">
                    <a:solidFill>
                      <a:srgbClr val="0B2E5C"/>
                    </a:solidFill>
                  </a:tcPr>
                </a:tc>
                <a:tc>
                  <a:txBody>
                    <a:bodyPr lIns="36000" rIns="36000"/>
                    <a:lstStyle/>
                    <a:p>
                      <a:pPr algn="l"/>
                      <a:r>
                        <a:rPr b="1" sz="1200">
                          <a:solidFill>
                            <a:srgbClr val="FFFFFF"/>
                          </a:solidFill>
                          <a:latin typeface="Calibri"/>
                        </a:rPr>
                        <a:t>Detail</a:t>
                      </a:r>
                    </a:p>
                  </a:txBody>
                  <a:tcPr anchor="ctr">
                    <a:solidFill>
                      <a:srgbClr val="0B2E5C"/>
                    </a:solidFill>
                  </a:tcPr>
                </a:tc>
              </a:tr>
              <a:tr h="440574">
                <a:tc>
                  <a:txBody>
                    <a:bodyPr lIns="36000" rIns="36000"/>
                    <a:lstStyle/>
                    <a:p>
                      <a:pPr algn="l"/>
                      <a:r>
                        <a:rPr sz="1000">
                          <a:solidFill>
                            <a:srgbClr val="1C1F24"/>
                          </a:solidFill>
                          <a:latin typeface="Calibri"/>
                        </a:rPr>
                        <a:t>Filter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36000" rIns="36000"/>
                    <a:lstStyle/>
                    <a:p>
                      <a:pPr algn="l"/>
                      <a:r>
                        <a:rPr sz="1000">
                          <a:solidFill>
                            <a:srgbClr val="1C1F24"/>
                          </a:solidFill>
                          <a:latin typeface="Calibri"/>
                        </a:rPr>
                        <a:t>Any (ethertype unspecified)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40574">
                <a:tc>
                  <a:txBody>
                    <a:bodyPr lIns="36000" rIns="36000"/>
                    <a:lstStyle/>
                    <a:p>
                      <a:pPr algn="l"/>
                      <a:r>
                        <a:rPr sz="1000">
                          <a:solidFill>
                            <a:srgbClr val="1C1F24"/>
                          </a:solidFill>
                          <a:latin typeface="Calibri"/>
                        </a:rPr>
                        <a:t>Contract</a:t>
                      </a:r>
                    </a:p>
                  </a:txBody>
                  <a:tcPr anchor="ctr">
                    <a:solidFill>
                      <a:srgbClr val="F4F6FA"/>
                    </a:solidFill>
                  </a:tcPr>
                </a:tc>
                <a:tc>
                  <a:txBody>
                    <a:bodyPr lIns="36000" rIns="36000"/>
                    <a:lstStyle/>
                    <a:p>
                      <a:pPr algn="l"/>
                      <a:r>
                        <a:rPr sz="1000">
                          <a:solidFill>
                            <a:srgbClr val="1C1F24"/>
                          </a:solidFill>
                          <a:latin typeface="Calibri"/>
                        </a:rPr>
                        <a:t>Any_VRF-EUR (scope: context)</a:t>
                      </a:r>
                    </a:p>
                  </a:txBody>
                  <a:tcPr anchor="ctr">
                    <a:solidFill>
                      <a:srgbClr val="F4F6FA"/>
                    </a:solidFill>
                  </a:tcPr>
                </a:tc>
              </a:tr>
              <a:tr h="440574">
                <a:tc>
                  <a:txBody>
                    <a:bodyPr lIns="36000" rIns="36000"/>
                    <a:lstStyle/>
                    <a:p>
                      <a:pPr algn="l"/>
                      <a:r>
                        <a:rPr sz="1000">
                          <a:solidFill>
                            <a:srgbClr val="1C1F24"/>
                          </a:solidFill>
                          <a:latin typeface="Calibri"/>
                        </a:rPr>
                        <a:t>Contract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36000" rIns="36000"/>
                    <a:lstStyle/>
                    <a:p>
                      <a:pPr algn="l"/>
                      <a:r>
                        <a:rPr sz="1000">
                          <a:solidFill>
                            <a:srgbClr val="1C1F24"/>
                          </a:solidFill>
                          <a:latin typeface="Calibri"/>
                        </a:rPr>
                        <a:t>Any_VRF-DMZ (scope: context)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40574">
                <a:tc>
                  <a:txBody>
                    <a:bodyPr lIns="36000" rIns="36000"/>
                    <a:lstStyle/>
                    <a:p>
                      <a:pPr algn="l"/>
                      <a:r>
                        <a:rPr sz="1000">
                          <a:solidFill>
                            <a:srgbClr val="1C1F24"/>
                          </a:solidFill>
                          <a:latin typeface="Calibri"/>
                        </a:rPr>
                        <a:t>VRF-EUR</a:t>
                      </a:r>
                    </a:p>
                  </a:txBody>
                  <a:tcPr anchor="ctr">
                    <a:solidFill>
                      <a:srgbClr val="F4F6FA"/>
                    </a:solidFill>
                  </a:tcPr>
                </a:tc>
                <a:tc>
                  <a:txBody>
                    <a:bodyPr lIns="36000" rIns="36000"/>
                    <a:lstStyle/>
                    <a:p>
                      <a:pPr algn="l"/>
                      <a:r>
                        <a:rPr sz="1000">
                          <a:solidFill>
                            <a:srgbClr val="1C1F24"/>
                          </a:solidFill>
                          <a:latin typeface="Calibri"/>
                        </a:rPr>
                        <a:t>vzAny provider + consumer of Any_VRF-EUR</a:t>
                      </a:r>
                    </a:p>
                  </a:txBody>
                  <a:tcPr anchor="ctr">
                    <a:solidFill>
                      <a:srgbClr val="F4F6FA"/>
                    </a:solidFill>
                  </a:tcPr>
                </a:tc>
              </a:tr>
              <a:tr h="440574">
                <a:tc>
                  <a:txBody>
                    <a:bodyPr lIns="36000" rIns="36000"/>
                    <a:lstStyle/>
                    <a:p>
                      <a:pPr algn="l"/>
                      <a:r>
                        <a:rPr sz="1000">
                          <a:solidFill>
                            <a:srgbClr val="1C1F24"/>
                          </a:solidFill>
                          <a:latin typeface="Calibri"/>
                        </a:rPr>
                        <a:t>VRF-DMZ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36000" rIns="36000"/>
                    <a:lstStyle/>
                    <a:p>
                      <a:pPr algn="l"/>
                      <a:r>
                        <a:rPr sz="1000">
                          <a:solidFill>
                            <a:srgbClr val="1C1F24"/>
                          </a:solidFill>
                          <a:latin typeface="Calibri"/>
                        </a:rPr>
                        <a:t>vzAny provider + consumer of Any_VRF-DMZ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40574">
                <a:tc>
                  <a:txBody>
                    <a:bodyPr lIns="36000" rIns="36000"/>
                    <a:lstStyle/>
                    <a:p>
                      <a:pPr algn="l"/>
                      <a:r>
                        <a:rPr sz="1000">
                          <a:solidFill>
                            <a:srgbClr val="1C1F24"/>
                          </a:solidFill>
                          <a:latin typeface="Calibri"/>
                        </a:rPr>
                        <a:t>Bridge Domains (internal)</a:t>
                      </a:r>
                    </a:p>
                  </a:txBody>
                  <a:tcPr anchor="ctr">
                    <a:solidFill>
                      <a:srgbClr val="F4F6FA"/>
                    </a:solidFill>
                  </a:tcPr>
                </a:tc>
                <a:tc>
                  <a:txBody>
                    <a:bodyPr lIns="36000" rIns="36000"/>
                    <a:lstStyle/>
                    <a:p>
                      <a:pPr algn="l"/>
                      <a:r>
                        <a:rPr sz="1000">
                          <a:solidFill>
                            <a:srgbClr val="1C1F24"/>
                          </a:solidFill>
                          <a:latin typeface="Calibri"/>
                        </a:rPr>
                        <a:t>36 BDs - multi-subnet from legacy consolidation</a:t>
                      </a:r>
                    </a:p>
                  </a:txBody>
                  <a:tcPr anchor="ctr">
                    <a:solidFill>
                      <a:srgbClr val="F4F6FA"/>
                    </a:solidFill>
                  </a:tcPr>
                </a:tc>
              </a:tr>
              <a:tr h="440574">
                <a:tc>
                  <a:txBody>
                    <a:bodyPr lIns="36000" rIns="36000"/>
                    <a:lstStyle/>
                    <a:p>
                      <a:pPr algn="l"/>
                      <a:r>
                        <a:rPr sz="1000">
                          <a:solidFill>
                            <a:srgbClr val="1C1F24"/>
                          </a:solidFill>
                          <a:latin typeface="Calibri"/>
                        </a:rPr>
                        <a:t>Bridge Domains (DMZ)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36000" rIns="36000"/>
                    <a:lstStyle/>
                    <a:p>
                      <a:pPr algn="l"/>
                      <a:r>
                        <a:rPr sz="1000">
                          <a:solidFill>
                            <a:srgbClr val="1C1F24"/>
                          </a:solidFill>
                          <a:latin typeface="Calibri"/>
                        </a:rPr>
                        <a:t>3 BDs - BD-D64-PROXY, BD-FWEB-PROXY, BD-RWEB-PROXY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40574">
                <a:tc>
                  <a:txBody>
                    <a:bodyPr lIns="36000" rIns="36000"/>
                    <a:lstStyle/>
                    <a:p>
                      <a:pPr algn="l"/>
                      <a:r>
                        <a:rPr sz="1000">
                          <a:solidFill>
                            <a:srgbClr val="1C1F24"/>
                          </a:solidFill>
                          <a:latin typeface="Calibri"/>
                        </a:rPr>
                        <a:t>App Profile - NetCentric</a:t>
                      </a:r>
                    </a:p>
                  </a:txBody>
                  <a:tcPr anchor="ctr">
                    <a:solidFill>
                      <a:srgbClr val="F4F6FA"/>
                    </a:solidFill>
                  </a:tcPr>
                </a:tc>
                <a:tc>
                  <a:txBody>
                    <a:bodyPr lIns="36000" rIns="36000"/>
                    <a:lstStyle/>
                    <a:p>
                      <a:pPr algn="l"/>
                      <a:r>
                        <a:rPr sz="1000">
                          <a:solidFill>
                            <a:srgbClr val="1C1F24"/>
                          </a:solidFill>
                          <a:latin typeface="Calibri"/>
                        </a:rPr>
                        <a:t>36 internal EPGs on per-fabric VMMs (dynamic VLAN)</a:t>
                      </a:r>
                    </a:p>
                  </a:txBody>
                  <a:tcPr anchor="ctr">
                    <a:solidFill>
                      <a:srgbClr val="F4F6FA"/>
                    </a:solidFill>
                  </a:tcPr>
                </a:tc>
              </a:tr>
              <a:tr h="440574">
                <a:tc>
                  <a:txBody>
                    <a:bodyPr lIns="36000" rIns="36000"/>
                    <a:lstStyle/>
                    <a:p>
                      <a:pPr algn="l"/>
                      <a:r>
                        <a:rPr sz="1000">
                          <a:solidFill>
                            <a:srgbClr val="1C1F24"/>
                          </a:solidFill>
                          <a:latin typeface="Calibri"/>
                        </a:rPr>
                        <a:t>App Profile - DMZ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36000" rIns="36000"/>
                    <a:lstStyle/>
                    <a:p>
                      <a:pPr algn="l"/>
                      <a:r>
                        <a:rPr sz="1000">
                          <a:solidFill>
                            <a:srgbClr val="1C1F24"/>
                          </a:solidFill>
                          <a:latin typeface="Calibri"/>
                        </a:rPr>
                        <a:t>3 DMZ EPGs on per-fabric VMMs (dynamic VLAN)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40580">
                <a:tc>
                  <a:txBody>
                    <a:bodyPr lIns="36000" rIns="36000"/>
                    <a:lstStyle/>
                    <a:p>
                      <a:pPr algn="l"/>
                      <a:r>
                        <a:rPr sz="1000">
                          <a:solidFill>
                            <a:srgbClr val="1C1F24"/>
                          </a:solidFill>
                          <a:latin typeface="Calibri"/>
                        </a:rPr>
                        <a:t>App Profile - SecurityGroups</a:t>
                      </a:r>
                    </a:p>
                  </a:txBody>
                  <a:tcPr anchor="ctr">
                    <a:solidFill>
                      <a:srgbClr val="F4F6FA"/>
                    </a:solidFill>
                  </a:tcPr>
                </a:tc>
                <a:tc>
                  <a:txBody>
                    <a:bodyPr lIns="36000" rIns="36000"/>
                    <a:lstStyle/>
                    <a:p>
                      <a:pPr algn="l"/>
                      <a:r>
                        <a:rPr sz="1000">
                          <a:solidFill>
                            <a:srgbClr val="1C1F24"/>
                          </a:solidFill>
                          <a:latin typeface="Calibri"/>
                        </a:rPr>
                        <a:t>ESG-All-Internal-EPGs, ESG-All-DMZ-EPGs</a:t>
                      </a:r>
                    </a:p>
                  </a:txBody>
                  <a:tcPr anchor="ctr">
                    <a:solidFill>
                      <a:srgbClr val="F4F6FA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B2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565392"/>
            <a:ext cx="7315200" cy="29260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ACI Redesign Strategy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20095" y="6565392"/>
            <a:ext cx="1097280" cy="29260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16 / 27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B2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45720"/>
          </a:xfrm>
          <a:prstGeom prst="rect">
            <a:avLst/>
          </a:prstGeom>
          <a:solidFill>
            <a:srgbClr val="F2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0515600" cy="5486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Decommission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0515600" cy="3200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200" b="0">
                <a:solidFill>
                  <a:srgbClr val="CFDAEA"/>
                </a:solidFill>
                <a:latin typeface="Calibri"/>
              </a:rPr>
              <a:t>30 legacy BDs removed during or after migration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97280"/>
            <a:ext cx="3657600" cy="4206240"/>
          </a:xfrm>
          <a:prstGeom prst="rect">
            <a:avLst/>
          </a:prstGeom>
          <a:solidFill>
            <a:srgbClr val="F4F6FA"/>
          </a:solidFill>
          <a:ln w="9525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097280"/>
            <a:ext cx="3657600" cy="4572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3657600" cy="4572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Dead / empty (20)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645920"/>
            <a:ext cx="3291840" cy="35661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>
              <a:lnSpc>
                <a:spcPct val="115000"/>
              </a:lnSpc>
            </a:pPr>
            <a:r>
              <a:rPr sz="1200" b="0">
                <a:solidFill>
                  <a:srgbClr val="1C1F24"/>
                </a:solidFill>
                <a:latin typeface="Calibri"/>
              </a:rPr>
              <a:t>•  BD-2250</a:t>
            </a:r>
          </a:p>
          <a:p>
            <a:pPr>
              <a:lnSpc>
                <a:spcPct val="115000"/>
              </a:lnSpc>
            </a:pPr>
            <a:r>
              <a:rPr sz="1200" b="0">
                <a:solidFill>
                  <a:srgbClr val="1C1F24"/>
                </a:solidFill>
                <a:latin typeface="Calibri"/>
              </a:rPr>
              <a:t>•  BD-V0005</a:t>
            </a:r>
          </a:p>
          <a:p>
            <a:pPr>
              <a:lnSpc>
                <a:spcPct val="115000"/>
              </a:lnSpc>
            </a:pPr>
            <a:r>
              <a:rPr sz="1200" b="0">
                <a:solidFill>
                  <a:srgbClr val="1C1F24"/>
                </a:solidFill>
                <a:latin typeface="Calibri"/>
              </a:rPr>
              <a:t>•  BD-V0006</a:t>
            </a:r>
          </a:p>
          <a:p>
            <a:pPr>
              <a:lnSpc>
                <a:spcPct val="115000"/>
              </a:lnSpc>
            </a:pPr>
            <a:r>
              <a:rPr sz="1200" b="0">
                <a:solidFill>
                  <a:srgbClr val="1C1F24"/>
                </a:solidFill>
                <a:latin typeface="Calibri"/>
              </a:rPr>
              <a:t>•  BD-V0958</a:t>
            </a:r>
          </a:p>
          <a:p>
            <a:pPr>
              <a:lnSpc>
                <a:spcPct val="115000"/>
              </a:lnSpc>
            </a:pPr>
            <a:r>
              <a:rPr sz="1200" b="0">
                <a:solidFill>
                  <a:srgbClr val="1C1F24"/>
                </a:solidFill>
                <a:latin typeface="Calibri"/>
              </a:rPr>
              <a:t>•  BD-V0970</a:t>
            </a:r>
          </a:p>
          <a:p>
            <a:pPr>
              <a:lnSpc>
                <a:spcPct val="115000"/>
              </a:lnSpc>
            </a:pPr>
            <a:r>
              <a:rPr sz="1200" b="0">
                <a:solidFill>
                  <a:srgbClr val="1C1F24"/>
                </a:solidFill>
                <a:latin typeface="Calibri"/>
              </a:rPr>
              <a:t>•  BD-V1116</a:t>
            </a:r>
          </a:p>
          <a:p>
            <a:pPr>
              <a:lnSpc>
                <a:spcPct val="115000"/>
              </a:lnSpc>
            </a:pPr>
            <a:r>
              <a:rPr sz="1200" b="0">
                <a:solidFill>
                  <a:srgbClr val="1C1F24"/>
                </a:solidFill>
                <a:latin typeface="Calibri"/>
              </a:rPr>
              <a:t>•  BD-V1117</a:t>
            </a:r>
          </a:p>
          <a:p>
            <a:pPr>
              <a:lnSpc>
                <a:spcPct val="115000"/>
              </a:lnSpc>
            </a:pPr>
            <a:r>
              <a:rPr sz="1200" b="0">
                <a:solidFill>
                  <a:srgbClr val="1C1F24"/>
                </a:solidFill>
                <a:latin typeface="Calibri"/>
              </a:rPr>
              <a:t>•  BD-V1120</a:t>
            </a:r>
          </a:p>
          <a:p>
            <a:pPr>
              <a:lnSpc>
                <a:spcPct val="115000"/>
              </a:lnSpc>
            </a:pPr>
            <a:r>
              <a:rPr sz="1200" b="0">
                <a:solidFill>
                  <a:srgbClr val="1C1F24"/>
                </a:solidFill>
                <a:latin typeface="Calibri"/>
              </a:rPr>
              <a:t>•  BD-V1140 … BD-V1149</a:t>
            </a:r>
          </a:p>
          <a:p>
            <a:pPr>
              <a:lnSpc>
                <a:spcPct val="115000"/>
              </a:lnSpc>
            </a:pPr>
            <a:r>
              <a:rPr sz="1200" b="0">
                <a:solidFill>
                  <a:srgbClr val="1C1F24"/>
                </a:solidFill>
                <a:latin typeface="Calibri"/>
              </a:rPr>
              <a:t>•  BD-V1571</a:t>
            </a:r>
          </a:p>
          <a:p>
            <a:pPr>
              <a:lnSpc>
                <a:spcPct val="115000"/>
              </a:lnSpc>
            </a:pPr>
            <a:r>
              <a:rPr sz="1200" b="0">
                <a:solidFill>
                  <a:srgbClr val="1C1F24"/>
                </a:solidFill>
                <a:latin typeface="Calibri"/>
              </a:rPr>
              <a:t>•  BD-V2150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51960" y="1097280"/>
            <a:ext cx="3657600" cy="4206240"/>
          </a:xfrm>
          <a:prstGeom prst="rect">
            <a:avLst/>
          </a:prstGeom>
          <a:solidFill>
            <a:srgbClr val="F4F6FA"/>
          </a:solidFill>
          <a:ln w="9525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51960" y="1097280"/>
            <a:ext cx="3657600" cy="457200"/>
          </a:xfrm>
          <a:prstGeom prst="rect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51960" y="1097280"/>
            <a:ext cx="3657600" cy="4572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Deprecated (4)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1645920"/>
            <a:ext cx="3291840" cy="35661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>
              <a:lnSpc>
                <a:spcPct val="115000"/>
              </a:lnSpc>
            </a:pPr>
            <a:r>
              <a:rPr sz="1200" b="0">
                <a:solidFill>
                  <a:srgbClr val="1C1F24"/>
                </a:solidFill>
                <a:latin typeface="Calibri"/>
              </a:rPr>
              <a:t>•  BD-V0009 (Native VLAN)</a:t>
            </a:r>
          </a:p>
          <a:p>
            <a:pPr>
              <a:lnSpc>
                <a:spcPct val="115000"/>
              </a:lnSpc>
            </a:pPr>
            <a:r>
              <a:rPr sz="1200" b="0">
                <a:solidFill>
                  <a:srgbClr val="1C1F24"/>
                </a:solidFill>
                <a:latin typeface="Calibri"/>
              </a:rPr>
              <a:t>•  BD-V0021 (ATM - 'may need to remove')</a:t>
            </a:r>
          </a:p>
          <a:p>
            <a:pPr>
              <a:lnSpc>
                <a:spcPct val="115000"/>
              </a:lnSpc>
            </a:pPr>
            <a:r>
              <a:rPr sz="1200" b="0">
                <a:solidFill>
                  <a:srgbClr val="1C1F24"/>
                </a:solidFill>
                <a:latin typeface="Calibri"/>
              </a:rPr>
              <a:t>•  BD-V0529 ('Remove' in alias)</a:t>
            </a:r>
          </a:p>
          <a:p>
            <a:pPr>
              <a:lnSpc>
                <a:spcPct val="115000"/>
              </a:lnSpc>
            </a:pPr>
            <a:r>
              <a:rPr sz="1200" b="0">
                <a:solidFill>
                  <a:srgbClr val="1C1F24"/>
                </a:solidFill>
                <a:latin typeface="Calibri"/>
              </a:rPr>
              <a:t>•  BD-GSN-Test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46720" y="1097280"/>
            <a:ext cx="3657600" cy="4206240"/>
          </a:xfrm>
          <a:prstGeom prst="rect">
            <a:avLst/>
          </a:prstGeom>
          <a:solidFill>
            <a:srgbClr val="F4F6FA"/>
          </a:solidFill>
          <a:ln w="9525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46720" y="1097280"/>
            <a:ext cx="3657600" cy="457200"/>
          </a:xfrm>
          <a:prstGeom prst="rect">
            <a:avLst/>
          </a:prstGeom>
          <a:solidFill>
            <a:srgbClr val="555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0" y="1097280"/>
            <a:ext cx="3657600" cy="4572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Temporary test (6)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1645920"/>
            <a:ext cx="3291840" cy="35661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>
              <a:lnSpc>
                <a:spcPct val="115000"/>
              </a:lnSpc>
            </a:pPr>
            <a:r>
              <a:rPr sz="1200" b="0">
                <a:solidFill>
                  <a:srgbClr val="1C1F24"/>
                </a:solidFill>
                <a:latin typeface="Calibri"/>
              </a:rPr>
              <a:t>•  BD-V0020</a:t>
            </a:r>
          </a:p>
          <a:p>
            <a:pPr>
              <a:lnSpc>
                <a:spcPct val="115000"/>
              </a:lnSpc>
            </a:pPr>
            <a:r>
              <a:rPr sz="1200" b="0">
                <a:solidFill>
                  <a:srgbClr val="1C1F24"/>
                </a:solidFill>
                <a:latin typeface="Calibri"/>
              </a:rPr>
              <a:t>•  BD-V2001</a:t>
            </a:r>
          </a:p>
          <a:p>
            <a:pPr>
              <a:lnSpc>
                <a:spcPct val="115000"/>
              </a:lnSpc>
            </a:pPr>
            <a:r>
              <a:rPr sz="1200" b="0">
                <a:solidFill>
                  <a:srgbClr val="1C1F24"/>
                </a:solidFill>
                <a:latin typeface="Calibri"/>
              </a:rPr>
              <a:t>•  BD-V2002</a:t>
            </a:r>
          </a:p>
          <a:p>
            <a:pPr>
              <a:lnSpc>
                <a:spcPct val="115000"/>
              </a:lnSpc>
            </a:pPr>
            <a:r>
              <a:rPr sz="1200" b="0">
                <a:solidFill>
                  <a:srgbClr val="1C1F24"/>
                </a:solidFill>
                <a:latin typeface="Calibri"/>
              </a:rPr>
              <a:t>•  BD-V2003</a:t>
            </a:r>
          </a:p>
          <a:p>
            <a:pPr>
              <a:lnSpc>
                <a:spcPct val="115000"/>
              </a:lnSpc>
            </a:pPr>
            <a:r>
              <a:rPr sz="1200" b="0">
                <a:solidFill>
                  <a:srgbClr val="1C1F24"/>
                </a:solidFill>
                <a:latin typeface="Calibri"/>
              </a:rPr>
              <a:t>•  BD-V2004</a:t>
            </a:r>
          </a:p>
          <a:p>
            <a:pPr>
              <a:lnSpc>
                <a:spcPct val="115000"/>
              </a:lnSpc>
            </a:pPr>
            <a:r>
              <a:rPr sz="1200" b="0">
                <a:solidFill>
                  <a:srgbClr val="1C1F24"/>
                </a:solidFill>
                <a:latin typeface="Calibri"/>
              </a:rPr>
              <a:t>•  BD-V2005</a:t>
            </a:r>
          </a:p>
          <a:p>
            <a:pPr>
              <a:lnSpc>
                <a:spcPct val="115000"/>
              </a:lnSpc>
            </a:pPr>
            <a:r>
              <a:rPr sz="1200" b="0">
                <a:solidFill>
                  <a:srgbClr val="1C1F24"/>
                </a:solidFill>
                <a:latin typeface="Calibri"/>
              </a:rPr>
              <a:t>•  (all TMP_SATTest)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5486400"/>
            <a:ext cx="11247120" cy="868680"/>
          </a:xfrm>
          <a:prstGeom prst="rect">
            <a:avLst/>
          </a:prstGeom>
          <a:solidFill>
            <a:srgbClr val="F4F6FA"/>
          </a:solidFill>
          <a:ln w="9525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5486400"/>
            <a:ext cx="11247120" cy="411480"/>
          </a:xfrm>
          <a:prstGeom prst="rect">
            <a:avLst/>
          </a:prstGeom>
          <a:solidFill>
            <a:srgbClr val="0B2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486400"/>
            <a:ext cx="1106424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Decommission guardrails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943600"/>
            <a:ext cx="11064240" cy="3657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>
              <a:lnSpc>
                <a:spcPct val="115000"/>
              </a:lnSpc>
            </a:pPr>
            <a:r>
              <a:rPr sz="1100" b="0">
                <a:solidFill>
                  <a:srgbClr val="1C1F24"/>
                </a:solidFill>
                <a:latin typeface="Calibri"/>
              </a:rPr>
              <a:t>•  Only remove after every EPG from an old VRF has migrated and been validated.</a:t>
            </a:r>
          </a:p>
          <a:p>
            <a:pPr>
              <a:lnSpc>
                <a:spcPct val="115000"/>
              </a:lnSpc>
            </a:pPr>
            <a:r>
              <a:rPr sz="1100" b="0">
                <a:solidFill>
                  <a:srgbClr val="1C1F24"/>
                </a:solidFill>
                <a:latin typeface="Calibri"/>
              </a:rPr>
              <a:t>•  Run an orphan-object report (no endpoints, no contracts, no L3Out references) before delete.</a:t>
            </a:r>
          </a:p>
          <a:p>
            <a:pPr>
              <a:lnSpc>
                <a:spcPct val="115000"/>
              </a:lnSpc>
            </a:pPr>
            <a:r>
              <a:rPr sz="1100" b="0">
                <a:solidFill>
                  <a:srgbClr val="1C1F24"/>
                </a:solidFill>
                <a:latin typeface="Calibri"/>
              </a:rPr>
              <a:t>•  Keep an auditable record of each removal - terraform state + APIC audit log.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B2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" y="6565392"/>
            <a:ext cx="7315200" cy="29260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ACI Redesign Strategy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20095" y="6565392"/>
            <a:ext cx="1097280" cy="29260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17 / 27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B2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45720"/>
          </a:xfrm>
          <a:prstGeom prst="rect">
            <a:avLst/>
          </a:prstGeom>
          <a:solidFill>
            <a:srgbClr val="F2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0515600" cy="5486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What Changes vs What Stays the Same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0515600" cy="3200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200" b="0">
                <a:solidFill>
                  <a:srgbClr val="CFDAEA"/>
                </a:solidFill>
                <a:latin typeface="Calibri"/>
              </a:rPr>
              <a:t>Quick sanity check before we start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097280"/>
          <a:ext cx="1124712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9424"/>
                <a:gridCol w="3374136"/>
                <a:gridCol w="5623560"/>
              </a:tblGrid>
              <a:tr h="457200">
                <a:tc>
                  <a:txBody>
                    <a:bodyPr lIns="36000" rIns="36000"/>
                    <a:lstStyle/>
                    <a:p>
                      <a:pPr algn="l"/>
                      <a:r>
                        <a:rPr b="1" sz="1200">
                          <a:solidFill>
                            <a:srgbClr val="FFFFFF"/>
                          </a:solidFill>
                          <a:latin typeface="Calibri"/>
                        </a:rPr>
                        <a:t>Aspect</a:t>
                      </a:r>
                    </a:p>
                  </a:txBody>
                  <a:tcPr anchor="ctr">
                    <a:solidFill>
                      <a:srgbClr val="0B2E5C"/>
                    </a:solidFill>
                  </a:tcPr>
                </a:tc>
                <a:tc>
                  <a:txBody>
                    <a:bodyPr lIns="36000" rIns="36000"/>
                    <a:lstStyle/>
                    <a:p>
                      <a:pPr algn="l"/>
                      <a:r>
                        <a:rPr b="1" sz="1200">
                          <a:solidFill>
                            <a:srgbClr val="FFFFFF"/>
                          </a:solidFill>
                          <a:latin typeface="Calibri"/>
                        </a:rPr>
                        <a:t>Changes</a:t>
                      </a:r>
                    </a:p>
                  </a:txBody>
                  <a:tcPr anchor="ctr">
                    <a:solidFill>
                      <a:srgbClr val="0B2E5C"/>
                    </a:solidFill>
                  </a:tcPr>
                </a:tc>
                <a:tc>
                  <a:txBody>
                    <a:bodyPr lIns="36000" rIns="36000"/>
                    <a:lstStyle/>
                    <a:p>
                      <a:pPr algn="l"/>
                      <a:r>
                        <a:rPr b="1" sz="1200">
                          <a:solidFill>
                            <a:srgbClr val="FFFFFF"/>
                          </a:solidFill>
                          <a:latin typeface="Calibri"/>
                        </a:rPr>
                        <a:t>Stays the same</a:t>
                      </a:r>
                    </a:p>
                  </a:txBody>
                  <a:tcPr anchor="ctr">
                    <a:solidFill>
                      <a:srgbClr val="0B2E5C"/>
                    </a:solidFill>
                  </a:tcPr>
                </a:tc>
              </a:tr>
              <a:tr h="457200">
                <a:tc>
                  <a:txBody>
                    <a:bodyPr lIns="36000" rIns="36000"/>
                    <a:lstStyle/>
                    <a:p>
                      <a:pPr algn="l"/>
                      <a:r>
                        <a:rPr sz="1200">
                          <a:solidFill>
                            <a:srgbClr val="1C1F24"/>
                          </a:solidFill>
                          <a:latin typeface="Calibri"/>
                        </a:rPr>
                        <a:t>IP addresses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36000" rIns="36000"/>
                    <a:lstStyle/>
                    <a:p>
                      <a:pPr algn="l"/>
                      <a:r>
                        <a:rPr sz="1200">
                          <a:solidFill>
                            <a:srgbClr val="1C1F24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36000" rIns="36000"/>
                    <a:lstStyle/>
                    <a:p>
                      <a:pPr algn="l"/>
                      <a:r>
                        <a:rPr sz="1200">
                          <a:solidFill>
                            <a:srgbClr val="1C1F24"/>
                          </a:solidFill>
                          <a:latin typeface="Calibri"/>
                        </a:rPr>
                        <a:t>All subnets preserved, no readdressing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36000" rIns="36000"/>
                    <a:lstStyle/>
                    <a:p>
                      <a:pPr algn="l"/>
                      <a:r>
                        <a:rPr sz="1200">
                          <a:solidFill>
                            <a:srgbClr val="1C1F24"/>
                          </a:solidFill>
                          <a:latin typeface="Calibri"/>
                        </a:rPr>
                        <a:t>VRF count</a:t>
                      </a:r>
                    </a:p>
                  </a:txBody>
                  <a:tcPr anchor="ctr">
                    <a:solidFill>
                      <a:srgbClr val="F4F6FA"/>
                    </a:solidFill>
                  </a:tcPr>
                </a:tc>
                <a:tc>
                  <a:txBody>
                    <a:bodyPr lIns="36000" rIns="36000"/>
                    <a:lstStyle/>
                    <a:p>
                      <a:pPr algn="l"/>
                      <a:r>
                        <a:rPr sz="1200">
                          <a:solidFill>
                            <a:srgbClr val="1C1F24"/>
                          </a:solidFill>
                          <a:latin typeface="Calibri"/>
                        </a:rPr>
                        <a:t>11 → 2</a:t>
                      </a:r>
                    </a:p>
                  </a:txBody>
                  <a:tcPr anchor="ctr">
                    <a:solidFill>
                      <a:srgbClr val="F4F6FA"/>
                    </a:solidFill>
                  </a:tcPr>
                </a:tc>
                <a:tc>
                  <a:txBody>
                    <a:bodyPr lIns="36000" rIns="36000"/>
                    <a:lstStyle/>
                    <a:p>
                      <a:pPr algn="l"/>
                      <a:r>
                        <a:rPr sz="1200">
                          <a:solidFill>
                            <a:srgbClr val="1C1F24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4F6FA"/>
                    </a:solidFill>
                  </a:tcPr>
                </a:tc>
              </a:tr>
              <a:tr h="457200">
                <a:tc>
                  <a:txBody>
                    <a:bodyPr lIns="36000" rIns="36000"/>
                    <a:lstStyle/>
                    <a:p>
                      <a:pPr algn="l"/>
                      <a:r>
                        <a:rPr sz="1200">
                          <a:solidFill>
                            <a:srgbClr val="1C1F24"/>
                          </a:solidFill>
                          <a:latin typeface="Calibri"/>
                        </a:rPr>
                        <a:t>BD / EPG count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36000" rIns="36000"/>
                    <a:lstStyle/>
                    <a:p>
                      <a:pPr algn="l"/>
                      <a:r>
                        <a:rPr sz="1200">
                          <a:solidFill>
                            <a:srgbClr val="1C1F24"/>
                          </a:solidFill>
                          <a:latin typeface="Calibri"/>
                        </a:rPr>
                        <a:t>215 / 266 → 39 / 39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36000" rIns="36000"/>
                    <a:lstStyle/>
                    <a:p>
                      <a:pPr algn="l"/>
                      <a:r>
                        <a:rPr sz="1200">
                          <a:solidFill>
                            <a:srgbClr val="1C1F24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36000" rIns="36000"/>
                    <a:lstStyle/>
                    <a:p>
                      <a:pPr algn="l"/>
                      <a:r>
                        <a:rPr sz="1200">
                          <a:solidFill>
                            <a:srgbClr val="1C1F24"/>
                          </a:solidFill>
                          <a:latin typeface="Calibri"/>
                        </a:rPr>
                        <a:t>BD / EPG names</a:t>
                      </a:r>
                    </a:p>
                  </a:txBody>
                  <a:tcPr anchor="ctr">
                    <a:solidFill>
                      <a:srgbClr val="F4F6FA"/>
                    </a:solidFill>
                  </a:tcPr>
                </a:tc>
                <a:tc>
                  <a:txBody>
                    <a:bodyPr lIns="36000" rIns="36000"/>
                    <a:lstStyle/>
                    <a:p>
                      <a:pPr algn="l"/>
                      <a:r>
                        <a:rPr sz="1200">
                          <a:solidFill>
                            <a:srgbClr val="1C1F24"/>
                          </a:solidFill>
                          <a:latin typeface="Calibri"/>
                        </a:rPr>
                        <a:t>Numeric → descriptive</a:t>
                      </a:r>
                    </a:p>
                  </a:txBody>
                  <a:tcPr anchor="ctr">
                    <a:solidFill>
                      <a:srgbClr val="F4F6FA"/>
                    </a:solidFill>
                  </a:tcPr>
                </a:tc>
                <a:tc>
                  <a:txBody>
                    <a:bodyPr lIns="36000" rIns="36000"/>
                    <a:lstStyle/>
                    <a:p>
                      <a:pPr algn="l"/>
                      <a:r>
                        <a:rPr sz="1200">
                          <a:solidFill>
                            <a:srgbClr val="1C1F24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4F6FA"/>
                    </a:solidFill>
                  </a:tcPr>
                </a:tc>
              </a:tr>
              <a:tr h="457200">
                <a:tc>
                  <a:txBody>
                    <a:bodyPr lIns="36000" rIns="36000"/>
                    <a:lstStyle/>
                    <a:p>
                      <a:pPr algn="l"/>
                      <a:r>
                        <a:rPr sz="1200">
                          <a:solidFill>
                            <a:srgbClr val="1C1F24"/>
                          </a:solidFill>
                          <a:latin typeface="Calibri"/>
                        </a:rPr>
                        <a:t>Contracts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36000" rIns="36000"/>
                    <a:lstStyle/>
                    <a:p>
                      <a:pPr algn="l"/>
                      <a:r>
                        <a:rPr sz="1200">
                          <a:solidFill>
                            <a:srgbClr val="1C1F24"/>
                          </a:solidFill>
                          <a:latin typeface="Calibri"/>
                        </a:rPr>
                        <a:t>Per-EPG → vzAny + ESG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36000" rIns="36000"/>
                    <a:lstStyle/>
                    <a:p>
                      <a:pPr algn="l"/>
                      <a:r>
                        <a:rPr sz="1200">
                          <a:solidFill>
                            <a:srgbClr val="1C1F24"/>
                          </a:solidFill>
                          <a:latin typeface="Calibri"/>
                        </a:rPr>
                        <a:t>Contract model (still ACI contracts)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36000" rIns="36000"/>
                    <a:lstStyle/>
                    <a:p>
                      <a:pPr algn="l"/>
                      <a:r>
                        <a:rPr sz="1200">
                          <a:solidFill>
                            <a:srgbClr val="1C1F24"/>
                          </a:solidFill>
                          <a:latin typeface="Calibri"/>
                        </a:rPr>
                        <a:t>VMM domain</a:t>
                      </a:r>
                    </a:p>
                  </a:txBody>
                  <a:tcPr anchor="ctr">
                    <a:solidFill>
                      <a:srgbClr val="F4F6FA"/>
                    </a:solidFill>
                  </a:tcPr>
                </a:tc>
                <a:tc>
                  <a:txBody>
                    <a:bodyPr lIns="36000" rIns="36000"/>
                    <a:lstStyle/>
                    <a:p>
                      <a:pPr algn="l"/>
                      <a:r>
                        <a:rPr sz="1200">
                          <a:solidFill>
                            <a:srgbClr val="1C1F24"/>
                          </a:solidFill>
                          <a:latin typeface="Calibri"/>
                        </a:rPr>
                        <a:t>VMM1 → APCG-VDS1 / APCK-VDS1</a:t>
                      </a:r>
                    </a:p>
                  </a:txBody>
                  <a:tcPr anchor="ctr">
                    <a:solidFill>
                      <a:srgbClr val="F4F6FA"/>
                    </a:solidFill>
                  </a:tcPr>
                </a:tc>
                <a:tc>
                  <a:txBody>
                    <a:bodyPr lIns="36000" rIns="36000"/>
                    <a:lstStyle/>
                    <a:p>
                      <a:pPr algn="l"/>
                      <a:r>
                        <a:rPr sz="1200">
                          <a:solidFill>
                            <a:srgbClr val="1C1F24"/>
                          </a:solidFill>
                          <a:latin typeface="Calibri"/>
                        </a:rPr>
                        <a:t>Dynamic VLAN assignment (per-fabric VDS adoption)</a:t>
                      </a:r>
                    </a:p>
                  </a:txBody>
                  <a:tcPr anchor="ctr">
                    <a:solidFill>
                      <a:srgbClr val="F4F6FA"/>
                    </a:solidFill>
                  </a:tcPr>
                </a:tc>
              </a:tr>
              <a:tr h="457200">
                <a:tc>
                  <a:txBody>
                    <a:bodyPr lIns="36000" rIns="36000"/>
                    <a:lstStyle/>
                    <a:p>
                      <a:pPr algn="l"/>
                      <a:r>
                        <a:rPr sz="1200">
                          <a:solidFill>
                            <a:srgbClr val="1C1F24"/>
                          </a:solidFill>
                          <a:latin typeface="Calibri"/>
                        </a:rPr>
                        <a:t>L3Outs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36000" rIns="36000"/>
                    <a:lstStyle/>
                    <a:p>
                      <a:pPr algn="l"/>
                      <a:r>
                        <a:rPr sz="1200">
                          <a:solidFill>
                            <a:srgbClr val="1C1F24"/>
                          </a:solidFill>
                          <a:latin typeface="Calibri"/>
                        </a:rPr>
                        <a:t>13 → ~4 (production)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36000" rIns="36000"/>
                    <a:lstStyle/>
                    <a:p>
                      <a:pPr algn="l"/>
                      <a:r>
                        <a:rPr sz="1200">
                          <a:solidFill>
                            <a:srgbClr val="1C1F24"/>
                          </a:solidFill>
                          <a:latin typeface="Calibri"/>
                        </a:rPr>
                        <a:t>External routing concept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36000" rIns="36000"/>
                    <a:lstStyle/>
                    <a:p>
                      <a:pPr algn="l"/>
                      <a:r>
                        <a:rPr sz="1200">
                          <a:solidFill>
                            <a:srgbClr val="1C1F24"/>
                          </a:solidFill>
                          <a:latin typeface="Calibri"/>
                        </a:rPr>
                        <a:t>Firewall</a:t>
                      </a:r>
                    </a:p>
                  </a:txBody>
                  <a:tcPr anchor="ctr">
                    <a:solidFill>
                      <a:srgbClr val="F4F6FA"/>
                    </a:solidFill>
                  </a:tcPr>
                </a:tc>
                <a:tc>
                  <a:txBody>
                    <a:bodyPr lIns="36000" rIns="36000"/>
                    <a:lstStyle/>
                    <a:p>
                      <a:pPr algn="l"/>
                      <a:r>
                        <a:rPr sz="1200">
                          <a:solidFill>
                            <a:srgbClr val="1C1F24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4F6FA"/>
                    </a:solidFill>
                  </a:tcPr>
                </a:tc>
                <a:tc>
                  <a:txBody>
                    <a:bodyPr lIns="36000" rIns="36000"/>
                    <a:lstStyle/>
                    <a:p>
                      <a:pPr algn="l"/>
                      <a:r>
                        <a:rPr sz="1200">
                          <a:solidFill>
                            <a:srgbClr val="1C1F24"/>
                          </a:solidFill>
                          <a:latin typeface="Calibri"/>
                        </a:rPr>
                        <a:t>Still enforces DMZ boundaries</a:t>
                      </a:r>
                    </a:p>
                  </a:txBody>
                  <a:tcPr anchor="ctr">
                    <a:solidFill>
                      <a:srgbClr val="F4F6FA"/>
                    </a:solidFill>
                  </a:tcPr>
                </a:tc>
              </a:tr>
              <a:tr h="457200">
                <a:tc>
                  <a:txBody>
                    <a:bodyPr lIns="36000" rIns="36000"/>
                    <a:lstStyle/>
                    <a:p>
                      <a:pPr algn="l"/>
                      <a:r>
                        <a:rPr sz="1200">
                          <a:solidFill>
                            <a:srgbClr val="1C1F24"/>
                          </a:solidFill>
                          <a:latin typeface="Calibri"/>
                        </a:rPr>
                        <a:t>IPv6 (VRF-RCC)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36000" rIns="36000"/>
                    <a:lstStyle/>
                    <a:p>
                      <a:pPr algn="l"/>
                      <a:r>
                        <a:rPr sz="1200">
                          <a:solidFill>
                            <a:srgbClr val="1C1F24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36000" rIns="36000"/>
                    <a:lstStyle/>
                    <a:p>
                      <a:pPr algn="l"/>
                      <a:r>
                        <a:rPr sz="1200">
                          <a:solidFill>
                            <a:srgbClr val="1C1F24"/>
                          </a:solidFill>
                          <a:latin typeface="Calibri"/>
                        </a:rPr>
                        <a:t>Unchanged, managed separately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5852160"/>
            <a:ext cx="1124712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/>
            <a:r>
              <a:rPr sz="1400" b="1">
                <a:solidFill>
                  <a:srgbClr val="0B2E5C"/>
                </a:solidFill>
                <a:latin typeface="Calibri"/>
              </a:rPr>
              <a:t>The redesign rewrites the object model, not the network.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B2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65392"/>
            <a:ext cx="7315200" cy="29260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ACI Redesign Strategy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20095" y="6565392"/>
            <a:ext cx="1097280" cy="29260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18 / 27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B2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45720"/>
          </a:xfrm>
          <a:prstGeom prst="rect">
            <a:avLst/>
          </a:prstGeom>
          <a:solidFill>
            <a:srgbClr val="F2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0515600" cy="5486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Deployment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0515600" cy="3200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200" b="0">
                <a:solidFill>
                  <a:srgbClr val="CFDAEA"/>
                </a:solidFill>
                <a:latin typeface="Calibri"/>
              </a:rPr>
              <a:t>How YAML intent becomes ACI configuration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97280"/>
            <a:ext cx="3703320" cy="3931920"/>
          </a:xfrm>
          <a:prstGeom prst="rect">
            <a:avLst/>
          </a:prstGeom>
          <a:solidFill>
            <a:srgbClr val="F4F6FA"/>
          </a:solidFill>
          <a:ln w="9525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097280"/>
            <a:ext cx="3703320" cy="457200"/>
          </a:xfrm>
          <a:prstGeom prst="rect">
            <a:avLst/>
          </a:prstGeom>
          <a:solidFill>
            <a:srgbClr val="005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3703320" cy="4572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Inputs (source-controlled YAML)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645920"/>
            <a:ext cx="3429000" cy="329184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>
              <a:lnSpc>
                <a:spcPct val="120000"/>
              </a:lnSpc>
            </a:pPr>
            <a:r>
              <a:rPr sz="1000" b="0">
                <a:solidFill>
                  <a:srgbClr val="1C1F24"/>
                </a:solidFill>
                <a:latin typeface="Calibri"/>
              </a:rPr>
              <a:t>•  data/nac-aci-shared/ - cross-fabric tenant (VRFs, BDs, EPGs, ESGs, contracts)</a:t>
            </a:r>
          </a:p>
          <a:p>
            <a:pPr>
              <a:lnSpc>
                <a:spcPct val="120000"/>
              </a:lnSpc>
            </a:pPr>
            <a:r>
              <a:rPr sz="1000" b="0">
                <a:solidFill>
                  <a:srgbClr val="1C1F24"/>
                </a:solidFill>
                <a:latin typeface="Calibri"/>
              </a:rPr>
              <a:t>•  data/nac-aci-aedcg/ - per-fabric access policies (AEDCG)</a:t>
            </a:r>
          </a:p>
          <a:p>
            <a:pPr>
              <a:lnSpc>
                <a:spcPct val="120000"/>
              </a:lnSpc>
            </a:pPr>
            <a:r>
              <a:rPr sz="1000" b="0">
                <a:solidFill>
                  <a:srgbClr val="1C1F24"/>
                </a:solidFill>
                <a:latin typeface="Calibri"/>
              </a:rPr>
              <a:t>•  data/nac-aci-aedcg-rendered/ - vmm-domain YAML (gitignored)</a:t>
            </a:r>
          </a:p>
          <a:p>
            <a:pPr>
              <a:lnSpc>
                <a:spcPct val="120000"/>
              </a:lnSpc>
            </a:pPr>
            <a:r>
              <a:rPr sz="1000" b="0">
                <a:solidFill>
                  <a:srgbClr val="1C1F24"/>
                </a:solidFill>
                <a:latin typeface="Calibri"/>
              </a:rPr>
              <a:t>•  templates/vmm-domain.nac.yaml.tftpl - template for the above</a:t>
            </a:r>
          </a:p>
          <a:p>
            <a:pPr>
              <a:lnSpc>
                <a:spcPct val="120000"/>
              </a:lnSpc>
            </a:pPr>
            <a:r>
              <a:rPr sz="1000" b="0">
                <a:solidFill>
                  <a:srgbClr val="1C1F24"/>
                </a:solidFill>
                <a:latin typeface="Calibri"/>
              </a:rPr>
              <a:t>•  terraform.tfvars - non-sensitive only (apic_url, username)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51960" y="1097280"/>
            <a:ext cx="3703320" cy="3931920"/>
          </a:xfrm>
          <a:prstGeom prst="rect">
            <a:avLst/>
          </a:prstGeom>
          <a:solidFill>
            <a:srgbClr val="F4F6FA"/>
          </a:solidFill>
          <a:ln w="9525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51960" y="1097280"/>
            <a:ext cx="3703320" cy="457200"/>
          </a:xfrm>
          <a:prstGeom prst="rect">
            <a:avLst/>
          </a:prstGeom>
          <a:solidFill>
            <a:srgbClr val="F2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51960" y="1097280"/>
            <a:ext cx="3703320" cy="4572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Terraform (orchestration)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1645920"/>
            <a:ext cx="3429000" cy="329184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>
              <a:lnSpc>
                <a:spcPct val="120000"/>
              </a:lnSpc>
            </a:pPr>
            <a:r>
              <a:rPr sz="1000" b="0">
                <a:solidFill>
                  <a:srgbClr val="1C1F24"/>
                </a:solidFill>
                <a:latin typeface="Calibri"/>
              </a:rPr>
              <a:t>•  module "aci" - netascode/nac-aci@0.7.0 (wrapper)</a:t>
            </a:r>
          </a:p>
          <a:p>
            <a:pPr>
              <a:lnSpc>
                <a:spcPct val="120000"/>
              </a:lnSpc>
            </a:pPr>
            <a:r>
              <a:rPr sz="1000" b="0">
                <a:solidFill>
                  <a:srgbClr val="1C1F24"/>
                </a:solidFill>
                <a:latin typeface="Calibri"/>
              </a:rPr>
              <a:t>•      reads all YAML files from the two yaml_directories</a:t>
            </a:r>
          </a:p>
          <a:p>
            <a:pPr>
              <a:lnSpc>
                <a:spcPct val="120000"/>
              </a:lnSpc>
            </a:pPr>
            <a:r>
              <a:rPr sz="1000" b="0">
                <a:solidFill>
                  <a:srgbClr val="1C1F24"/>
                </a:solidFill>
                <a:latin typeface="Calibri"/>
              </a:rPr>
              <a:t>•      aci_mcp sub-module DISABLED via modules.nac.yaml</a:t>
            </a:r>
          </a:p>
          <a:p>
            <a:pPr>
              <a:lnSpc>
                <a:spcPct val="120000"/>
              </a:lnSpc>
            </a:pPr>
            <a:r>
              <a:rPr sz="1000" b="0">
                <a:solidFill>
                  <a:srgbClr val="1C1F24"/>
                </a:solidFill>
                <a:latin typeface="Calibri"/>
              </a:rPr>
              <a:t>•  module "aci_mcp" - standalone, owns MCP Instance Policy</a:t>
            </a:r>
          </a:p>
          <a:p>
            <a:pPr>
              <a:lnSpc>
                <a:spcPct val="120000"/>
              </a:lnSpc>
            </a:pPr>
            <a:r>
              <a:rPr sz="1000" b="0">
                <a:solidFill>
                  <a:srgbClr val="1C1F24"/>
                </a:solidFill>
                <a:latin typeface="Calibri"/>
              </a:rPr>
              <a:t>•      receives sensitive var.mcp_key from env/CI/Vault</a:t>
            </a:r>
          </a:p>
          <a:p>
            <a:pPr>
              <a:lnSpc>
                <a:spcPct val="120000"/>
              </a:lnSpc>
            </a:pPr>
            <a:r>
              <a:rPr sz="1000" b="0">
                <a:solidFill>
                  <a:srgbClr val="1C1F24"/>
                </a:solidFill>
                <a:latin typeface="Calibri"/>
              </a:rPr>
              <a:t>•  provider "aci" - CiscoDevNet/aci ≥ 2.0.0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46720" y="1097280"/>
            <a:ext cx="3703320" cy="3931920"/>
          </a:xfrm>
          <a:prstGeom prst="rect">
            <a:avLst/>
          </a:prstGeom>
          <a:solidFill>
            <a:srgbClr val="F4F6FA"/>
          </a:solidFill>
          <a:ln w="9525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46720" y="1097280"/>
            <a:ext cx="3703320" cy="457200"/>
          </a:xfrm>
          <a:prstGeom prst="rect">
            <a:avLst/>
          </a:prstGeom>
          <a:solidFill>
            <a:srgbClr val="1D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0" y="1097280"/>
            <a:ext cx="3703320" cy="4572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APIC (enforcement)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3880" y="1645920"/>
            <a:ext cx="3429000" cy="329184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>
              <a:lnSpc>
                <a:spcPct val="120000"/>
              </a:lnSpc>
            </a:pPr>
            <a:r>
              <a:rPr sz="1000" b="0">
                <a:solidFill>
                  <a:srgbClr val="1C1F24"/>
                </a:solidFill>
                <a:latin typeface="Calibri"/>
              </a:rPr>
              <a:t>•  ~200+ objects: VRFs, BDs, EPGs, ESGs, contracts, filters</a:t>
            </a:r>
          </a:p>
          <a:p>
            <a:pPr>
              <a:lnSpc>
                <a:spcPct val="120000"/>
              </a:lnSpc>
            </a:pPr>
            <a:r>
              <a:rPr sz="1000" b="0">
                <a:solidFill>
                  <a:srgbClr val="1C1F24"/>
                </a:solidFill>
                <a:latin typeface="Calibri"/>
              </a:rPr>
              <a:t>•  AppProf-NetCentric / AppProf-DMZ / AppProf-SecurityGroups</a:t>
            </a:r>
          </a:p>
          <a:p>
            <a:pPr>
              <a:lnSpc>
                <a:spcPct val="120000"/>
              </a:lnSpc>
            </a:pPr>
            <a:r>
              <a:rPr sz="1000" b="0">
                <a:solidFill>
                  <a:srgbClr val="1C1F24"/>
                </a:solidFill>
                <a:latin typeface="Calibri"/>
              </a:rPr>
              <a:t>•  Per-fabric VMM domains (APCG-VDS1, APCK-VDS1) + dynamic VLAN pool 3501-3967</a:t>
            </a:r>
          </a:p>
          <a:p>
            <a:pPr>
              <a:lnSpc>
                <a:spcPct val="120000"/>
              </a:lnSpc>
            </a:pPr>
            <a:r>
              <a:rPr sz="1000" b="0">
                <a:solidFill>
                  <a:srgbClr val="1C1F24"/>
                </a:solidFill>
                <a:latin typeface="Calibri"/>
              </a:rPr>
              <a:t>•  MCP Instance Policy (mcpInstP-default) with compliant key</a:t>
            </a:r>
          </a:p>
          <a:p>
            <a:pPr>
              <a:lnSpc>
                <a:spcPct val="120000"/>
              </a:lnSpc>
            </a:pPr>
            <a:r>
              <a:rPr sz="1000" b="0">
                <a:solidFill>
                  <a:srgbClr val="1C1F24"/>
                </a:solidFill>
                <a:latin typeface="Calibri"/>
              </a:rPr>
              <a:t>•  Access policies: AAEP, domain profile, interface selectors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4178808" y="2880360"/>
            <a:ext cx="502920" cy="365760"/>
          </a:xfrm>
          <a:prstGeom prst="rightArrow">
            <a:avLst/>
          </a:prstGeom>
          <a:solidFill>
            <a:srgbClr val="0B2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ight Arrow 18"/>
          <p:cNvSpPr/>
          <p:nvPr/>
        </p:nvSpPr>
        <p:spPr>
          <a:xfrm>
            <a:off x="7973568" y="2880360"/>
            <a:ext cx="502920" cy="365760"/>
          </a:xfrm>
          <a:prstGeom prst="rightArrow">
            <a:avLst/>
          </a:prstGeom>
          <a:solidFill>
            <a:srgbClr val="0B2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5257800"/>
            <a:ext cx="11247120" cy="1143000"/>
          </a:xfrm>
          <a:prstGeom prst="rect">
            <a:avLst/>
          </a:prstGeom>
          <a:solidFill>
            <a:srgbClr val="F4F6FA"/>
          </a:solidFill>
          <a:ln w="9525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5257800"/>
            <a:ext cx="137160" cy="1143000"/>
          </a:xfrm>
          <a:prstGeom prst="rect">
            <a:avLst/>
          </a:prstGeom>
          <a:solidFill>
            <a:srgbClr val="F2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303520"/>
            <a:ext cx="109728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>
                <a:solidFill>
                  <a:srgbClr val="0B2E5C"/>
                </a:solidFill>
                <a:latin typeface="Calibri"/>
              </a:rPr>
              <a:t>Pre-step: scripts/render-vmm-yaml.sh  (orchestrated by Makefile / CI)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623560"/>
            <a:ext cx="10972800" cy="7315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>
                <a:solidFill>
                  <a:srgbClr val="1C1F24"/>
                </a:solidFill>
                <a:latin typeface="Calibri"/>
              </a:rPr>
              <a:t>Substitutes TF_VAR_vcenter_* env vars into the template and writes the rendered VMM YAML into the gitignored data/nac-aci-aedcg-rendered/ directory BEFORE terraform plan runs. Decoupling the render from Terraform is what lets nac-aci evaluate its for_each/count at plan time.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B2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6565392"/>
            <a:ext cx="7315200" cy="29260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ACI Redesign Strategy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20095" y="6565392"/>
            <a:ext cx="1097280" cy="29260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19 / 27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B2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45720"/>
          </a:xfrm>
          <a:prstGeom prst="rect">
            <a:avLst/>
          </a:prstGeom>
          <a:solidFill>
            <a:srgbClr val="F2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0515600" cy="5486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Design Decisions (Automation Layer)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0515600" cy="3200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200" b="0">
                <a:solidFill>
                  <a:srgbClr val="CFDAEA"/>
                </a:solidFill>
                <a:latin typeface="Calibri"/>
              </a:rPr>
              <a:t>Four non-obvious choices; each protects the pipeline from a specific failure mode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051560"/>
          <a:ext cx="11247119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74366"/>
                <a:gridCol w="4048963"/>
                <a:gridCol w="4723790"/>
              </a:tblGrid>
              <a:tr h="1024128">
                <a:tc>
                  <a:txBody>
                    <a:bodyPr lIns="36000" rIns="36000"/>
                    <a:lstStyle/>
                    <a:p>
                      <a:pPr algn="l"/>
                      <a:r>
                        <a:rPr b="1" sz="1200">
                          <a:solidFill>
                            <a:srgbClr val="FFFFFF"/>
                          </a:solidFill>
                          <a:latin typeface="Calibri"/>
                        </a:rPr>
                        <a:t>Decision</a:t>
                      </a:r>
                    </a:p>
                  </a:txBody>
                  <a:tcPr anchor="ctr">
                    <a:solidFill>
                      <a:srgbClr val="0B2E5C"/>
                    </a:solidFill>
                  </a:tcPr>
                </a:tc>
                <a:tc>
                  <a:txBody>
                    <a:bodyPr lIns="36000" rIns="36000"/>
                    <a:lstStyle/>
                    <a:p>
                      <a:pPr algn="l"/>
                      <a:r>
                        <a:rPr b="1" sz="1200">
                          <a:solidFill>
                            <a:srgbClr val="FFFFFF"/>
                          </a:solidFill>
                          <a:latin typeface="Calibri"/>
                        </a:rPr>
                        <a:t>Problem it solves</a:t>
                      </a:r>
                    </a:p>
                  </a:txBody>
                  <a:tcPr anchor="ctr">
                    <a:solidFill>
                      <a:srgbClr val="0B2E5C"/>
                    </a:solidFill>
                  </a:tcPr>
                </a:tc>
                <a:tc>
                  <a:txBody>
                    <a:bodyPr lIns="36000" rIns="36000"/>
                    <a:lstStyle/>
                    <a:p>
                      <a:pPr algn="l"/>
                      <a:r>
                        <a:rPr b="1" sz="1200">
                          <a:solidFill>
                            <a:srgbClr val="FFFFFF"/>
                          </a:solidFill>
                          <a:latin typeface="Calibri"/>
                        </a:rPr>
                        <a:t>How we implemented it</a:t>
                      </a:r>
                    </a:p>
                  </a:txBody>
                  <a:tcPr anchor="ctr">
                    <a:solidFill>
                      <a:srgbClr val="0B2E5C"/>
                    </a:solidFill>
                  </a:tcPr>
                </a:tc>
              </a:tr>
              <a:tr h="1024128">
                <a:tc>
                  <a:txBody>
                    <a:bodyPr lIns="36000" rIns="36000"/>
                    <a:lstStyle/>
                    <a:p>
                      <a:pPr algn="l"/>
                      <a:r>
                        <a:rPr sz="1000">
                          <a:solidFill>
                            <a:srgbClr val="1C1F24"/>
                          </a:solidFill>
                          <a:latin typeface="Calibri"/>
                        </a:rPr>
                        <a:t>1. aci_mcp sub-module is disabled
in the nac-aci wrapper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36000" rIns="36000"/>
                    <a:lstStyle/>
                    <a:p>
                      <a:pPr algn="l"/>
                      <a:r>
                        <a:rPr sz="1000">
                          <a:solidFill>
                            <a:srgbClr val="1C1F24"/>
                          </a:solidFill>
                          <a:latin typeface="Calibri"/>
                        </a:rPr>
                        <a:t>nac-aci unconditionally creates the MCP Instance Policy with a hard-coded default key of 'cisco', which APIC 5.2+/6.x rejects with Error 182.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36000" rIns="36000"/>
                    <a:lstStyle/>
                    <a:p>
                      <a:pPr algn="l"/>
                      <a:r>
                        <a:rPr sz="1000">
                          <a:solidFill>
                            <a:srgbClr val="1C1F24"/>
                          </a:solidFill>
                          <a:latin typeface="Calibri"/>
                        </a:rPr>
                        <a:t>Disable via modules.nac.yaml (modules.aci_mcp: false). Own the MCP policy directly in main.tf with a sensitive var.mcp_key sourced from env/CI/Vault.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1024128">
                <a:tc>
                  <a:txBody>
                    <a:bodyPr lIns="36000" rIns="36000"/>
                    <a:lstStyle/>
                    <a:p>
                      <a:pPr algn="l"/>
                      <a:r>
                        <a:rPr sz="1000">
                          <a:solidFill>
                            <a:srgbClr val="1C1F24"/>
                          </a:solidFill>
                          <a:latin typeface="Calibri"/>
                        </a:rPr>
                        <a:t>2. VMM YAML is rendered by a shell
script, not a local_file resource</a:t>
                      </a:r>
                    </a:p>
                  </a:txBody>
                  <a:tcPr anchor="ctr">
                    <a:solidFill>
                      <a:srgbClr val="F4F6FA"/>
                    </a:solidFill>
                  </a:tcPr>
                </a:tc>
                <a:tc>
                  <a:txBody>
                    <a:bodyPr lIns="36000" rIns="36000"/>
                    <a:lstStyle/>
                    <a:p>
                      <a:pPr algn="l"/>
                      <a:r>
                        <a:rPr sz="1000">
                          <a:solidFill>
                            <a:srgbClr val="1C1F24"/>
                          </a:solidFill>
                          <a:latin typeface="Calibri"/>
                        </a:rPr>
                        <a:t>A module with depends_on on an un-applied resource defers every internal for_each/count to apply-time. Result: terraform plan fails with a wall of "Invalid count argument" errors.</a:t>
                      </a:r>
                    </a:p>
                  </a:txBody>
                  <a:tcPr anchor="ctr">
                    <a:solidFill>
                      <a:srgbClr val="F4F6FA"/>
                    </a:solidFill>
                  </a:tcPr>
                </a:tc>
                <a:tc>
                  <a:txBody>
                    <a:bodyPr lIns="36000" rIns="36000"/>
                    <a:lstStyle/>
                    <a:p>
                      <a:pPr algn="l"/>
                      <a:r>
                        <a:rPr sz="1000">
                          <a:solidFill>
                            <a:srgbClr val="1C1F24"/>
                          </a:solidFill>
                          <a:latin typeface="Calibri"/>
                        </a:rPr>
                        <a:t>Render the template in scripts/render-vmm-yaml.sh BEFORE terraform runs. The rendered YAML is a static input at plan time, so nac-aci's graph evaluates cleanly.</a:t>
                      </a:r>
                    </a:p>
                  </a:txBody>
                  <a:tcPr anchor="ctr">
                    <a:solidFill>
                      <a:srgbClr val="F4F6FA"/>
                    </a:solidFill>
                  </a:tcPr>
                </a:tc>
              </a:tr>
              <a:tr h="1024128">
                <a:tc>
                  <a:txBody>
                    <a:bodyPr lIns="36000" rIns="36000"/>
                    <a:lstStyle/>
                    <a:p>
                      <a:pPr algn="l"/>
                      <a:r>
                        <a:rPr sz="1000">
                          <a:solidFill>
                            <a:srgbClr val="1C1F24"/>
                          </a:solidFill>
                          <a:latin typeface="Calibri"/>
                        </a:rPr>
                        <a:t>3. Secrets are NOT declared in
terraform.tfvars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36000" rIns="36000"/>
                    <a:lstStyle/>
                    <a:p>
                      <a:pPr algn="l"/>
                      <a:r>
                        <a:rPr sz="1000">
                          <a:solidFill>
                            <a:srgbClr val="1C1F24"/>
                          </a:solidFill>
                          <a:latin typeface="Calibri"/>
                        </a:rPr>
                        <a:t>Terraform variable precedence: values in terraform.tfvars beat TF_VAR_* env vars. Leaving an empty slot silently overrides the env var and breaks auth.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36000" rIns="36000"/>
                    <a:lstStyle/>
                    <a:p>
                      <a:pPr algn="l"/>
                      <a:r>
                        <a:rPr sz="1000">
                          <a:solidFill>
                            <a:srgbClr val="1C1F24"/>
                          </a:solidFill>
                          <a:latin typeface="Calibri"/>
                        </a:rPr>
                        <a:t>Leave apic_password and mcp_key undeclared in tfvars entirely. The env var / CI variable / Vault data source always wins.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1024128">
                <a:tc>
                  <a:txBody>
                    <a:bodyPr lIns="36000" rIns="36000"/>
                    <a:lstStyle/>
                    <a:p>
                      <a:pPr algn="l"/>
                      <a:r>
                        <a:rPr sz="1000">
                          <a:solidFill>
                            <a:srgbClr val="1C1F24"/>
                          </a:solidFill>
                          <a:latin typeface="Calibri"/>
                        </a:rPr>
                        <a:t>4. vCenter values are NOT
Terraform variables</a:t>
                      </a:r>
                    </a:p>
                  </a:txBody>
                  <a:tcPr anchor="ctr">
                    <a:solidFill>
                      <a:srgbClr val="F4F6FA"/>
                    </a:solidFill>
                  </a:tcPr>
                </a:tc>
                <a:tc>
                  <a:txBody>
                    <a:bodyPr lIns="36000" rIns="36000"/>
                    <a:lstStyle/>
                    <a:p>
                      <a:pPr algn="l"/>
                      <a:r>
                        <a:rPr sz="1000">
                          <a:solidFill>
                            <a:srgbClr val="1C1F24"/>
                          </a:solidFill>
                          <a:latin typeface="Calibri"/>
                        </a:rPr>
                        <a:t>Putting the vCenter service-account password into a Terraform variable puts it into state and plan output, even marked sensitive.</a:t>
                      </a:r>
                    </a:p>
                  </a:txBody>
                  <a:tcPr anchor="ctr">
                    <a:solidFill>
                      <a:srgbClr val="F4F6FA"/>
                    </a:solidFill>
                  </a:tcPr>
                </a:tc>
                <a:tc>
                  <a:txBody>
                    <a:bodyPr lIns="36000" rIns="36000"/>
                    <a:lstStyle/>
                    <a:p>
                      <a:pPr algn="l"/>
                      <a:r>
                        <a:rPr sz="1000">
                          <a:solidFill>
                            <a:srgbClr val="1C1F24"/>
                          </a:solidFill>
                          <a:latin typeface="Calibri"/>
                        </a:rPr>
                        <a:t>Consume them directly in render-vmm-yaml.sh. They never become TF variables, never enter state, never appear in plan output. Rotation = re-export + re-plan.</a:t>
                      </a:r>
                    </a:p>
                  </a:txBody>
                  <a:tcPr anchor="ctr">
                    <a:solidFill>
                      <a:srgbClr val="F4F6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263640"/>
            <a:ext cx="1124712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/>
            <a:r>
              <a:rPr sz="1100" b="1">
                <a:solidFill>
                  <a:srgbClr val="0B2E5C"/>
                </a:solidFill>
                <a:latin typeface="Calibri"/>
              </a:rPr>
              <a:t>If any of these four are "fixed" back to the obvious shape, the pipeline breaks. Full rationale: aci-redesign/README.md → Design Decisions.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B2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65392"/>
            <a:ext cx="7315200" cy="29260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ACI Redesign Strategy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20095" y="6565392"/>
            <a:ext cx="1097280" cy="29260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20 / 27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B2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45720"/>
          </a:xfrm>
          <a:prstGeom prst="rect">
            <a:avLst/>
          </a:prstGeom>
          <a:solidFill>
            <a:srgbClr val="F2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0515600" cy="5486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Secrets Strategy: Env → CI → Vault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0515600" cy="3200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200" b="0">
                <a:solidFill>
                  <a:srgbClr val="CFDAEA"/>
                </a:solidFill>
                <a:latin typeface="Calibri"/>
              </a:rPr>
              <a:t>Same Terraform code; the source of secrets evolves with maturity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97280"/>
            <a:ext cx="3703320" cy="4846320"/>
          </a:xfrm>
          <a:prstGeom prst="rect">
            <a:avLst/>
          </a:prstGeom>
          <a:solidFill>
            <a:srgbClr val="F4F6FA"/>
          </a:solidFill>
          <a:ln w="9525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097280"/>
            <a:ext cx="3703320" cy="502920"/>
          </a:xfrm>
          <a:prstGeom prst="rect">
            <a:avLst/>
          </a:prstGeom>
          <a:solidFill>
            <a:srgbClr val="005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3703320" cy="5029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Stage 1: Local Dev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691640"/>
            <a:ext cx="333756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/>
            <a:r>
              <a:rPr sz="1100" b="1">
                <a:solidFill>
                  <a:srgbClr val="0B2E5C"/>
                </a:solidFill>
                <a:latin typeface="Calibri"/>
              </a:rPr>
              <a:t>Shell environment variables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57400"/>
            <a:ext cx="3337560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000">
                <a:solidFill>
                  <a:srgbClr val="1C1F24"/>
                </a:solidFill>
                <a:latin typeface="Consolas"/>
              </a:rPr>
              <a:t>source scripts/set-apic-password.sh</a:t>
            </a:r>
          </a:p>
          <a:p>
            <a:pPr>
              <a:lnSpc>
                <a:spcPct val="120000"/>
              </a:lnSpc>
            </a:pPr>
            <a:r>
              <a:rPr sz="1000">
                <a:solidFill>
                  <a:srgbClr val="1C1F24"/>
                </a:solidFill>
                <a:latin typeface="Consolas"/>
              </a:rPr>
              <a:t>eval "$(./scripts/generate-mcp-key.sh)"</a:t>
            </a:r>
          </a:p>
          <a:p>
            <a:pPr>
              <a:lnSpc>
                <a:spcPct val="120000"/>
              </a:lnSpc>
            </a:pPr>
            <a:r>
              <a:rPr sz="1000">
                <a:solidFill>
                  <a:srgbClr val="1C1F24"/>
                </a:solidFill>
                <a:latin typeface="Consolas"/>
              </a:rPr>
              <a:t>export TF_VAR_vcenter_username='...'</a:t>
            </a:r>
          </a:p>
          <a:p>
            <a:pPr>
              <a:lnSpc>
                <a:spcPct val="120000"/>
              </a:lnSpc>
            </a:pPr>
            <a:r>
              <a:rPr sz="1000">
                <a:solidFill>
                  <a:srgbClr val="1C1F24"/>
                </a:solidFill>
                <a:latin typeface="Consolas"/>
              </a:rPr>
              <a:t>export TF_VAR_vcenter_password='...'</a:t>
            </a:r>
          </a:p>
          <a:p>
            <a:pPr>
              <a:lnSpc>
                <a:spcPct val="120000"/>
              </a:lnSpc>
            </a:pPr>
            <a:r>
              <a:rPr sz="1000">
                <a:solidFill>
                  <a:srgbClr val="1C1F24"/>
                </a:solidFill>
                <a:latin typeface="Consolas"/>
              </a:rPr>
              <a:t> </a:t>
            </a:r>
          </a:p>
          <a:p>
            <a:pPr>
              <a:lnSpc>
                <a:spcPct val="120000"/>
              </a:lnSpc>
            </a:pPr>
            <a:r>
              <a:rPr sz="1000">
                <a:solidFill>
                  <a:srgbClr val="1C1F24"/>
                </a:solidFill>
                <a:latin typeface="Consolas"/>
              </a:rPr>
              <a:t>make auth-check → HTTP 200</a:t>
            </a:r>
          </a:p>
          <a:p>
            <a:pPr>
              <a:lnSpc>
                <a:spcPct val="120000"/>
              </a:lnSpc>
            </a:pPr>
            <a:r>
              <a:rPr sz="1000">
                <a:solidFill>
                  <a:srgbClr val="1C1F24"/>
                </a:solidFill>
                <a:latin typeface="Consolas"/>
              </a:rPr>
              <a:t>make plan / make apply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51960" y="1097280"/>
            <a:ext cx="3703320" cy="4846320"/>
          </a:xfrm>
          <a:prstGeom prst="rect">
            <a:avLst/>
          </a:prstGeom>
          <a:solidFill>
            <a:srgbClr val="F4F6FA"/>
          </a:solidFill>
          <a:ln w="9525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51960" y="1097280"/>
            <a:ext cx="3703320" cy="502920"/>
          </a:xfrm>
          <a:prstGeom prst="rect">
            <a:avLst/>
          </a:prstGeom>
          <a:solidFill>
            <a:srgbClr val="F2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51960" y="1097280"/>
            <a:ext cx="3703320" cy="5029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Stage 2: GitLab CI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40" y="1691640"/>
            <a:ext cx="333756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/>
            <a:r>
              <a:rPr sz="1100" b="1">
                <a:solidFill>
                  <a:srgbClr val="0B2E5C"/>
                </a:solidFill>
                <a:latin typeface="Calibri"/>
              </a:rPr>
              <a:t>Masked + Protected CI variables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40" y="2057400"/>
            <a:ext cx="3337560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000">
                <a:solidFill>
                  <a:srgbClr val="1C1F24"/>
                </a:solidFill>
                <a:latin typeface="Consolas"/>
              </a:rPr>
              <a:t>Settings → CI/CD → Variables:</a:t>
            </a:r>
          </a:p>
          <a:p>
            <a:pPr>
              <a:lnSpc>
                <a:spcPct val="120000"/>
              </a:lnSpc>
            </a:pPr>
            <a:r>
              <a:rPr sz="1000">
                <a:solidFill>
                  <a:srgbClr val="1C1F24"/>
                </a:solidFill>
                <a:latin typeface="Consolas"/>
              </a:rPr>
              <a:t>  APIC_PASSWORD        (masked, protected)</a:t>
            </a:r>
          </a:p>
          <a:p>
            <a:pPr>
              <a:lnSpc>
                <a:spcPct val="120000"/>
              </a:lnSpc>
            </a:pPr>
            <a:r>
              <a:rPr sz="1000">
                <a:solidFill>
                  <a:srgbClr val="1C1F24"/>
                </a:solidFill>
                <a:latin typeface="Consolas"/>
              </a:rPr>
              <a:t>  MCP_KEY              (masked, protected)</a:t>
            </a:r>
          </a:p>
          <a:p>
            <a:pPr>
              <a:lnSpc>
                <a:spcPct val="120000"/>
              </a:lnSpc>
            </a:pPr>
            <a:r>
              <a:rPr sz="1000">
                <a:solidFill>
                  <a:srgbClr val="1C1F24"/>
                </a:solidFill>
                <a:latin typeface="Consolas"/>
              </a:rPr>
              <a:t>  VCENTER_USERNAME     (masked, protected)</a:t>
            </a:r>
          </a:p>
          <a:p>
            <a:pPr>
              <a:lnSpc>
                <a:spcPct val="120000"/>
              </a:lnSpc>
            </a:pPr>
            <a:r>
              <a:rPr sz="1000">
                <a:solidFill>
                  <a:srgbClr val="1C1F24"/>
                </a:solidFill>
                <a:latin typeface="Consolas"/>
              </a:rPr>
              <a:t>  VCENTER_PASSWORD     (masked, protected)</a:t>
            </a:r>
          </a:p>
          <a:p>
            <a:pPr>
              <a:lnSpc>
                <a:spcPct val="120000"/>
              </a:lnSpc>
            </a:pPr>
            <a:r>
              <a:rPr sz="1000">
                <a:solidFill>
                  <a:srgbClr val="1C1F24"/>
                </a:solidFill>
                <a:latin typeface="Consolas"/>
              </a:rPr>
              <a:t>  VCENTER_HOSTNAME_IP  (plain)</a:t>
            </a:r>
          </a:p>
          <a:p>
            <a:pPr>
              <a:lnSpc>
                <a:spcPct val="120000"/>
              </a:lnSpc>
            </a:pPr>
            <a:r>
              <a:rPr sz="1000">
                <a:solidFill>
                  <a:srgbClr val="1C1F24"/>
                </a:solidFill>
                <a:latin typeface="Consolas"/>
              </a:rPr>
              <a:t>  VCENTER_DATACENTER   (plain)</a:t>
            </a:r>
          </a:p>
          <a:p>
            <a:pPr>
              <a:lnSpc>
                <a:spcPct val="120000"/>
              </a:lnSpc>
            </a:pPr>
            <a:r>
              <a:rPr sz="1000">
                <a:solidFill>
                  <a:srgbClr val="1C1F24"/>
                </a:solidFill>
                <a:latin typeface="Consolas"/>
              </a:rPr>
              <a:t>  VCENTER_DVS_VERSION  (plain)</a:t>
            </a:r>
          </a:p>
          <a:p>
            <a:pPr>
              <a:lnSpc>
                <a:spcPct val="120000"/>
              </a:lnSpc>
            </a:pPr>
            <a:r>
              <a:rPr sz="1000">
                <a:solidFill>
                  <a:srgbClr val="1C1F24"/>
                </a:solidFill>
                <a:latin typeface="Consolas"/>
              </a:rPr>
              <a:t>.gitlab-ci.yml maps each to TF_VAR_*.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46720" y="1097280"/>
            <a:ext cx="3703320" cy="4846320"/>
          </a:xfrm>
          <a:prstGeom prst="rect">
            <a:avLst/>
          </a:prstGeom>
          <a:solidFill>
            <a:srgbClr val="F4F6FA"/>
          </a:solidFill>
          <a:ln w="9525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46720" y="1097280"/>
            <a:ext cx="3703320" cy="502920"/>
          </a:xfrm>
          <a:prstGeom prst="rect">
            <a:avLst/>
          </a:prstGeom>
          <a:solidFill>
            <a:srgbClr val="1D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46720" y="1097280"/>
            <a:ext cx="3703320" cy="5029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Stage 3: Vault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1691640"/>
            <a:ext cx="333756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/>
            <a:r>
              <a:rPr sz="1100" b="1">
                <a:solidFill>
                  <a:srgbClr val="0B2E5C"/>
                </a:solidFill>
                <a:latin typeface="Calibri"/>
              </a:rPr>
              <a:t>Centralized KV store (AppRole for runners)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2057400"/>
            <a:ext cx="3337560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000">
                <a:solidFill>
                  <a:srgbClr val="1C1F24"/>
                </a:solidFill>
                <a:latin typeface="Consolas"/>
              </a:rPr>
              <a:t>data "vault_kv_secret_v2" "aci_lab" {</a:t>
            </a:r>
          </a:p>
          <a:p>
            <a:pPr>
              <a:lnSpc>
                <a:spcPct val="120000"/>
              </a:lnSpc>
            </a:pPr>
            <a:r>
              <a:rPr sz="1000">
                <a:solidFill>
                  <a:srgbClr val="1C1F24"/>
                </a:solidFill>
                <a:latin typeface="Consolas"/>
              </a:rPr>
              <a:t>  mount = "secret"</a:t>
            </a:r>
          </a:p>
          <a:p>
            <a:pPr>
              <a:lnSpc>
                <a:spcPct val="120000"/>
              </a:lnSpc>
            </a:pPr>
            <a:r>
              <a:rPr sz="1000">
                <a:solidFill>
                  <a:srgbClr val="1C1F24"/>
                </a:solidFill>
                <a:latin typeface="Consolas"/>
              </a:rPr>
              <a:t>  name  = "aci/lab"</a:t>
            </a:r>
          </a:p>
          <a:p>
            <a:pPr>
              <a:lnSpc>
                <a:spcPct val="120000"/>
              </a:lnSpc>
            </a:pPr>
            <a:r>
              <a:rPr sz="1000">
                <a:solidFill>
                  <a:srgbClr val="1C1F24"/>
                </a:solidFill>
                <a:latin typeface="Consolas"/>
              </a:rPr>
              <a:t>}</a:t>
            </a:r>
          </a:p>
          <a:p>
            <a:pPr>
              <a:lnSpc>
                <a:spcPct val="120000"/>
              </a:lnSpc>
            </a:pPr>
            <a:r>
              <a:rPr sz="1000">
                <a:solidFill>
                  <a:srgbClr val="1C1F24"/>
                </a:solidFill>
                <a:latin typeface="Consolas"/>
              </a:rPr>
              <a:t> </a:t>
            </a:r>
          </a:p>
          <a:p>
            <a:pPr>
              <a:lnSpc>
                <a:spcPct val="120000"/>
              </a:lnSpc>
            </a:pPr>
            <a:r>
              <a:rPr sz="1000">
                <a:solidFill>
                  <a:srgbClr val="1C1F24"/>
                </a:solidFill>
                <a:latin typeface="Consolas"/>
              </a:rPr>
              <a:t>Wrapper pulls secrets into TF_VAR_* env</a:t>
            </a:r>
          </a:p>
          <a:p>
            <a:pPr>
              <a:lnSpc>
                <a:spcPct val="120000"/>
              </a:lnSpc>
            </a:pPr>
            <a:r>
              <a:rPr sz="1000">
                <a:solidFill>
                  <a:srgbClr val="1C1F24"/>
                </a:solidFill>
                <a:latin typeface="Consolas"/>
              </a:rPr>
              <a:t>at pipeline start. No Terraform code change.</a:t>
            </a:r>
          </a:p>
          <a:p>
            <a:pPr>
              <a:lnSpc>
                <a:spcPct val="120000"/>
              </a:lnSpc>
            </a:pPr>
            <a:r>
              <a:rPr sz="1000">
                <a:solidFill>
                  <a:srgbClr val="1C1F24"/>
                </a:solidFill>
                <a:latin typeface="Consolas"/>
              </a:rPr>
              <a:t>Same lab/prod parity, centralized audit.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4178808" y="3200400"/>
            <a:ext cx="502920" cy="365760"/>
          </a:xfrm>
          <a:prstGeom prst="rightArrow">
            <a:avLst/>
          </a:prstGeom>
          <a:solidFill>
            <a:srgbClr val="0B2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ight Arrow 21"/>
          <p:cNvSpPr/>
          <p:nvPr/>
        </p:nvSpPr>
        <p:spPr>
          <a:xfrm>
            <a:off x="7973568" y="3200400"/>
            <a:ext cx="502920" cy="365760"/>
          </a:xfrm>
          <a:prstGeom prst="rightArrow">
            <a:avLst/>
          </a:prstGeom>
          <a:solidFill>
            <a:srgbClr val="0B2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6080760"/>
            <a:ext cx="1124712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/>
            <a:r>
              <a:rPr sz="1200" b="1">
                <a:solidFill>
                  <a:srgbClr val="0B2E5C"/>
                </a:solidFill>
                <a:latin typeface="Calibri"/>
              </a:rPr>
              <a:t>The 7 TF_VAR_* names never change. Only the producer changes: shell → CI → Vault.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B2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6565392"/>
            <a:ext cx="7315200" cy="29260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ACI Redesign Strategy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20095" y="6565392"/>
            <a:ext cx="1097280" cy="29260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21 / 27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B2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45720"/>
          </a:xfrm>
          <a:prstGeom prst="rect">
            <a:avLst/>
          </a:prstGeom>
          <a:solidFill>
            <a:srgbClr val="F2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0515600" cy="5486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Local Developer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0515600" cy="3200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200" b="0">
                <a:solidFill>
                  <a:srgbClr val="CFDAEA"/>
                </a:solidFill>
                <a:latin typeface="Calibri"/>
              </a:rPr>
              <a:t>What an operator actually types, start to finish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502920" cy="768096"/>
          </a:xfrm>
          <a:prstGeom prst="rect">
            <a:avLst/>
          </a:prstGeom>
          <a:solidFill>
            <a:srgbClr val="0B2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051560"/>
            <a:ext cx="502920" cy="768096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1005840" y="1051560"/>
            <a:ext cx="6583680" cy="768096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1078992"/>
            <a:ext cx="64008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1">
                <a:solidFill>
                  <a:srgbClr val="0B2E5C"/>
                </a:solidFill>
                <a:latin typeface="Calibri"/>
              </a:rPr>
              <a:t>Enter the project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1344168"/>
            <a:ext cx="640080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900">
                <a:solidFill>
                  <a:srgbClr val="005A9C"/>
                </a:solidFill>
                <a:latin typeface="Consolas"/>
              </a:rPr>
              <a:t>cd aci-redesign/apic-vmware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892808"/>
            <a:ext cx="502920" cy="768096"/>
          </a:xfrm>
          <a:prstGeom prst="rect">
            <a:avLst/>
          </a:prstGeom>
          <a:solidFill>
            <a:srgbClr val="0B2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1892808"/>
            <a:ext cx="502920" cy="768096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05840" y="1892808"/>
            <a:ext cx="6583680" cy="768096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1920240"/>
            <a:ext cx="64008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1">
                <a:solidFill>
                  <a:srgbClr val="0B2E5C"/>
                </a:solidFill>
                <a:latin typeface="Calibri"/>
              </a:rPr>
              <a:t>Export APIC password
(hidden prompt, one per shell)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2185416"/>
            <a:ext cx="640080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900">
                <a:solidFill>
                  <a:srgbClr val="005A9C"/>
                </a:solidFill>
                <a:latin typeface="Consolas"/>
              </a:rPr>
              <a:t>source scripts/set-apic-password.sh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734056"/>
            <a:ext cx="502920" cy="768096"/>
          </a:xfrm>
          <a:prstGeom prst="rect">
            <a:avLst/>
          </a:prstGeom>
          <a:solidFill>
            <a:srgbClr val="0B2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734056"/>
            <a:ext cx="502920" cy="768096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05840" y="2734056"/>
            <a:ext cx="6583680" cy="768096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2761488"/>
            <a:ext cx="64008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1">
                <a:solidFill>
                  <a:srgbClr val="0B2E5C"/>
                </a:solidFill>
                <a:latin typeface="Calibri"/>
              </a:rPr>
              <a:t>Export strong MCP key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3026664"/>
            <a:ext cx="640080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900">
                <a:solidFill>
                  <a:srgbClr val="005A9C"/>
                </a:solidFill>
                <a:latin typeface="Consolas"/>
              </a:rPr>
              <a:t>eval "$(./scripts/generate-mcp-key.sh)"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575304"/>
            <a:ext cx="502920" cy="768096"/>
          </a:xfrm>
          <a:prstGeom prst="rect">
            <a:avLst/>
          </a:prstGeom>
          <a:solidFill>
            <a:srgbClr val="0B2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3575304"/>
            <a:ext cx="502920" cy="768096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05840" y="3575304"/>
            <a:ext cx="6583680" cy="768096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43000" y="3602736"/>
            <a:ext cx="64008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1">
                <a:solidFill>
                  <a:srgbClr val="0B2E5C"/>
                </a:solidFill>
                <a:latin typeface="Calibri"/>
              </a:rPr>
              <a:t>Export vCenter values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3000" y="3867912"/>
            <a:ext cx="640080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900">
                <a:solidFill>
                  <a:srgbClr val="005A9C"/>
                </a:solidFill>
                <a:latin typeface="Consolas"/>
              </a:rPr>
              <a:t>export TF_VAR_vcenter_hostname_ip='198.18.134.80'</a:t>
            </a:r>
          </a:p>
          <a:p>
            <a:pPr>
              <a:lnSpc>
                <a:spcPct val="110000"/>
              </a:lnSpc>
            </a:pPr>
            <a:r>
              <a:rPr sz="900">
                <a:solidFill>
                  <a:srgbClr val="005A9C"/>
                </a:solidFill>
                <a:latin typeface="Consolas"/>
              </a:rPr>
              <a:t>export TF_VAR_vcenter_datacenter='Datacenter'</a:t>
            </a:r>
          </a:p>
          <a:p>
            <a:pPr>
              <a:lnSpc>
                <a:spcPct val="110000"/>
              </a:lnSpc>
            </a:pPr>
            <a:r>
              <a:rPr sz="900">
                <a:solidFill>
                  <a:srgbClr val="005A9C"/>
                </a:solidFill>
                <a:latin typeface="Consolas"/>
              </a:rPr>
              <a:t>export TF_VAR_vcenter_username='administrator@vsphere.local'</a:t>
            </a:r>
          </a:p>
          <a:p>
            <a:pPr>
              <a:lnSpc>
                <a:spcPct val="110000"/>
              </a:lnSpc>
            </a:pPr>
            <a:r>
              <a:rPr sz="900">
                <a:solidFill>
                  <a:srgbClr val="005A9C"/>
                </a:solidFill>
                <a:latin typeface="Consolas"/>
              </a:rPr>
              <a:t>export TF_VAR_vcenter_password='&lt;single-quoted&gt;'</a:t>
            </a:r>
          </a:p>
          <a:p>
            <a:pPr>
              <a:lnSpc>
                <a:spcPct val="110000"/>
              </a:lnSpc>
            </a:pPr>
            <a:r>
              <a:rPr sz="900">
                <a:solidFill>
                  <a:srgbClr val="005A9C"/>
                </a:solidFill>
                <a:latin typeface="Consolas"/>
              </a:rPr>
              <a:t>export TF_VAR_vcenter_dvs_version='unmanaged'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416552"/>
            <a:ext cx="502920" cy="768096"/>
          </a:xfrm>
          <a:prstGeom prst="rect">
            <a:avLst/>
          </a:prstGeom>
          <a:solidFill>
            <a:srgbClr val="0B2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4416552"/>
            <a:ext cx="502920" cy="768096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05840" y="4416552"/>
            <a:ext cx="6583680" cy="768096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4443984"/>
            <a:ext cx="64008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1">
                <a:solidFill>
                  <a:srgbClr val="0B2E5C"/>
                </a:solidFill>
                <a:latin typeface="Calibri"/>
              </a:rPr>
              <a:t>Prove credentials before touching state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3000" y="4709160"/>
            <a:ext cx="640080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900">
                <a:solidFill>
                  <a:srgbClr val="005A9C"/>
                </a:solidFill>
                <a:latin typeface="Consolas"/>
              </a:rPr>
              <a:t>make auth-check     # must print HTTP 200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5257800"/>
            <a:ext cx="502920" cy="768096"/>
          </a:xfrm>
          <a:prstGeom prst="rect">
            <a:avLst/>
          </a:prstGeom>
          <a:solidFill>
            <a:srgbClr val="0B2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" y="5257800"/>
            <a:ext cx="502920" cy="768096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05840" y="5257800"/>
            <a:ext cx="6583680" cy="768096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" y="5285232"/>
            <a:ext cx="64008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1">
                <a:solidFill>
                  <a:srgbClr val="0B2E5C"/>
                </a:solidFill>
                <a:latin typeface="Calibri"/>
              </a:rPr>
              <a:t>Plan and apply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43000" y="5550408"/>
            <a:ext cx="640080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900">
                <a:solidFill>
                  <a:srgbClr val="005A9C"/>
                </a:solidFill>
                <a:latin typeface="Consolas"/>
              </a:rPr>
              <a:t>make plan            # renders VMM YAML + terraform plan</a:t>
            </a:r>
          </a:p>
          <a:p>
            <a:pPr>
              <a:lnSpc>
                <a:spcPct val="110000"/>
              </a:lnSpc>
            </a:pPr>
            <a:r>
              <a:rPr sz="900">
                <a:solidFill>
                  <a:srgbClr val="005A9C"/>
                </a:solidFill>
                <a:latin typeface="Consolas"/>
              </a:rPr>
              <a:t>make apply           # re-renders + applies plan.tfplan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863840" y="1051560"/>
            <a:ext cx="3931920" cy="2194560"/>
          </a:xfrm>
          <a:prstGeom prst="rect">
            <a:avLst/>
          </a:prstGeom>
          <a:solidFill>
            <a:srgbClr val="F4F6FA"/>
          </a:solidFill>
          <a:ln w="9525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863840" y="1051560"/>
            <a:ext cx="3931920" cy="411480"/>
          </a:xfrm>
          <a:prstGeom prst="rect">
            <a:avLst/>
          </a:prstGeom>
          <a:solidFill>
            <a:srgbClr val="005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001000" y="1051560"/>
            <a:ext cx="374904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Why each step matters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55280" y="1508760"/>
            <a:ext cx="3749040" cy="169164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>
              <a:lnSpc>
                <a:spcPct val="115000"/>
              </a:lnSpc>
            </a:pPr>
            <a:r>
              <a:rPr sz="1100" b="0">
                <a:solidFill>
                  <a:srgbClr val="1C1F24"/>
                </a:solidFill>
                <a:latin typeface="Calibri"/>
              </a:rPr>
              <a:t>•  Steps 1-4 populate the 7 TF_VAR_* the Makefile checks.</a:t>
            </a:r>
          </a:p>
          <a:p>
            <a:pPr>
              <a:lnSpc>
                <a:spcPct val="115000"/>
              </a:lnSpc>
            </a:pPr>
            <a:r>
              <a:rPr sz="1100" b="0">
                <a:solidFill>
                  <a:srgbClr val="1C1F24"/>
                </a:solidFill>
                <a:latin typeface="Calibri"/>
              </a:rPr>
              <a:t>•  Step 5 isolates credential bugs from Terraform bugs.</a:t>
            </a:r>
          </a:p>
          <a:p>
            <a:pPr>
              <a:lnSpc>
                <a:spcPct val="115000"/>
              </a:lnSpc>
            </a:pPr>
            <a:r>
              <a:rPr sz="1100" b="0">
                <a:solidFill>
                  <a:srgbClr val="1C1F24"/>
                </a:solidFill>
                <a:latin typeface="Calibri"/>
              </a:rPr>
              <a:t>•  Steps 6 renders YAML + runs terraform; make fails fast if any TF_VAR_* is unset.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863840" y="3383280"/>
            <a:ext cx="3931920" cy="1828800"/>
          </a:xfrm>
          <a:prstGeom prst="rect">
            <a:avLst/>
          </a:prstGeom>
          <a:solidFill>
            <a:srgbClr val="F4F6FA"/>
          </a:solidFill>
          <a:ln w="9525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863840" y="3383280"/>
            <a:ext cx="3931920" cy="411480"/>
          </a:xfrm>
          <a:prstGeom prst="rect">
            <a:avLst/>
          </a:prstGeom>
          <a:solidFill>
            <a:srgbClr val="F2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001000" y="3383280"/>
            <a:ext cx="374904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Env vars don't survive a new terminal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955280" y="3840480"/>
            <a:ext cx="3749040" cy="13258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>
              <a:lnSpc>
                <a:spcPct val="115000"/>
              </a:lnSpc>
            </a:pPr>
            <a:r>
              <a:rPr sz="1100" b="0">
                <a:solidFill>
                  <a:srgbClr val="1C1F24"/>
                </a:solidFill>
                <a:latin typeface="Calibri"/>
              </a:rPr>
              <a:t>•  Every new shell repeats steps 2-4.</a:t>
            </a:r>
          </a:p>
          <a:p>
            <a:pPr>
              <a:lnSpc>
                <a:spcPct val="115000"/>
              </a:lnSpc>
            </a:pPr>
            <a:r>
              <a:rPr sz="1100" b="0">
                <a:solidFill>
                  <a:srgbClr val="1C1F24"/>
                </a:solidFill>
                <a:latin typeface="Calibri"/>
              </a:rPr>
              <a:t>•  Use one terminal per session to avoid drift.</a:t>
            </a:r>
          </a:p>
          <a:p>
            <a:pPr>
              <a:lnSpc>
                <a:spcPct val="115000"/>
              </a:lnSpc>
            </a:pPr>
            <a:r>
              <a:rPr sz="1100" b="0">
                <a:solidFill>
                  <a:srgbClr val="1C1F24"/>
                </a:solidFill>
                <a:latin typeface="Calibri"/>
              </a:rPr>
              <a:t>•  set-apic-password.sh must be sourced, not executed.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863840" y="5303520"/>
            <a:ext cx="3931920" cy="1051560"/>
          </a:xfrm>
          <a:prstGeom prst="rect">
            <a:avLst/>
          </a:prstGeom>
          <a:solidFill>
            <a:srgbClr val="F4F6FA"/>
          </a:solidFill>
          <a:ln w="9525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863840" y="5303520"/>
            <a:ext cx="3931920" cy="411480"/>
          </a:xfrm>
          <a:prstGeom prst="rect">
            <a:avLst/>
          </a:prstGeom>
          <a:solidFill>
            <a:srgbClr val="1D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001000" y="5303520"/>
            <a:ext cx="374904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First-time machine setup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955280" y="5760720"/>
            <a:ext cx="3749040" cy="54864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>
              <a:lnSpc>
                <a:spcPct val="115000"/>
              </a:lnSpc>
            </a:pPr>
            <a:r>
              <a:rPr sz="1100" b="0">
                <a:solidFill>
                  <a:srgbClr val="1C1F24"/>
                </a:solidFill>
                <a:latin typeface="Calibri"/>
              </a:rPr>
              <a:t>•  make init once per checkout (downloads providers).</a:t>
            </a:r>
          </a:p>
          <a:p>
            <a:pPr>
              <a:lnSpc>
                <a:spcPct val="115000"/>
              </a:lnSpc>
            </a:pPr>
            <a:r>
              <a:rPr sz="1100" b="0">
                <a:solidFill>
                  <a:srgbClr val="1C1F24"/>
                </a:solidFill>
                <a:latin typeface="Calibri"/>
              </a:rPr>
              <a:t>•  Details: aci-redesign/README.md → Getting Started.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B2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65760" y="6565392"/>
            <a:ext cx="7315200" cy="29260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ACI Redesign Strategy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820095" y="6565392"/>
            <a:ext cx="1097280" cy="29260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22 / 27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B2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45720"/>
          </a:xfrm>
          <a:prstGeom prst="rect">
            <a:avLst/>
          </a:prstGeom>
          <a:solidFill>
            <a:srgbClr val="F2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0515600" cy="5486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CI/CD Pipeline (GitLab)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0515600" cy="3200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200" b="0">
                <a:solidFill>
                  <a:srgbClr val="CFDAEA"/>
                </a:solidFill>
                <a:latin typeface="Calibri"/>
              </a:rPr>
              <a:t>Four stages; same TF_VAR_* names as local dev, sourced from masked CI variables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188720"/>
            <a:ext cx="2743200" cy="3840480"/>
          </a:xfrm>
          <a:prstGeom prst="rect">
            <a:avLst/>
          </a:prstGeom>
          <a:solidFill>
            <a:srgbClr val="F4F6FA"/>
          </a:solidFill>
          <a:ln w="9525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188720"/>
            <a:ext cx="2743200" cy="502920"/>
          </a:xfrm>
          <a:prstGeom prst="rect">
            <a:avLst/>
          </a:prstGeom>
          <a:solidFill>
            <a:srgbClr val="005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2743200" cy="5029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validate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737360"/>
            <a:ext cx="27432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/>
            <a:r>
              <a:rPr sz="1100" b="1">
                <a:solidFill>
                  <a:srgbClr val="005A9C"/>
                </a:solidFill>
                <a:latin typeface="Calibri"/>
              </a:rPr>
              <a:t>on every push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103120"/>
            <a:ext cx="2468880" cy="283464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>
              <a:lnSpc>
                <a:spcPct val="120000"/>
              </a:lnSpc>
            </a:pPr>
            <a:r>
              <a:rPr sz="1000" b="0">
                <a:solidFill>
                  <a:srgbClr val="1C1F24"/>
                </a:solidFill>
                <a:latin typeface="Calibri"/>
              </a:rPr>
              <a:t>•  ci-secret-scan.sh (fails pipeline on plaintext secrets)</a:t>
            </a:r>
          </a:p>
          <a:p>
            <a:pPr>
              <a:lnSpc>
                <a:spcPct val="120000"/>
              </a:lnSpc>
            </a:pPr>
            <a:r>
              <a:rPr sz="1000" b="0">
                <a:solidFill>
                  <a:srgbClr val="1C1F24"/>
                </a:solidFill>
                <a:latin typeface="Calibri"/>
              </a:rPr>
              <a:t>•  render-vmm-yaml.sh</a:t>
            </a:r>
          </a:p>
          <a:p>
            <a:pPr>
              <a:lnSpc>
                <a:spcPct val="120000"/>
              </a:lnSpc>
            </a:pPr>
            <a:r>
              <a:rPr sz="1000" b="0">
                <a:solidFill>
                  <a:srgbClr val="1C1F24"/>
                </a:solidFill>
                <a:latin typeface="Calibri"/>
              </a:rPr>
              <a:t>•  terraform fmt -check -recursive</a:t>
            </a:r>
          </a:p>
          <a:p>
            <a:pPr>
              <a:lnSpc>
                <a:spcPct val="120000"/>
              </a:lnSpc>
            </a:pPr>
            <a:r>
              <a:rPr sz="1000" b="0">
                <a:solidFill>
                  <a:srgbClr val="1C1F24"/>
                </a:solidFill>
                <a:latin typeface="Calibri"/>
              </a:rPr>
              <a:t>•  terraform init -backend=false</a:t>
            </a:r>
          </a:p>
          <a:p>
            <a:pPr>
              <a:lnSpc>
                <a:spcPct val="120000"/>
              </a:lnSpc>
            </a:pPr>
            <a:r>
              <a:rPr sz="1000" b="0">
                <a:solidFill>
                  <a:srgbClr val="1C1F24"/>
                </a:solidFill>
                <a:latin typeface="Calibri"/>
              </a:rPr>
              <a:t>•  terraform validate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209544" y="2880360"/>
            <a:ext cx="73152" cy="365760"/>
          </a:xfrm>
          <a:prstGeom prst="rightArrow">
            <a:avLst/>
          </a:prstGeom>
          <a:solidFill>
            <a:srgbClr val="0B2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91840" y="1188720"/>
            <a:ext cx="2743200" cy="3840480"/>
          </a:xfrm>
          <a:prstGeom prst="rect">
            <a:avLst/>
          </a:prstGeom>
          <a:solidFill>
            <a:srgbClr val="F4F6FA"/>
          </a:solidFill>
          <a:ln w="9525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91840" y="1188720"/>
            <a:ext cx="2743200" cy="502920"/>
          </a:xfrm>
          <a:prstGeom prst="rect">
            <a:avLst/>
          </a:prstGeom>
          <a:solidFill>
            <a:srgbClr val="F2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91840" y="1188720"/>
            <a:ext cx="2743200" cy="5029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plan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40" y="1737360"/>
            <a:ext cx="27432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/>
            <a:r>
              <a:rPr sz="1100" b="1">
                <a:solidFill>
                  <a:srgbClr val="F29900"/>
                </a:solidFill>
                <a:latin typeface="Calibri"/>
              </a:rPr>
              <a:t>on every push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9000" y="2103120"/>
            <a:ext cx="2468880" cy="283464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>
              <a:lnSpc>
                <a:spcPct val="120000"/>
              </a:lnSpc>
            </a:pPr>
            <a:r>
              <a:rPr sz="1000" b="0">
                <a:solidFill>
                  <a:srgbClr val="1C1F24"/>
                </a:solidFill>
                <a:latin typeface="Calibri"/>
              </a:rPr>
              <a:t>•  render-vmm-yaml.sh</a:t>
            </a:r>
          </a:p>
          <a:p>
            <a:pPr>
              <a:lnSpc>
                <a:spcPct val="120000"/>
              </a:lnSpc>
            </a:pPr>
            <a:r>
              <a:rPr sz="1000" b="0">
                <a:solidFill>
                  <a:srgbClr val="1C1F24"/>
                </a:solidFill>
                <a:latin typeface="Calibri"/>
              </a:rPr>
              <a:t>•  terraform init + terraform plan -out=plan.tfplan</a:t>
            </a:r>
          </a:p>
          <a:p>
            <a:pPr>
              <a:lnSpc>
                <a:spcPct val="120000"/>
              </a:lnSpc>
            </a:pPr>
            <a:r>
              <a:rPr sz="1000" b="0">
                <a:solidFill>
                  <a:srgbClr val="1C1F24"/>
                </a:solidFill>
                <a:latin typeface="Calibri"/>
              </a:rPr>
              <a:t>•  Artifact: plan.tfplan (30 days)</a:t>
            </a:r>
          </a:p>
          <a:p>
            <a:pPr>
              <a:lnSpc>
                <a:spcPct val="120000"/>
              </a:lnSpc>
            </a:pPr>
            <a:r>
              <a:rPr sz="1000" b="0">
                <a:solidFill>
                  <a:srgbClr val="1C1F24"/>
                </a:solidFill>
                <a:latin typeface="Calibri"/>
              </a:rPr>
              <a:t>•  Needs all 7 TF_VAR_* masked CI variables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6044184" y="2880360"/>
            <a:ext cx="73152" cy="365760"/>
          </a:xfrm>
          <a:prstGeom prst="rightArrow">
            <a:avLst/>
          </a:prstGeom>
          <a:solidFill>
            <a:srgbClr val="0B2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26480" y="1188720"/>
            <a:ext cx="2743200" cy="3840480"/>
          </a:xfrm>
          <a:prstGeom prst="rect">
            <a:avLst/>
          </a:prstGeom>
          <a:solidFill>
            <a:srgbClr val="F4F6FA"/>
          </a:solidFill>
          <a:ln w="9525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1188720"/>
            <a:ext cx="2743200" cy="502920"/>
          </a:xfrm>
          <a:prstGeom prst="rect">
            <a:avLst/>
          </a:prstGeom>
          <a:solidFill>
            <a:srgbClr val="1D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26480" y="1188720"/>
            <a:ext cx="2743200" cy="5029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deploy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80" y="1737360"/>
            <a:ext cx="27432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/>
            <a:r>
              <a:rPr sz="1100" b="1">
                <a:solidFill>
                  <a:srgbClr val="1D8A3E"/>
                </a:solidFill>
                <a:latin typeface="Calibri"/>
              </a:rPr>
              <a:t>manual gate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63640" y="2103120"/>
            <a:ext cx="2468880" cy="283464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>
              <a:lnSpc>
                <a:spcPct val="120000"/>
              </a:lnSpc>
            </a:pPr>
            <a:r>
              <a:rPr sz="1000" b="0">
                <a:solidFill>
                  <a:srgbClr val="1C1F24"/>
                </a:solidFill>
                <a:latin typeface="Calibri"/>
              </a:rPr>
              <a:t>•  terraform apply plan.tfplan</a:t>
            </a:r>
          </a:p>
          <a:p>
            <a:pPr>
              <a:lnSpc>
                <a:spcPct val="120000"/>
              </a:lnSpc>
            </a:pPr>
            <a:r>
              <a:rPr sz="1000" b="0">
                <a:solidFill>
                  <a:srgbClr val="1C1F24"/>
                </a:solidFill>
                <a:latin typeface="Calibri"/>
              </a:rPr>
              <a:t>•  Runs only when a reviewer clicks the play button</a:t>
            </a:r>
          </a:p>
          <a:p>
            <a:pPr>
              <a:lnSpc>
                <a:spcPct val="120000"/>
              </a:lnSpc>
            </a:pPr>
            <a:r>
              <a:rPr sz="1000" b="0">
                <a:solidFill>
                  <a:srgbClr val="1C1F24"/>
                </a:solidFill>
                <a:latin typeface="Calibri"/>
              </a:rPr>
              <a:t>•  Same TF_VAR_* as plan; no surprise credentials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8878824" y="2880360"/>
            <a:ext cx="73152" cy="365760"/>
          </a:xfrm>
          <a:prstGeom prst="rightArrow">
            <a:avLst/>
          </a:prstGeom>
          <a:solidFill>
            <a:srgbClr val="0B2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961120" y="1188720"/>
            <a:ext cx="2743200" cy="3840480"/>
          </a:xfrm>
          <a:prstGeom prst="rect">
            <a:avLst/>
          </a:prstGeom>
          <a:solidFill>
            <a:srgbClr val="F4F6FA"/>
          </a:solidFill>
          <a:ln w="9525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61120" y="1188720"/>
            <a:ext cx="2743200" cy="5029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61120" y="1188720"/>
            <a:ext cx="2743200" cy="5029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destroy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61120" y="1737360"/>
            <a:ext cx="27432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/>
            <a:r>
              <a:rPr sz="1100" b="1">
                <a:solidFill>
                  <a:srgbClr val="C0392B"/>
                </a:solidFill>
                <a:latin typeface="Calibri"/>
              </a:rPr>
              <a:t>manual gate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98280" y="2103120"/>
            <a:ext cx="2468880" cy="283464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>
              <a:lnSpc>
                <a:spcPct val="120000"/>
              </a:lnSpc>
            </a:pPr>
            <a:r>
              <a:rPr sz="1000" b="0">
                <a:solidFill>
                  <a:srgbClr val="1C1F24"/>
                </a:solidFill>
                <a:latin typeface="Calibri"/>
              </a:rPr>
              <a:t>•  terraform plan -destroy + terraform apply</a:t>
            </a:r>
          </a:p>
          <a:p>
            <a:pPr>
              <a:lnSpc>
                <a:spcPct val="120000"/>
              </a:lnSpc>
            </a:pPr>
            <a:r>
              <a:rPr sz="1000" b="0">
                <a:solidFill>
                  <a:srgbClr val="1C1F24"/>
                </a:solidFill>
                <a:latin typeface="Calibri"/>
              </a:rPr>
              <a:t>•  Never auto-triggered</a:t>
            </a:r>
          </a:p>
          <a:p>
            <a:pPr>
              <a:lnSpc>
                <a:spcPct val="120000"/>
              </a:lnSpc>
            </a:pPr>
            <a:r>
              <a:rPr sz="1000" b="0">
                <a:solidFill>
                  <a:srgbClr val="1C1F24"/>
                </a:solidFill>
                <a:latin typeface="Calibri"/>
              </a:rPr>
              <a:t>•  Used for tearing down lab experiments cleanly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5257800"/>
            <a:ext cx="11247120" cy="1143000"/>
          </a:xfrm>
          <a:prstGeom prst="rect">
            <a:avLst/>
          </a:prstGeom>
          <a:solidFill>
            <a:srgbClr val="F4F6FA"/>
          </a:solidFill>
          <a:ln w="9525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57200" y="5257800"/>
            <a:ext cx="137160" cy="1143000"/>
          </a:xfrm>
          <a:prstGeom prst="rect">
            <a:avLst/>
          </a:prstGeom>
          <a:solidFill>
            <a:srgbClr val="0B2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5285232"/>
            <a:ext cx="109728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>
                <a:solidFill>
                  <a:srgbClr val="0B2E5C"/>
                </a:solidFill>
                <a:latin typeface="Calibri"/>
              </a:rPr>
              <a:t>GitLab CI variable → TF_VAR_* mapping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5623560"/>
            <a:ext cx="10972800" cy="7772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1C1F24"/>
                </a:solidFill>
                <a:latin typeface="Calibri"/>
              </a:rPr>
              <a:t>APIC_PASSWORD → TF_VAR_apic_password · MCP_KEY → TF_VAR_mcp_key · VCENTER_HOSTNAME_IP → TF_VAR_vcenter_hostname_ip · VCENTER_DATACENTER → TF_VAR_vcenter_datacenter · VCENTER_USERNAME → TF_VAR_vcenter_username · VCENTER_PASSWORD → TF_VAR_vcenter_password · VCENTER_DVS_VERSION → TF_VAR_vcenter_dvs_version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B2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6565392"/>
            <a:ext cx="7315200" cy="29260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ACI Redesign Strategy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20095" y="6565392"/>
            <a:ext cx="1097280" cy="29260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23 / 27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B2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45720"/>
          </a:xfrm>
          <a:prstGeom prst="rect">
            <a:avLst/>
          </a:prstGeom>
          <a:solidFill>
            <a:srgbClr val="F2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0515600" cy="5486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Operations &amp; Troubleshooting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0515600" cy="3200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200" b="0">
                <a:solidFill>
                  <a:srgbClr val="CFDAEA"/>
                </a:solidFill>
                <a:latin typeface="Calibri"/>
              </a:rPr>
              <a:t>Small toolset; each command answers one specific question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51560"/>
            <a:ext cx="54864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400" b="1">
                <a:solidFill>
                  <a:srgbClr val="0B2E5C"/>
                </a:solidFill>
                <a:latin typeface="Calibri"/>
              </a:rPr>
              <a:t>make auth-check  →  interpret the HTTP code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63040"/>
            <a:ext cx="548640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463040"/>
            <a:ext cx="137160" cy="960120"/>
          </a:xfrm>
          <a:prstGeom prst="rect">
            <a:avLst/>
          </a:prstGeom>
          <a:solidFill>
            <a:srgbClr val="1D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508760"/>
            <a:ext cx="146304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400" b="1">
                <a:solidFill>
                  <a:srgbClr val="1D8A3E"/>
                </a:solidFill>
                <a:latin typeface="Calibri"/>
              </a:rPr>
              <a:t>HTTP 200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48840" y="1508760"/>
            <a:ext cx="36576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1">
                <a:solidFill>
                  <a:srgbClr val="0B2E5C"/>
                </a:solidFill>
                <a:latin typeface="Calibri"/>
              </a:rPr>
              <a:t>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828800"/>
            <a:ext cx="5120640" cy="5486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1C1F24"/>
                </a:solidFill>
                <a:latin typeface="Calibri"/>
              </a:rPr>
              <a:t>Credentials accepted. Proceed with make plan.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514600"/>
            <a:ext cx="548640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2514600"/>
            <a:ext cx="137160" cy="9601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2560320"/>
            <a:ext cx="146304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400" b="1">
                <a:solidFill>
                  <a:srgbClr val="C0392B"/>
                </a:solidFill>
                <a:latin typeface="Calibri"/>
              </a:rPr>
              <a:t>HTTP 401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48840" y="2560320"/>
            <a:ext cx="36576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1">
                <a:solidFill>
                  <a:srgbClr val="0B2E5C"/>
                </a:solidFill>
                <a:latin typeface="Calibri"/>
              </a:rPr>
              <a:t>Bad credentials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880360"/>
            <a:ext cx="5120640" cy="5486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1C1F24"/>
                </a:solidFill>
                <a:latin typeface="Calibri"/>
              </a:rPr>
              <a:t>APIC rejected username/password. Re-source set-apic-password.sh; run diagnose-apic-auth.sh to compare env-var password vs freshly-typed.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566160"/>
            <a:ext cx="548640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3566160"/>
            <a:ext cx="137160" cy="960120"/>
          </a:xfrm>
          <a:prstGeom prst="rect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611880"/>
            <a:ext cx="146304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400" b="1">
                <a:solidFill>
                  <a:srgbClr val="E8A200"/>
                </a:solidFill>
                <a:latin typeface="Calibri"/>
              </a:rPr>
              <a:t>HTTP 403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48840" y="3611880"/>
            <a:ext cx="36576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1">
                <a:solidFill>
                  <a:srgbClr val="0B2E5C"/>
                </a:solidFill>
                <a:latin typeface="Calibri"/>
              </a:rPr>
              <a:t>Account locked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3931920"/>
            <a:ext cx="5120640" cy="5486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1C1F24"/>
                </a:solidFill>
                <a:latin typeface="Calibri"/>
              </a:rPr>
              <a:t>Too many failures. Wait 5-10 min, or unlock via another admin (APIC → Admin → AAA → Security → Users).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617720"/>
            <a:ext cx="548640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4617720"/>
            <a:ext cx="137160" cy="9601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4663440"/>
            <a:ext cx="146304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400" b="1">
                <a:solidFill>
                  <a:srgbClr val="C0392B"/>
                </a:solidFill>
                <a:latin typeface="Calibri"/>
              </a:rPr>
              <a:t>HTTP 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48840" y="4663440"/>
            <a:ext cx="36576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1">
                <a:solidFill>
                  <a:srgbClr val="0B2E5C"/>
                </a:solidFill>
                <a:latin typeface="Calibri"/>
              </a:rPr>
              <a:t>No response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4983480"/>
            <a:ext cx="5120640" cy="5486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1C1F24"/>
                </a:solidFill>
                <a:latin typeface="Calibri"/>
              </a:rPr>
              <a:t>APIC unreachable / TLS failure / wrong URL. Test: curl -k https://&lt;apic&gt;/api/aaaLogin.json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17920" y="1051560"/>
            <a:ext cx="5577840" cy="2560320"/>
          </a:xfrm>
          <a:prstGeom prst="rect">
            <a:avLst/>
          </a:prstGeom>
          <a:solidFill>
            <a:srgbClr val="F4F6FA"/>
          </a:solidFill>
          <a:ln w="9525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17920" y="1051560"/>
            <a:ext cx="5577840" cy="411480"/>
          </a:xfrm>
          <a:prstGeom prst="rect">
            <a:avLst/>
          </a:prstGeom>
          <a:solidFill>
            <a:srgbClr val="005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5080" y="1051560"/>
            <a:ext cx="539496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Command reference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9360" y="1508760"/>
            <a:ext cx="5394960" cy="20574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>
              <a:lnSpc>
                <a:spcPct val="115000"/>
              </a:lnSpc>
            </a:pPr>
            <a:r>
              <a:rPr sz="1100" b="0">
                <a:solidFill>
                  <a:srgbClr val="1C1F24"/>
                </a:solidFill>
                <a:latin typeface="Calibri"/>
              </a:rPr>
              <a:t>•  make auth-check        credential probe (no terraform)</a:t>
            </a:r>
          </a:p>
          <a:p>
            <a:pPr>
              <a:lnSpc>
                <a:spcPct val="115000"/>
              </a:lnSpc>
            </a:pPr>
            <a:r>
              <a:rPr sz="1100" b="0">
                <a:solidFill>
                  <a:srgbClr val="1C1F24"/>
                </a:solidFill>
                <a:latin typeface="Calibri"/>
              </a:rPr>
              <a:t>•  ./scripts/diagnose-apic-auth.sh    env-var vs typed comparison</a:t>
            </a:r>
          </a:p>
          <a:p>
            <a:pPr>
              <a:lnSpc>
                <a:spcPct val="115000"/>
              </a:lnSpc>
            </a:pPr>
            <a:r>
              <a:rPr sz="1100" b="0">
                <a:solidFill>
                  <a:srgbClr val="1C1F24"/>
                </a:solidFill>
                <a:latin typeface="Calibri"/>
              </a:rPr>
              <a:t>•  source scripts/set-apic-password.sh   refresh stale password</a:t>
            </a:r>
          </a:p>
          <a:p>
            <a:pPr>
              <a:lnSpc>
                <a:spcPct val="115000"/>
              </a:lnSpc>
            </a:pPr>
            <a:r>
              <a:rPr sz="1100" b="0">
                <a:solidFill>
                  <a:srgbClr val="1C1F24"/>
                </a:solidFill>
                <a:latin typeface="Calibri"/>
              </a:rPr>
              <a:t>•  make render            re-generate VMM YAML only</a:t>
            </a:r>
          </a:p>
          <a:p>
            <a:pPr>
              <a:lnSpc>
                <a:spcPct val="115000"/>
              </a:lnSpc>
            </a:pPr>
            <a:r>
              <a:rPr sz="1100" b="0">
                <a:solidFill>
                  <a:srgbClr val="1C1F24"/>
                </a:solidFill>
                <a:latin typeface="Calibri"/>
              </a:rPr>
              <a:t>•  make plan / apply      normal change cycle</a:t>
            </a:r>
          </a:p>
          <a:p>
            <a:pPr>
              <a:lnSpc>
                <a:spcPct val="115000"/>
              </a:lnSpc>
            </a:pPr>
            <a:r>
              <a:rPr sz="1100" b="0">
                <a:solidFill>
                  <a:srgbClr val="1C1F24"/>
                </a:solidFill>
                <a:latin typeface="Calibri"/>
              </a:rPr>
              <a:t>•  make destroy           tear everything down</a:t>
            </a:r>
          </a:p>
          <a:p>
            <a:pPr>
              <a:lnSpc>
                <a:spcPct val="115000"/>
              </a:lnSpc>
            </a:pPr>
            <a:r>
              <a:rPr sz="1100" b="0">
                <a:solidFill>
                  <a:srgbClr val="1C1F24"/>
                </a:solidFill>
                <a:latin typeface="Calibri"/>
              </a:rPr>
              <a:t>•  make clean             wipe plan + rendered YAML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17920" y="3703320"/>
            <a:ext cx="5577840" cy="2651760"/>
          </a:xfrm>
          <a:prstGeom prst="rect">
            <a:avLst/>
          </a:prstGeom>
          <a:solidFill>
            <a:srgbClr val="F4F6FA"/>
          </a:solidFill>
          <a:ln w="9525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217920" y="3703320"/>
            <a:ext cx="5577840" cy="41148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55080" y="3703320"/>
            <a:ext cx="539496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Failure modes &amp; fix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09360" y="4160520"/>
            <a:ext cx="5394960" cy="214884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>
              <a:lnSpc>
                <a:spcPct val="115000"/>
              </a:lnSpc>
            </a:pPr>
            <a:r>
              <a:rPr sz="1100" b="0">
                <a:solidFill>
                  <a:srgbClr val="1C1F24"/>
                </a:solidFill>
                <a:latin typeface="Calibri"/>
              </a:rPr>
              <a:t>•  terraform plan shows "Invalid count" → rendered VMM YAML missing; run make render.</a:t>
            </a:r>
          </a:p>
          <a:p>
            <a:pPr>
              <a:lnSpc>
                <a:spcPct val="115000"/>
              </a:lnSpc>
            </a:pPr>
            <a:r>
              <a:rPr sz="1100" b="0">
                <a:solidFill>
                  <a:srgbClr val="1C1F24"/>
                </a:solidFill>
                <a:latin typeface="Calibri"/>
              </a:rPr>
              <a:t>•  "Authentication details not provided" → TF_VAR_apic_password unset; source set-apic-password.sh.</a:t>
            </a:r>
          </a:p>
          <a:p>
            <a:pPr>
              <a:lnSpc>
                <a:spcPct val="115000"/>
              </a:lnSpc>
            </a:pPr>
            <a:r>
              <a:rPr sz="1100" b="0">
                <a:solidFill>
                  <a:srgbClr val="1C1F24"/>
                </a:solidFill>
                <a:latin typeface="Calibri"/>
              </a:rPr>
              <a:t>•  APIC 401 even after re-export → you exported in a DIFFERENT shell than the one running make. Same terminal only.</a:t>
            </a:r>
          </a:p>
          <a:p>
            <a:pPr>
              <a:lnSpc>
                <a:spcPct val="115000"/>
              </a:lnSpc>
            </a:pPr>
            <a:r>
              <a:rPr sz="1100" b="0">
                <a:solidFill>
                  <a:srgbClr val="1C1F24"/>
                </a:solidFill>
                <a:latin typeface="Calibri"/>
              </a:rPr>
              <a:t>•  "Password is required for MCP Instance Policy" → TF_VAR_mcp_key missing or &lt; 8 chars; regenerate with generate-mcp-key.sh.</a:t>
            </a:r>
          </a:p>
          <a:p>
            <a:pPr>
              <a:lnSpc>
                <a:spcPct val="115000"/>
              </a:lnSpc>
            </a:pPr>
            <a:r>
              <a:rPr sz="1100" b="0">
                <a:solidFill>
                  <a:srgbClr val="1C1F24"/>
                </a:solidFill>
                <a:latin typeface="Calibri"/>
              </a:rPr>
              <a:t>•  CI secret-scan failure → plaintext password committed to tracked YAML or .tfvars; remove and force-rotate the credential.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B2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6565392"/>
            <a:ext cx="7315200" cy="29260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ACI Redesign Strategy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820095" y="6565392"/>
            <a:ext cx="1097280" cy="29260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24 / 27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B2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45720"/>
          </a:xfrm>
          <a:prstGeom prst="rect">
            <a:avLst/>
          </a:prstGeom>
          <a:solidFill>
            <a:srgbClr val="F2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0515600" cy="5486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Two-Root Architecture: APIC-direct + NDO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0515600" cy="3200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200" b="0">
                <a:solidFill>
                  <a:srgbClr val="CFDAEA"/>
                </a:solidFill>
                <a:latin typeface="Calibri"/>
              </a:rPr>
              <a:t>Each control plane drives the layer it actually owns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97280"/>
            <a:ext cx="5532120" cy="4754880"/>
          </a:xfrm>
          <a:prstGeom prst="rect">
            <a:avLst/>
          </a:prstGeom>
          <a:solidFill>
            <a:srgbClr val="F4F6FA"/>
          </a:solidFill>
          <a:ln w="9525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097280"/>
            <a:ext cx="5532120" cy="502920"/>
          </a:xfrm>
          <a:prstGeom prst="rect">
            <a:avLst/>
          </a:prstGeom>
          <a:solidFill>
            <a:srgbClr val="005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5532120" cy="5029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apic-vmware/  -  APIC-direct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737360"/>
            <a:ext cx="5074920" cy="397764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>
              <a:lnSpc>
                <a:spcPct val="115000"/>
              </a:lnSpc>
            </a:pPr>
            <a:r>
              <a:rPr sz="1200" b="0">
                <a:solidFill>
                  <a:srgbClr val="1C1F24"/>
                </a:solidFill>
                <a:latin typeface="Calibri"/>
              </a:rPr>
              <a:t>•  Two providers via aliases: aci (AEDCG) + aci.aedck (AEDCK).</a:t>
            </a:r>
          </a:p>
          <a:p>
            <a:pPr>
              <a:lnSpc>
                <a:spcPct val="115000"/>
              </a:lnSpc>
            </a:pPr>
            <a:r>
              <a:rPr sz="1200" b="0">
                <a:solidFill>
                  <a:srgbClr val="1C1F24"/>
                </a:solidFill>
                <a:latin typeface="Calibri"/>
              </a:rPr>
              <a:t>•  Owns access/fabric policies (leaf profiles, AAEP, VPC).</a:t>
            </a:r>
          </a:p>
          <a:p>
            <a:pPr>
              <a:lnSpc>
                <a:spcPct val="115000"/>
              </a:lnSpc>
            </a:pPr>
            <a:r>
              <a:rPr sz="1200" b="0">
                <a:solidFill>
                  <a:srgbClr val="1C1F24"/>
                </a:solidFill>
                <a:latin typeface="Calibri"/>
              </a:rPr>
              <a:t>•  Owns MCP Instance Policy per fabric (sensitive key).</a:t>
            </a:r>
          </a:p>
          <a:p>
            <a:pPr>
              <a:lnSpc>
                <a:spcPct val="115000"/>
              </a:lnSpc>
            </a:pPr>
            <a:r>
              <a:rPr sz="1200" b="0">
                <a:solidFill>
                  <a:srgbClr val="1C1F24"/>
                </a:solidFill>
                <a:latin typeface="Calibri"/>
              </a:rPr>
              <a:t>•  Owns VMware VMM domain (vmmDomP) per fabric.</a:t>
            </a:r>
          </a:p>
          <a:p>
            <a:pPr>
              <a:lnSpc>
                <a:spcPct val="115000"/>
              </a:lnSpc>
            </a:pPr>
            <a:r>
              <a:rPr sz="1200" b="0">
                <a:solidFill>
                  <a:srgbClr val="1C1F24"/>
                </a:solidFill>
                <a:latin typeface="Calibri"/>
              </a:rPr>
              <a:t>•  manage_tenants = false  -  does NOT create tenant content.</a:t>
            </a:r>
          </a:p>
          <a:p>
            <a:pPr lvl="1">
              <a:lnSpc>
                <a:spcPct val="115000"/>
              </a:lnSpc>
            </a:pPr>
            <a:r>
              <a:rPr sz="1200">
                <a:solidFill>
                  <a:srgbClr val="1C1F24"/>
                </a:solidFill>
                <a:latin typeface="Calibri"/>
              </a:rPr>
              <a:t>◦  Why APIC-direct: leaf profiles and the VMM domain object are per-fabric and not modelable in NDO.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097280"/>
            <a:ext cx="5532120" cy="4754880"/>
          </a:xfrm>
          <a:prstGeom prst="rect">
            <a:avLst/>
          </a:prstGeom>
          <a:solidFill>
            <a:srgbClr val="F4F6FA"/>
          </a:solidFill>
          <a:ln w="9525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0" y="1097280"/>
            <a:ext cx="5532120" cy="502920"/>
          </a:xfrm>
          <a:prstGeom prst="rect">
            <a:avLst/>
          </a:prstGeom>
          <a:solidFill>
            <a:srgbClr val="0B2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0" y="1097280"/>
            <a:ext cx="5532120" cy="5029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ndo/  -  NDO-managed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1737360"/>
            <a:ext cx="5074920" cy="397764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>
              <a:lnSpc>
                <a:spcPct val="115000"/>
              </a:lnSpc>
            </a:pPr>
            <a:r>
              <a:rPr sz="1200" b="0">
                <a:solidFill>
                  <a:srgbClr val="1C1F24"/>
                </a:solidFill>
                <a:latin typeface="Calibri"/>
              </a:rPr>
              <a:t>•  Single mso provider (platform=nd, login_domain=local).</a:t>
            </a:r>
          </a:p>
          <a:p>
            <a:pPr>
              <a:lnSpc>
                <a:spcPct val="115000"/>
              </a:lnSpc>
            </a:pPr>
            <a:r>
              <a:rPr sz="1200" b="0">
                <a:solidFill>
                  <a:srgbClr val="1C1F24"/>
                </a:solidFill>
                <a:latin typeface="Calibri"/>
              </a:rPr>
              <a:t>•  Owns schema AEDCE-IPv4 + template Tenant_EUR_IPv4.</a:t>
            </a:r>
          </a:p>
          <a:p>
            <a:pPr>
              <a:lnSpc>
                <a:spcPct val="115000"/>
              </a:lnSpc>
            </a:pPr>
            <a:r>
              <a:rPr sz="1200" b="0">
                <a:solidFill>
                  <a:srgbClr val="1C1F24"/>
                </a:solidFill>
                <a:latin typeface="Calibri"/>
              </a:rPr>
              <a:t>•  Owns 2 VRFs (vzAny), 2 contracts, 39 BDs, 2 ANPs, 39 EPGs.</a:t>
            </a:r>
          </a:p>
          <a:p>
            <a:pPr>
              <a:lnSpc>
                <a:spcPct val="115000"/>
              </a:lnSpc>
            </a:pPr>
            <a:r>
              <a:rPr sz="1200" b="0">
                <a:solidFill>
                  <a:srgbClr val="1C1F24"/>
                </a:solidFill>
                <a:latin typeface="Calibri"/>
              </a:rPr>
              <a:t>•  EPGs bind to APCG-VDS1 (AEDCG) and APCK-VDS1 (AEDCK).</a:t>
            </a:r>
          </a:p>
          <a:p>
            <a:pPr>
              <a:lnSpc>
                <a:spcPct val="115000"/>
              </a:lnSpc>
            </a:pPr>
            <a:r>
              <a:rPr sz="1200" b="0">
                <a:solidFill>
                  <a:srgbClr val="1C1F24"/>
                </a:solidFill>
                <a:latin typeface="Calibri"/>
              </a:rPr>
              <a:t>•  manage_tenants = false  -  EUR pre-exists in NDO.</a:t>
            </a:r>
          </a:p>
          <a:p>
            <a:pPr>
              <a:lnSpc>
                <a:spcPct val="115000"/>
              </a:lnSpc>
            </a:pPr>
            <a:r>
              <a:rPr sz="1200" b="0">
                <a:solidFill>
                  <a:srgbClr val="1C1F24"/>
                </a:solidFill>
                <a:latin typeface="Calibri"/>
              </a:rPr>
              <a:t>•  deploy_templates = false  -  operator clicks Deploy.</a:t>
            </a:r>
          </a:p>
          <a:p>
            <a:pPr lvl="1">
              <a:lnSpc>
                <a:spcPct val="115000"/>
              </a:lnSpc>
            </a:pPr>
            <a:r>
              <a:rPr sz="1200">
                <a:solidFill>
                  <a:srgbClr val="1C1F24"/>
                </a:solidFill>
                <a:latin typeface="Calibri"/>
              </a:rPr>
              <a:t>◦  Why NDO: only NDO does cross-site policy stitching for stretched BDs/EPGs across two APIC fabrics.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5943600"/>
            <a:ext cx="11247120" cy="502920"/>
          </a:xfrm>
          <a:prstGeom prst="rect">
            <a:avLst/>
          </a:prstGeom>
          <a:solidFill>
            <a:srgbClr val="0B2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5943600"/>
            <a:ext cx="11247120" cy="5029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Cutover order (clean lab):  apic-vmware/ apply  -&gt;  ndo/ apply  -&gt;  click Deploy in NDO UI  -&gt;  scripts/deploy_bindings.py  -&gt;  click Deploy again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B2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6565392"/>
            <a:ext cx="7315200" cy="29260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ACI Redesign Strategy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20095" y="6565392"/>
            <a:ext cx="1097280" cy="29260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25 / 27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B2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45720"/>
          </a:xfrm>
          <a:prstGeom prst="rect">
            <a:avLst/>
          </a:prstGeom>
          <a:solidFill>
            <a:srgbClr val="F2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0515600" cy="5486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NDO Operator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0515600" cy="3200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200" b="0">
                <a:solidFill>
                  <a:srgbClr val="CFDAEA"/>
                </a:solidFill>
                <a:latin typeface="Calibri"/>
              </a:rPr>
              <a:t>Single-template deploy + static port bindings, end-to-end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502920" cy="841248"/>
          </a:xfrm>
          <a:prstGeom prst="rect">
            <a:avLst/>
          </a:prstGeom>
          <a:solidFill>
            <a:srgbClr val="0B2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051560"/>
            <a:ext cx="502920" cy="8412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1005840" y="1051560"/>
            <a:ext cx="10698480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1088136"/>
            <a:ext cx="36576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1">
                <a:solidFill>
                  <a:srgbClr val="0B2E5C"/>
                </a:solidFill>
                <a:latin typeface="Calibri"/>
              </a:rPr>
              <a:t>Authenticate to NDO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1088136"/>
            <a:ext cx="662940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000">
                <a:solidFill>
                  <a:srgbClr val="1C1F24"/>
                </a:solidFill>
                <a:latin typeface="Consolas"/>
              </a:rPr>
              <a:t>cd aci-redesign/ndo</a:t>
            </a:r>
          </a:p>
          <a:p>
            <a:pPr>
              <a:lnSpc>
                <a:spcPct val="110000"/>
              </a:lnSpc>
            </a:pPr>
            <a:r>
              <a:rPr sz="1000">
                <a:solidFill>
                  <a:srgbClr val="1C1F24"/>
                </a:solidFill>
                <a:latin typeface="Consolas"/>
              </a:rPr>
              <a:t>source scripts/set-ndo-password.sh</a:t>
            </a:r>
          </a:p>
          <a:p>
            <a:pPr>
              <a:lnSpc>
                <a:spcPct val="110000"/>
              </a:lnSpc>
            </a:pPr>
            <a:r>
              <a:rPr sz="1000">
                <a:solidFill>
                  <a:srgbClr val="1C1F24"/>
                </a:solidFill>
                <a:latin typeface="Consolas"/>
              </a:rPr>
              <a:t>make auth-check     # must return token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965960"/>
            <a:ext cx="502920" cy="841248"/>
          </a:xfrm>
          <a:prstGeom prst="rect">
            <a:avLst/>
          </a:prstGeom>
          <a:solidFill>
            <a:srgbClr val="0B2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1965960"/>
            <a:ext cx="502920" cy="8412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05840" y="1965960"/>
            <a:ext cx="10698480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2002536"/>
            <a:ext cx="36576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1">
                <a:solidFill>
                  <a:srgbClr val="0B2E5C"/>
                </a:solidFill>
                <a:latin typeface="Calibri"/>
              </a:rPr>
              <a:t>Apply schema (NDO only, no APIC push)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37760" y="2002536"/>
            <a:ext cx="662940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000">
                <a:solidFill>
                  <a:srgbClr val="1C1F24"/>
                </a:solidFill>
                <a:latin typeface="Consolas"/>
              </a:rPr>
              <a:t>make plan &amp;&amp; make apply</a:t>
            </a:r>
          </a:p>
          <a:p>
            <a:pPr>
              <a:lnSpc>
                <a:spcPct val="110000"/>
              </a:lnSpc>
            </a:pPr>
            <a:r>
              <a:rPr sz="1000">
                <a:solidFill>
                  <a:srgbClr val="1C1F24"/>
                </a:solidFill>
                <a:latin typeface="Consolas"/>
              </a:rPr>
              <a:t># Creates schema AEDCE-IPv4 / template Tenant_EUR_IPv4</a:t>
            </a:r>
          </a:p>
          <a:p>
            <a:pPr>
              <a:lnSpc>
                <a:spcPct val="110000"/>
              </a:lnSpc>
            </a:pPr>
            <a:r>
              <a:rPr sz="1000">
                <a:solidFill>
                  <a:srgbClr val="1C1F24"/>
                </a:solidFill>
                <a:latin typeface="Consolas"/>
              </a:rPr>
              <a:t># 2 VRFs, 2 contracts, 39 BDs, 2 ANPs, 39 EPGs in NDO</a:t>
            </a:r>
          </a:p>
          <a:p>
            <a:pPr>
              <a:lnSpc>
                <a:spcPct val="110000"/>
              </a:lnSpc>
            </a:pPr>
            <a:r>
              <a:rPr sz="1000">
                <a:solidFill>
                  <a:srgbClr val="1C1F24"/>
                </a:solidFill>
                <a:latin typeface="Consolas"/>
              </a:rPr>
              <a:t># deploy_templates=false -&gt; nothing on APICs yet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880360"/>
            <a:ext cx="502920" cy="841248"/>
          </a:xfrm>
          <a:prstGeom prst="rect">
            <a:avLst/>
          </a:prstGeom>
          <a:solidFill>
            <a:srgbClr val="0B2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880360"/>
            <a:ext cx="502920" cy="8412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05840" y="2880360"/>
            <a:ext cx="10698480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2916936"/>
            <a:ext cx="36576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1">
                <a:solidFill>
                  <a:srgbClr val="0B2E5C"/>
                </a:solidFill>
                <a:latin typeface="Calibri"/>
              </a:rPr>
              <a:t>Deploy from NDO UI (manual click)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37760" y="2916936"/>
            <a:ext cx="662940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000">
                <a:solidFill>
                  <a:srgbClr val="1C1F24"/>
                </a:solidFill>
                <a:latin typeface="Consolas"/>
              </a:rPr>
              <a:t>Schemas -&gt; AEDCE-IPv4 -&gt; Tenant_EUR_IPv4 -&gt; Deploy to sites</a:t>
            </a:r>
          </a:p>
          <a:p>
            <a:pPr>
              <a:lnSpc>
                <a:spcPct val="110000"/>
              </a:lnSpc>
            </a:pPr>
            <a:r>
              <a:rPr sz="1000">
                <a:solidFill>
                  <a:srgbClr val="1C1F24"/>
                </a:solidFill>
                <a:latin typeface="Consolas"/>
              </a:rPr>
              <a:t>Review per-site preview -&gt; Confirm</a:t>
            </a:r>
          </a:p>
          <a:p>
            <a:pPr>
              <a:lnSpc>
                <a:spcPct val="110000"/>
              </a:lnSpc>
            </a:pPr>
            <a:r>
              <a:rPr sz="1000">
                <a:solidFill>
                  <a:srgbClr val="1C1F24"/>
                </a:solidFill>
                <a:latin typeface="Consolas"/>
              </a:rPr>
              <a:t>After this: tenant content lives on AEDCG + AEDCK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794760"/>
            <a:ext cx="502920" cy="841248"/>
          </a:xfrm>
          <a:prstGeom prst="rect">
            <a:avLst/>
          </a:prstGeom>
          <a:solidFill>
            <a:srgbClr val="0B2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3794760"/>
            <a:ext cx="502920" cy="8412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05840" y="3794760"/>
            <a:ext cx="10698480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43000" y="3831336"/>
            <a:ext cx="36576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1">
                <a:solidFill>
                  <a:srgbClr val="0B2E5C"/>
                </a:solidFill>
                <a:latin typeface="Calibri"/>
              </a:rPr>
              <a:t>Push static port bindings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37760" y="3831336"/>
            <a:ext cx="662940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000">
                <a:solidFill>
                  <a:srgbClr val="1C1F24"/>
                </a:solidFill>
                <a:latin typeface="Consolas"/>
              </a:rPr>
              <a:t>cd aci-redesign/scripts</a:t>
            </a:r>
          </a:p>
          <a:p>
            <a:pPr>
              <a:lnSpc>
                <a:spcPct val="110000"/>
              </a:lnSpc>
            </a:pPr>
            <a:r>
              <a:rPr sz="1000">
                <a:solidFill>
                  <a:srgbClr val="1C1F24"/>
                </a:solidFill>
                <a:latin typeface="Consolas"/>
              </a:rPr>
              <a:t>cp bindings.example.json bindings.json &amp;&amp; $EDITOR bindings.json</a:t>
            </a:r>
          </a:p>
          <a:p>
            <a:pPr>
              <a:lnSpc>
                <a:spcPct val="110000"/>
              </a:lnSpc>
            </a:pPr>
            <a:r>
              <a:rPr sz="1000">
                <a:solidFill>
                  <a:srgbClr val="1C1F24"/>
                </a:solidFill>
                <a:latin typeface="Consolas"/>
              </a:rPr>
              <a:t>./deploy_bindings.py bindings.json --no-vault --dry-run</a:t>
            </a:r>
          </a:p>
          <a:p>
            <a:pPr>
              <a:lnSpc>
                <a:spcPct val="110000"/>
              </a:lnSpc>
            </a:pPr>
            <a:r>
              <a:rPr sz="1000">
                <a:solidFill>
                  <a:srgbClr val="1C1F24"/>
                </a:solidFill>
                <a:latin typeface="Consolas"/>
              </a:rPr>
              <a:t>./deploy_bindings.py bindings.json --no-vault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709160"/>
            <a:ext cx="502920" cy="841248"/>
          </a:xfrm>
          <a:prstGeom prst="rect">
            <a:avLst/>
          </a:prstGeom>
          <a:solidFill>
            <a:srgbClr val="0B2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4709160"/>
            <a:ext cx="502920" cy="8412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05840" y="4709160"/>
            <a:ext cx="10698480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4745736"/>
            <a:ext cx="36576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1">
                <a:solidFill>
                  <a:srgbClr val="0B2E5C"/>
                </a:solidFill>
                <a:latin typeface="Calibri"/>
              </a:rPr>
              <a:t>Re-deploy in NDO UI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937760" y="4745736"/>
            <a:ext cx="662940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000">
                <a:solidFill>
                  <a:srgbClr val="1C1F24"/>
                </a:solidFill>
                <a:latin typeface="Consolas"/>
              </a:rPr>
              <a:t>Static port adds sit pending -&gt; click Deploy again</a:t>
            </a:r>
          </a:p>
          <a:p>
            <a:pPr>
              <a:lnSpc>
                <a:spcPct val="110000"/>
              </a:lnSpc>
            </a:pPr>
            <a:r>
              <a:rPr sz="1000">
                <a:solidFill>
                  <a:srgbClr val="1C1F24"/>
                </a:solidFill>
                <a:latin typeface="Consolas"/>
              </a:rPr>
              <a:t>Endpoints can now be plugged in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6126480"/>
            <a:ext cx="11247120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/>
            <a:r>
              <a:rPr sz="1200" b="1">
                <a:solidFill>
                  <a:srgbClr val="0B2E5C"/>
                </a:solidFill>
                <a:latin typeface="Calibri"/>
              </a:rPr>
              <a:t>Day-2 changes: edit data/nac-ndo/, make plan/apply, click Deploy. Schema refactor: make destroy (NDO-only; APIC untouched), edit, plan, apply, redeploy.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B2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65760" y="6565392"/>
            <a:ext cx="7315200" cy="29260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ACI Redesign Strategy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20095" y="6565392"/>
            <a:ext cx="1097280" cy="29260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26 / 27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B2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45720"/>
          </a:xfrm>
          <a:prstGeom prst="rect">
            <a:avLst/>
          </a:prstGeom>
          <a:solidFill>
            <a:srgbClr val="F2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0515600" cy="5486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Next Steps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0515600" cy="3200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200" b="0">
                <a:solidFill>
                  <a:srgbClr val="CFDAEA"/>
                </a:solidFill>
                <a:latin typeface="Calibri"/>
              </a:rPr>
              <a:t>Where this deck hands off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97280"/>
            <a:ext cx="3657600" cy="5029200"/>
          </a:xfrm>
          <a:prstGeom prst="rect">
            <a:avLst/>
          </a:prstGeom>
          <a:solidFill>
            <a:srgbClr val="F4F6FA"/>
          </a:solidFill>
          <a:ln w="9525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097280"/>
            <a:ext cx="3657600" cy="457200"/>
          </a:xfrm>
          <a:prstGeom prst="rect">
            <a:avLst/>
          </a:prstGeom>
          <a:solidFill>
            <a:srgbClr val="1D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3657600" cy="4572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Lab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691640"/>
            <a:ext cx="3291840" cy="42976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>
              <a:lnSpc>
                <a:spcPct val="115000"/>
              </a:lnSpc>
            </a:pPr>
            <a:r>
              <a:rPr sz="1200" b="0">
                <a:solidFill>
                  <a:srgbClr val="1C1F24"/>
                </a:solidFill>
                <a:latin typeface="Calibri"/>
              </a:rPr>
              <a:t>•  Phase 1 complete: NDO schema AEDCE-IPv4 / single template Tenant_EUR_IPv4 deployed via apic-vmware/ + ndo/.</a:t>
            </a:r>
          </a:p>
          <a:p>
            <a:pPr>
              <a:lnSpc>
                <a:spcPct val="115000"/>
              </a:lnSpc>
            </a:pPr>
            <a:r>
              <a:rPr sz="1200" b="0">
                <a:solidFill>
                  <a:srgbClr val="1C1F24"/>
                </a:solidFill>
                <a:latin typeface="Calibri"/>
              </a:rPr>
              <a:t>•  Push static port bindings via scripts/deploy_bindings.py and re-deploy from NDO UI.</a:t>
            </a:r>
          </a:p>
          <a:p>
            <a:pPr>
              <a:lnSpc>
                <a:spcPct val="115000"/>
              </a:lnSpc>
            </a:pPr>
            <a:r>
              <a:rPr sz="1200" b="0">
                <a:solidFill>
                  <a:srgbClr val="1C1F24"/>
                </a:solidFill>
                <a:latin typeface="Calibri"/>
              </a:rPr>
              <a:t>•  Phase 2 (ESGs) deferred until nac-ndo exposes ESG selectors.</a:t>
            </a:r>
          </a:p>
          <a:p>
            <a:pPr>
              <a:lnSpc>
                <a:spcPct val="115000"/>
              </a:lnSpc>
            </a:pPr>
            <a:r>
              <a:rPr sz="1200" b="0">
                <a:solidFill>
                  <a:srgbClr val="1C1F24"/>
                </a:solidFill>
                <a:latin typeface="Calibri"/>
              </a:rPr>
              <a:t>•  Document membership rules ahead of Phase 3 (zone ESGs).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51960" y="1097280"/>
            <a:ext cx="3657600" cy="5029200"/>
          </a:xfrm>
          <a:prstGeom prst="rect">
            <a:avLst/>
          </a:prstGeom>
          <a:solidFill>
            <a:srgbClr val="F4F6FA"/>
          </a:solidFill>
          <a:ln w="9525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51960" y="1097280"/>
            <a:ext cx="3657600" cy="457200"/>
          </a:xfrm>
          <a:prstGeom prst="rect">
            <a:avLst/>
          </a:prstGeom>
          <a:solidFill>
            <a:srgbClr val="005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51960" y="1097280"/>
            <a:ext cx="3657600" cy="4572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Production prep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1691640"/>
            <a:ext cx="3291840" cy="42976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>
              <a:lnSpc>
                <a:spcPct val="115000"/>
              </a:lnSpc>
            </a:pPr>
            <a:r>
              <a:rPr sz="1200" b="0">
                <a:solidFill>
                  <a:srgbClr val="1C1F24"/>
                </a:solidFill>
                <a:latin typeface="Calibri"/>
              </a:rPr>
              <a:t>•  Review bd_mapping_analysis.txt with app/ops owners.</a:t>
            </a:r>
          </a:p>
          <a:p>
            <a:pPr>
              <a:lnSpc>
                <a:spcPct val="115000"/>
              </a:lnSpc>
            </a:pPr>
            <a:r>
              <a:rPr sz="1200" b="0">
                <a:solidFill>
                  <a:srgbClr val="1C1F24"/>
                </a:solidFill>
                <a:latin typeface="Calibri"/>
              </a:rPr>
              <a:t>•  Confirm L3Out target topology with firewall/WAN teams.</a:t>
            </a:r>
          </a:p>
          <a:p>
            <a:pPr>
              <a:lnSpc>
                <a:spcPct val="115000"/>
              </a:lnSpc>
            </a:pPr>
            <a:r>
              <a:rPr sz="1200" b="0">
                <a:solidFill>
                  <a:srgbClr val="1C1F24"/>
                </a:solidFill>
                <a:latin typeface="Calibri"/>
              </a:rPr>
              <a:t>•  Schedule per-subnet change windows for Phase 4.</a:t>
            </a:r>
          </a:p>
          <a:p>
            <a:pPr>
              <a:lnSpc>
                <a:spcPct val="115000"/>
              </a:lnSpc>
            </a:pPr>
            <a:r>
              <a:rPr sz="1200" b="0">
                <a:solidFill>
                  <a:srgbClr val="1C1F24"/>
                </a:solidFill>
                <a:latin typeface="Calibri"/>
              </a:rPr>
              <a:t>•  Dry-run NDO single-template apply in a non-prod schema.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46720" y="1097280"/>
            <a:ext cx="3657600" cy="5029200"/>
          </a:xfrm>
          <a:prstGeom prst="rect">
            <a:avLst/>
          </a:prstGeom>
          <a:solidFill>
            <a:srgbClr val="F4F6FA"/>
          </a:solidFill>
          <a:ln w="9525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46720" y="1097280"/>
            <a:ext cx="3657600" cy="457200"/>
          </a:xfrm>
          <a:prstGeom prst="rect">
            <a:avLst/>
          </a:prstGeom>
          <a:solidFill>
            <a:srgbClr val="F2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0" y="1097280"/>
            <a:ext cx="3657600" cy="4572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Tooling / automation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1691640"/>
            <a:ext cx="3291840" cy="42976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>
              <a:lnSpc>
                <a:spcPct val="115000"/>
              </a:lnSpc>
            </a:pPr>
            <a:r>
              <a:rPr sz="1200" b="0">
                <a:solidFill>
                  <a:srgbClr val="1C1F24"/>
                </a:solidFill>
                <a:latin typeface="Calibri"/>
              </a:rPr>
              <a:t>•  Promote ndo/ root from manual deploy_templates=false to CI-driven once the runbook is stable.</a:t>
            </a:r>
          </a:p>
          <a:p>
            <a:pPr>
              <a:lnSpc>
                <a:spcPct val="115000"/>
              </a:lnSpc>
            </a:pPr>
            <a:r>
              <a:rPr sz="1200" b="0">
                <a:solidFill>
                  <a:srgbClr val="1C1F24"/>
                </a:solidFill>
                <a:latin typeface="Calibri"/>
              </a:rPr>
              <a:t>•  Add orphan-object report to CI before Phase 7 (decom).</a:t>
            </a:r>
          </a:p>
          <a:p>
            <a:pPr>
              <a:lnSpc>
                <a:spcPct val="115000"/>
              </a:lnSpc>
            </a:pPr>
            <a:r>
              <a:rPr sz="1200" b="0">
                <a:solidFill>
                  <a:srgbClr val="1C1F24"/>
                </a:solidFill>
                <a:latin typeface="Calibri"/>
              </a:rPr>
              <a:t>•  Wire validation checks (EPG counts, BD counts, VMM bindings) into GitLab CI.</a:t>
            </a:r>
          </a:p>
          <a:p>
            <a:pPr>
              <a:lnSpc>
                <a:spcPct val="115000"/>
              </a:lnSpc>
            </a:pPr>
            <a:r>
              <a:rPr sz="1200" b="0">
                <a:solidFill>
                  <a:srgbClr val="1C1F24"/>
                </a:solidFill>
                <a:latin typeface="Calibri"/>
              </a:rPr>
              <a:t>•  Track placeholder BDs until their IPv4 function is confirmed.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6217920"/>
            <a:ext cx="11247120" cy="365760"/>
          </a:xfrm>
          <a:prstGeom prst="rect">
            <a:avLst/>
          </a:prstGeom>
          <a:solidFill>
            <a:srgbClr val="0B2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6217920"/>
            <a:ext cx="1124712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Same network, cleaner model, safer change path.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B2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6565392"/>
            <a:ext cx="7315200" cy="29260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ACI Redesign Strategy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20095" y="6565392"/>
            <a:ext cx="1097280" cy="29260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27 / 27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