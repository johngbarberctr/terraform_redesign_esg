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12191695" cy="54864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EUR Tenant ACI Redesign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78992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E5EEF8"/>
                </a:solidFill>
                <a:latin typeface="Calibri"/>
              </a:rPr>
              <a:t>From 11 VRFs / 266 EPGs to 2 VRFs / 39 EPGs with ESG-Ready Segmentation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3108960" cy="45720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3108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Strategy &amp; Migration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7899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Consolidate routing · Adopt descriptive naming · Introduce ESGs · Preserve every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CCD8EA"/>
                </a:solidFill>
                <a:latin typeface="Calibri"/>
              </a:rPr>
              <a:t>Project: terraform-esg / aci-redesign   |   Tenant: EUR   |   Schema: AEDCE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899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AABCD6"/>
                </a:solidFill>
                <a:latin typeface="Calibri"/>
              </a:rPr>
              <a:t>Prepared from IPv4_REDESIGN_OVERVIEW.md and aci-redesign/README.md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What this deck covers and the order we walk through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  Why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98448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Problems with today's 11-VRF / 266-EPG layout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36192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2  Target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2 VRFs, 39 BDs/EPGs, ESGs, vzAny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75104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75104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3  Key design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76272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Why 2 VRFs, why L2 'DMZ' stays in VRF-EUR, no IP changes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14016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4  BD consolidation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615184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How 215 legacy BDs map into 39 functional BDs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52928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52928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5  Naming &amp; object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54096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Descriptive naming conventions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6  Phased security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93008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vzAny → single ESG → zone ESGs → tight contracts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30752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30752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7  Lab migration (greenfield)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31920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4 phases - build from scratch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69664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69664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8  Production migration (brownfield)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70832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7 phases - live coexistence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08576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08576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9  VMM / VLAN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09744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Dynamic VLAN pool 3501-3967, vmm-vcenter-rcc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47488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047488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10  Risks &amp; mitigations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48656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Where traffic loss can happen and how we contain 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097280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1097280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11  What gets deployed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1298448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Concrete object list from Terraform apply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1536192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1536192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12  Decommission 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1737360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30 legacy BDs to remove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1975104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1975104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13  Deployment 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2176272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How YAML becomes ACI config via nac-aci + MCP sidecar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414016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2414016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14  Automation design decisions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2615184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Four non-obvious choices that protect the pipeline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852928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2852928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15  Secrets 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3054096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Env → CI → Vault progression, same TF_VAR_* names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291840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3291840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16  Local developer workflow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3493008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What an operator actually types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730752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3730752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17  CI/CD pipeline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3931920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GitLab stages: validate → plan → deploy → destroy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4169664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4169664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18  Operations &amp; troubleshooting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4370832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auth-check, diagnose, common failure modes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608576"/>
            <a:ext cx="201168" cy="3657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4608576"/>
            <a:ext cx="5120640" cy="219456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19  Next steps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4809744"/>
            <a:ext cx="5120640" cy="237744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555C66"/>
                </a:solidFill>
                <a:latin typeface="Calibri"/>
              </a:rPr>
              <a:t>What to do after this deck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One-page view of the redesign and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6766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B2E5C"/>
                </a:solidFill>
                <a:latin typeface="Calibri"/>
              </a:rPr>
              <a:t>The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6766560" cy="2926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Collapse 11 legacy VRFs into 2 routing domains: VRF-EUR (internal) and VRF-DMZ (proxy).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Replace 215 numeric bridge domains and 266 EPGs with 39 descriptive, function-named BDs/EPGs that match the IPv6 RCC model.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Introduce Endpoint Security Groups (ESGs) so segmentation can be enforced by policy instead of by VRF routing isolation.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Keep every existing IPv4 subnet and gateway address in place - no host, VM, or switch is readdressed.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Start permissive (vzAny permit-all) and tighten progressively using ESGs and targeted contracts.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6766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B2E5C"/>
                </a:solidFill>
                <a:latin typeface="Calibri"/>
              </a:rPr>
              <a:t>Why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6766560" cy="17373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11-VRF model added operational complexity without meaningful security (firewall already enforces real boundaries).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Numeric naming (BD-V0372, EPG-V0572) hides function and slows incident response.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No ESGs means no realistic path to micro-segmentation at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051560"/>
            <a:ext cx="2103120" cy="12801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051560"/>
            <a:ext cx="109728" cy="128016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59" y="1143000"/>
            <a:ext cx="1828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05A9C"/>
                </a:solidFill>
                <a:latin typeface="Calibri"/>
              </a:rPr>
              <a:t>11 →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18288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VRFs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79" y="1051560"/>
            <a:ext cx="2103120" cy="12801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84079" y="1051560"/>
            <a:ext cx="109728" cy="128016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9" y="1143000"/>
            <a:ext cx="1828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1D8A3E"/>
                </a:solidFill>
                <a:latin typeface="Calibri"/>
              </a:rPr>
              <a:t>215 → 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9" y="18288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Bridge Domains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2514600"/>
            <a:ext cx="2103120" cy="12801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2514600"/>
            <a:ext cx="109728" cy="12801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2606040"/>
            <a:ext cx="1828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F29900"/>
                </a:solidFill>
                <a:latin typeface="Calibri"/>
              </a:rPr>
              <a:t>266 → 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32918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EPGs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79" y="2514600"/>
            <a:ext cx="2103120" cy="12801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79" y="2514600"/>
            <a:ext cx="109728" cy="1280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59" y="2606040"/>
            <a:ext cx="1828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C0392B"/>
                </a:solidFill>
                <a:latin typeface="Calibri"/>
              </a:rPr>
              <a:t>13 → ~4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59" y="32918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L3Outs (prod)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977640"/>
            <a:ext cx="2103120" cy="12801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3977640"/>
            <a:ext cx="109728" cy="12801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59" y="4069080"/>
            <a:ext cx="1828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B2E5C"/>
                </a:solidFill>
                <a:latin typeface="Calibr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59" y="47548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IP Address Changes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79" y="3977640"/>
            <a:ext cx="2103120" cy="12801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4079" y="3977640"/>
            <a:ext cx="109728" cy="128016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59" y="4069080"/>
            <a:ext cx="1828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05A9C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59" y="47548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New ESGs (Phase 2)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Current State - What's Deployed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EUR tenant / AEDCE schema in production APIC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71323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549"/>
                <a:gridCol w="5218770"/>
              </a:tblGrid>
              <a:tr h="365760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36576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Tenant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Schema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AEDCE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VRFs (11)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EUR-E, EUR-AIS, EUR-AIM, EUR-AIV, EUR-AIZ, EUR-AIG, EUR-AIP, EUR-AOV-UC-DMZ, EUR-ARMY-ENT-SVR-DMZ, EUR-GSN-Test, EUR-E catch-all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Bridge Domains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215  (numeric: BD-V0005 → BD-V2205)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EPGs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266  (numeric: EPG-V0005 → EPG-V2205)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Contracts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Per-VRF individual contracts (no vzAny)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ESGs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L3Outs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VMM Domain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VMM1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63840" y="1051560"/>
            <a:ext cx="3931920" cy="530352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051560"/>
            <a:ext cx="3931920" cy="411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051560"/>
            <a:ext cx="3749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Problems With the Current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1508760"/>
            <a:ext cx="3749040" cy="4800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VRFs created for segmentation, but the firewall already enforces real security boundaries.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Numeric BD/EPG names hide function - operators must cross-reference alias tables.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266 EPGs are hard to audit, contract, and change.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No ESGs = no realistic path to micro-segmentation.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L3Out sprawl (13) complicates routing and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7132320" cy="1371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Takeaway: the fabric works, but its object model fights operators every day. A flatter, name-driven model closes the gap without touching a single IP address.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Target State - 2-VRF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VRF-EUR + VRF-DMZ, 39 BDs, 39 EPGs, 2 ESGs, vzAny permit-all start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713231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549"/>
                <a:gridCol w="5218770"/>
              </a:tblGrid>
              <a:tr h="426720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4267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Tenant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EUR (unchanged)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2  -  VRF-EUR (internal) + VRF-DMZ (proxy segments)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267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Bridge Domains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39 descriptive  -  BD-AD, BD-APP-SVR, BD-CFG-MGMT, 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EPGs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39 (1:1 with BDs)  -  EPG-AD, EPG-APP-SVR, ...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267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Contracts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vzAny permit-all (initial) - tightened via ESGs later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ESGs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ESG-All-Internal-EPGs (36) + ESG-All-DMZ-EPGs (3)  -  deferred (nac-ndo ~&gt; 1.2.0 lacks ESG selectors)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267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App Profiles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AppProf-NetCentric, AppProf-DMZ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IPv6 (VRF-RCC)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Unchanged  -  managed separately in ndo-terraform-nac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63840" y="1051560"/>
            <a:ext cx="3931920" cy="38404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051560"/>
            <a:ext cx="3931920" cy="41148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051560"/>
            <a:ext cx="3749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Why this 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1508760"/>
            <a:ext cx="3749040" cy="33375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VRF-EUR consolidates all internal IPv4 traffic into a single routing domain.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VRF-DMZ keeps proxy segments (139.139.x.x) routing-isolated from internal.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vzAny makes initial cut-over safe and reversible.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ESGs give a classification layer today and a policy layer tomorrow.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02352"/>
            <a:ext cx="108813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Subnet consolidation across the 215 legacy BDs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48640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486400"/>
            <a:ext cx="73152" cy="82296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3212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05A9C"/>
                </a:solidFill>
                <a:latin typeface="Calibri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532120"/>
            <a:ext cx="173736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BDs carrying real IPv4 subnets (110 subnets total)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548640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5486400"/>
            <a:ext cx="73152" cy="82296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553212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F29900"/>
                </a:solidFill>
                <a:latin typeface="Calibr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5532120"/>
            <a:ext cx="173736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Placeholder BDs (IPv6-only categories)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48640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5486400"/>
            <a:ext cx="73152" cy="82296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53212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1D8A3E"/>
                </a:solidFill>
                <a:latin typeface="Calibri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5532120"/>
            <a:ext cx="173736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L2-only BDs (gateway on firewall)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548640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5486400"/>
            <a:ext cx="73152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553212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Calibri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5532120"/>
            <a:ext cx="173736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Decommission (20 dead + 4 deprecated + 6 test)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Target 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Tenant EUR - two VRFs, vzAny per VRF, ESGs grouping all EPGs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36576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Tenant: 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051560"/>
            <a:ext cx="75895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CFDAEA"/>
                </a:solidFill>
                <a:latin typeface="Calibri"/>
              </a:rPr>
              <a:t>Filters: Any  |  Contracts: Any_VRF-EUR, Any_VRF-DMZ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7040880" cy="4572000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7040880" cy="41148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00200"/>
            <a:ext cx="704088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VRF-EUR  -  Internal IPv4   |   vzAny: Any_VRF-EUR (permit-all)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03120"/>
            <a:ext cx="6675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148840"/>
            <a:ext cx="64922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B2E5C"/>
                </a:solidFill>
                <a:latin typeface="Calibri"/>
              </a:rPr>
              <a:t>36 Bridge Domains  (22 with IPv4 subnets · 14 placeholders)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468880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468880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6020" y="2468880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6020" y="2468880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BD-APP-SVR (32)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2468880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2468880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BD-CFG-MGMT (19)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92140" y="2468880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92140" y="2468880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BD-WEB-SVR (11)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715768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715768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BD-DB-SVR (8)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2715768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46020" y="2715768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BD-VVOIP-MGMT (9)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2715768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2715768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BD-MECM (6)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2140" y="2715768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2140" y="2715768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BD-BACKUP-SVR (4)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2962656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2962656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BD-FILE-SVR (3)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46020" y="2962656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46020" y="2962656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BD-SYSLOG (3)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2962656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9080" y="2962656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BD-LB (3)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92140" y="2962656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92140" y="2962656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BD-ACAS-SCANNERS (2)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3209544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209544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BD-NMS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46020" y="3209544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6020" y="3209544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BD-PATCH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69080" y="3209544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9080" y="3209544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BD-PKI-SRV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92140" y="3209544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92140" y="3209544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BD-VHOST-MGMT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56432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3456432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BD-VVOIP-PROXY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46020" y="3456432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46020" y="3456432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BD-ADM-DCO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69080" y="3456432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3456432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BD-DNS-MGMT (L2)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92140" y="3456432"/>
            <a:ext cx="1568196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92140" y="3456432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BD-GEF-MGMT (L2)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3703320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3703320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BD-ACAS-MGMT*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46020" y="3703320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46020" y="3703320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BD-ADFS*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69080" y="3703320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69080" y="3703320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BD-C2C-SCANNERS*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92140" y="3703320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92140" y="3703320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BD-DHCP-SVR*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950208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3950208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BD-E911-SVR*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46020" y="3950208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46020" y="3950208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BD-FMWR-SVR*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69080" y="3950208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69080" y="3950208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BD-LMR*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92140" y="3950208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2140" y="3950208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BD-NAC*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" y="4197096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" y="4197096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BD-OCSP*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46020" y="4197096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46020" y="4197096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BD-PRINT-SVR*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69080" y="4197096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69080" y="4197096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BD-RCC-DCO*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92140" y="4197096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92140" y="4197096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BD-RCC-DNS*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443984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960" y="4443984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BD-RCC-SVR*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46020" y="4443984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46020" y="4443984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BD-RCC-UNIX*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69080" y="4443984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69080" y="4443984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BD-SMTP-SVR*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92140" y="4443984"/>
            <a:ext cx="1568196" cy="210312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92140" y="4443984"/>
            <a:ext cx="1568196" cy="2103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50" b="0">
                <a:solidFill>
                  <a:srgbClr val="1C1F24"/>
                </a:solidFill>
                <a:latin typeface="Calibri"/>
              </a:rPr>
              <a:t>BD-SYSMAN*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4526280"/>
            <a:ext cx="649224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555C66"/>
                </a:solidFill>
                <a:latin typeface="Calibri"/>
              </a:rPr>
              <a:t>* placeholder BD - created for parity with IPv6 RCC model, no IPv4 subnet yet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1520" y="4846320"/>
            <a:ext cx="3291840" cy="11430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1520" y="4846320"/>
            <a:ext cx="3291840" cy="41148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8680" y="4846320"/>
            <a:ext cx="310896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AppProf-NetCentric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" y="5303520"/>
            <a:ext cx="3108960" cy="640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36 EPGs (EPG-AD, EPG-APP-SVR, ...)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Bound to VMM domain vmm-vcenter-rcc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Dynamic VLAN 3501-3967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0" y="4846320"/>
            <a:ext cx="3291840" cy="11430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14800" y="4846320"/>
            <a:ext cx="3291840" cy="41148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51960" y="4846320"/>
            <a:ext cx="310896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ESG-All-Internal-EPGs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6240" y="5303520"/>
            <a:ext cx="3108960" cy="640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Selects all 36 internal EPGs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Provider + consumer of Any_VRF-EUR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Classification ready for Phase 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26680" y="1600200"/>
            <a:ext cx="3886200" cy="4572000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0" y="1600200"/>
            <a:ext cx="3886200" cy="411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63840" y="1600200"/>
            <a:ext cx="38862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VRF-DMZ  -  Proxy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863840" y="2103120"/>
            <a:ext cx="3611880" cy="292608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863840" y="2103120"/>
            <a:ext cx="36118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1C1F24"/>
                </a:solidFill>
                <a:latin typeface="Calibri"/>
              </a:rPr>
              <a:t>BD-D64-PROXY*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863840" y="2468880"/>
            <a:ext cx="36118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863840" y="2468880"/>
            <a:ext cx="36118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1C1F24"/>
                </a:solidFill>
                <a:latin typeface="Calibri"/>
              </a:rPr>
              <a:t>BD-FWEB-PROXY (3)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863840" y="2834640"/>
            <a:ext cx="3611880" cy="292608"/>
          </a:xfrm>
          <a:prstGeom prst="rect">
            <a:avLst/>
          </a:prstGeom>
          <a:solidFill>
            <a:srgbClr val="F4F6FA"/>
          </a:solidFill>
          <a:ln w="9525">
            <a:solidFill>
              <a:srgbClr val="CF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863840" y="2834640"/>
            <a:ext cx="36118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1C1F24"/>
                </a:solidFill>
                <a:latin typeface="Calibri"/>
              </a:rPr>
              <a:t>BD-RWEB-PROXY*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863840" y="3429000"/>
            <a:ext cx="3611880" cy="11430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863840" y="3429000"/>
            <a:ext cx="3611880" cy="41148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01000" y="3429000"/>
            <a:ext cx="3429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AppProf-DMZ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55280" y="3886200"/>
            <a:ext cx="3429000" cy="640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3 EPGs on vmm-vcenter-rcc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Dynamic VLAN 3501-3967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863840" y="4663440"/>
            <a:ext cx="3611880" cy="11430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863840" y="4663440"/>
            <a:ext cx="3611880" cy="41148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001000" y="4663440"/>
            <a:ext cx="3429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ESG-All-DMZ-EPGs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55280" y="5120640"/>
            <a:ext cx="3429000" cy="640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Selects all 3 DMZ EPGs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Provider + consumer of Any_VRF-DMZ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Why the target model looks the way it does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19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5609"/>
                <a:gridCol w="8631510"/>
              </a:tblGrid>
              <a:tr h="589280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5892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2 VRFs instead of 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The firewall already enforces real security boundaries - extra VRFs added ops complexity without security value. ESGs + contracts replace VRF-based segmentation.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VRF-EUR (internal)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Consolidates EUR-E (101) + EUR-AIS (132) + EUR-AIM (15) + EUR-AIV (12) + EUR-AIZ (11) + EUR-AIG (1) + EUR-AIP (4) + EUR-GSN-Test (1) ≈ 276 legacy EPGs.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5892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VRF-DMZ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Keeps EUR-AOV-UC-DMZ and EUR-ARMY-ENT-SVR-DMZ routing-isolated - DMZ must never share a routing table with internal.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VRF-RCC (IPv6)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Unchanged. Managed separately in ndo-terraform-nac/136.215.4.96/. No IPv6 refactor in this redesign.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5892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Descriptive naming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BD-DNS-MGMT / EPG-DNS-MGMT replace numeric BD-V0005 / EPG-V0005. Same conventions as the IPv6 RCC model.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vzAny permit-all (initial)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All EPGs can talk inside a VRF on day 1. ESGs classify endpoints today so contracts can be tightened tomorrow without reclassification.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5892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L3Out consolidation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Production shrinks 13 L3Outs to ~4 (1 internal + 1 DMZ per site). Lab does not deploy L3Outs.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L2 'DMZ'-aliased BDs stay in VRF-EUR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Gateway lives on an external firewall - VRF choice doesn't affect routing. ESG-based grouping (Phase 3) enforces the DMZ/internal boundary instead.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Brownfield-Safe: No IP Addresses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Every existing subnet is preserved under the new naming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486400" cy="41148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97280"/>
            <a:ext cx="54864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Example - BD-APP-SVR (VRF-EUR) absorbs 32 subnets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1206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2011680" cy="4389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155.155.236.65/26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00200"/>
            <a:ext cx="2926080" cy="4389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was BD-V0572 / APCE_EUR_APPS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51206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2011680" cy="4389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155.155.172.1/24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103120"/>
            <a:ext cx="2926080" cy="4389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was BD-V0372 / APCG_EUR_APPS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606040"/>
            <a:ext cx="51206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06040"/>
            <a:ext cx="2011680" cy="4389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155.155.108.1/24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06040"/>
            <a:ext cx="2926080" cy="4389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was BD-V0272 / APCK_EUR_APPS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08960"/>
            <a:ext cx="51206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08960"/>
            <a:ext cx="2011680" cy="4389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136.215.37.129/26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108960"/>
            <a:ext cx="2926080" cy="4389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was BD-V0455 / APCK_RDS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11880"/>
            <a:ext cx="51206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611880"/>
            <a:ext cx="2011680" cy="4389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611880"/>
            <a:ext cx="2926080" cy="43891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28 more subnets absorbed under BD-APP-SVR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097280"/>
            <a:ext cx="5577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0B2E5C"/>
                </a:solidFill>
                <a:latin typeface="Calibri"/>
              </a:rPr>
              <a:t>What actually moves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554480"/>
            <a:ext cx="5577840" cy="228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Gateway MAC/IP stays on ACI - assigned to a renamed BD.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EPG identifiers change, but endpoint IPs don't.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BDs may carry multiple anycast subnets (one BD, many old BDs).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VMM rebinding is transparent - VDS port groups are refreshed by ACI.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840480"/>
            <a:ext cx="5577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0B2E5C"/>
                </a:solidFill>
                <a:latin typeface="Calibri"/>
              </a:rPr>
              <a:t>Why this de-risks the migration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297680"/>
            <a:ext cx="5577840" cy="2103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No DNS, firewall, or NAT changes required.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Hosts/VMs/switches don't get new addresses.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Per-subnet change windows - not a big-bang migration.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1C1F24"/>
                </a:solidFill>
                <a:latin typeface="Calibri"/>
              </a:rPr>
              <a:t>•  Rollback is a VRF reassignment, not a readdressing project.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BD Consolidation - 215 Legacy → 39 Functional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Every legacy BD is accounted for (mapped, placeholder, or decommissioned)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571"/>
                <a:gridCol w="1405890"/>
                <a:gridCol w="2284571"/>
                <a:gridCol w="5272087"/>
              </a:tblGrid>
              <a:tr h="325120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New BD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Subnets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Legacy BDs absorbed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Primary function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3251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BD-APP-SVR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32 subnets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39 legacy BDs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Application servers, VDI, ITSM apps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BD-CFG-MGMT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19 subnets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40 legacy BDs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Server mgmt (OOB, inband, DRAC, IACS)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3251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BD-WEB-SVR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11 subnets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18 legacy BDs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Web frontends, ITSM web tiers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BD-VVOIP-MGMT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9 subnets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14 legacy BDs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UC public/restricted, gateways, messaging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3251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BD-DB-SVR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8 subnets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11 legacy BDs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SQL / database backends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BD-MECM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6 subnets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6 legacy BDs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SCCM / MECM patching infrastructure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3251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BD-BACKUP-SVR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4 subnets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—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Backup infrastructure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BD-FILE-SVR / BD-SYSLOG / BD-LB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3 subnets each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— 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File services, logging, load balancers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97680"/>
            <a:ext cx="2697480" cy="18288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2697480" cy="347472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297680"/>
            <a:ext cx="25146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171 legacy BDs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00600"/>
            <a:ext cx="242316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C1F24"/>
                </a:solidFill>
                <a:latin typeface="Calibri"/>
              </a:rPr>
              <a:t>legacy BDs mapped with subnets
(110 subnets across 22 new BDs)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4297680"/>
            <a:ext cx="2697480" cy="18288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4297680"/>
            <a:ext cx="2697480" cy="347472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4297680"/>
            <a:ext cx="25146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14 legacy BDs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800600"/>
            <a:ext cx="242316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C1F24"/>
                </a:solidFill>
                <a:latin typeface="Calibri"/>
              </a:rPr>
              <a:t>L2-only (function known, gateway on firewall)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297680"/>
            <a:ext cx="2697480" cy="18288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4297680"/>
            <a:ext cx="2697480" cy="347472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297680"/>
            <a:ext cx="25146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17 legacy BDs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800600"/>
            <a:ext cx="242316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C1F24"/>
                </a:solidFill>
                <a:latin typeface="Calibri"/>
              </a:rPr>
              <a:t>Placeholder BDs (IPv6-only categories)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4297680"/>
            <a:ext cx="2697480" cy="18288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4297680"/>
            <a:ext cx="269748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4297680"/>
            <a:ext cx="2514600" cy="347472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30 legacy BDs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800600"/>
            <a:ext cx="242316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C1F24"/>
                </a:solidFill>
                <a:latin typeface="Calibri"/>
              </a:rPr>
              <a:t>Decommission candidates (20 dead + 4 deprecated + 6 test)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Naming &amp; Object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Production-ready conventions aligned with the IPv6 RCC model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777239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582"/>
                <a:gridCol w="2703443"/>
                <a:gridCol w="3041373"/>
              </a:tblGrid>
              <a:tr h="379827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379827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 (internal)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VRF-EUR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VRF-EUR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 (DMZ)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VRF-DMZ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VRF-DMZ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379827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 (IPv6)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VRF-RCC (unchanged)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VRF-RCC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Any_&lt;VRF&gt;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Any_VRF-EUR, Any_VRF-DMZ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379827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Filter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Any (ethertype unspecified)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Bridge Domain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BD-&lt;function&gt;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BD-DNS-MGMT, BD-UC-DMZ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379827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EPG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EPG-&lt;function&gt;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EPG-DNS-MGMT, EPG-UC-DMZ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App Profile (internal)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AppProf-NetCentric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AppProf-NetCentric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379827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App Profile (DMZ)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AppProf-DMZ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AppProf-DMZ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App Profile (ESGs)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AppProf-SecurityGroups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AppProf-SecurityGroups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379827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ESG (internal)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ESG-All-Internal-EPGs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ESG-All-Internal-EPGs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9836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ESG (DMZ)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ESG-All-DMZ-EPGs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ESG-All-DMZ-EPGs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0" y="1051560"/>
            <a:ext cx="3383280" cy="49377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051560"/>
            <a:ext cx="3383280" cy="41148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051560"/>
            <a:ext cx="32004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Legacy → Redesign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08760"/>
            <a:ext cx="3200400" cy="44348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BD-V0172 / V0222 / V0322  →  BD-AD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BD-V0372 + 38 more  →  BD-APP-SVR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BD-V0016 + 39 more  →  BD-CFG-MGMT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BD-V0250 + 10 more  →  BD-DB-SVR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Each new BD inherits every IPv4 subnet from the legacy BDs it replaces (per docs/reports/bd_mapping_analysis.txt).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Phased Security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Start permissive, add classification, then tighten - without breaking anyone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974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97480" cy="50292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6974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33172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0B2E5C"/>
                </a:solidFill>
                <a:latin typeface="Calibri"/>
              </a:rPr>
              <a:t>vzAny permit-all
on VRF-EUR + VRF-DMZ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33172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Open - any EPG in a VRF can talk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069080"/>
            <a:ext cx="1417320" cy="27432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14173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72968" y="2651760"/>
            <a:ext cx="146304" cy="365760"/>
          </a:xfrm>
          <a:prstGeom prst="rightArrow">
            <a:avLst/>
          </a:prstGeom>
          <a:solidFill>
            <a:srgbClr val="F2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280160"/>
            <a:ext cx="26974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280160"/>
            <a:ext cx="2697480" cy="50292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280160"/>
            <a:ext cx="26974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920240"/>
            <a:ext cx="233172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0B2E5C"/>
                </a:solidFill>
                <a:latin typeface="Calibri"/>
              </a:rPr>
              <a:t>Single ESG per VRF
grouping all EPGs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108960"/>
            <a:ext cx="233172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Classification ready, no policy change yet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40" y="4069080"/>
            <a:ext cx="1417320" cy="27432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4069080"/>
            <a:ext cx="14173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53328" y="2651760"/>
            <a:ext cx="146304" cy="365760"/>
          </a:xfrm>
          <a:prstGeom prst="rightArrow">
            <a:avLst/>
          </a:prstGeom>
          <a:solidFill>
            <a:srgbClr val="F2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280160"/>
            <a:ext cx="26974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280160"/>
            <a:ext cx="2697480" cy="50292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280160"/>
            <a:ext cx="26974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920240"/>
            <a:ext cx="233172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0B2E5C"/>
                </a:solidFill>
                <a:latin typeface="Calibri"/>
              </a:rPr>
              <a:t>Split ESGs by zone
(ESG-AIM, ESG-AIS, ESG-DMZ-Apps, ...)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233172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Segmentation by function with inter-ESG contracts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4069080"/>
            <a:ext cx="1417320" cy="27432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069080"/>
            <a:ext cx="14173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933688" y="2651760"/>
            <a:ext cx="146304" cy="365760"/>
          </a:xfrm>
          <a:prstGeom prst="rightArrow">
            <a:avLst/>
          </a:prstGeom>
          <a:solidFill>
            <a:srgbClr val="F2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1280160"/>
            <a:ext cx="269748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98280" y="1280160"/>
            <a:ext cx="2697480" cy="50292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1280160"/>
            <a:ext cx="26974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1920240"/>
            <a:ext cx="233172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0B2E5C"/>
                </a:solidFill>
                <a:latin typeface="Calibri"/>
              </a:rPr>
              <a:t>Tighten contracts
to required flows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108960"/>
            <a:ext cx="233172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1C1F24"/>
                </a:solidFill>
                <a:latin typeface="Calibri"/>
              </a:rPr>
              <a:t>Micro-segmentation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38360" y="4069080"/>
            <a:ext cx="1417320" cy="27432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069080"/>
            <a:ext cx="14173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63440"/>
            <a:ext cx="11247120" cy="15544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B2E5C"/>
                </a:solidFill>
                <a:latin typeface="Calibri"/>
              </a:rPr>
              <a:t>Why phased?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074920"/>
            <a:ext cx="10972800" cy="10972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Phase 1+2 deliver the new object model with zero behavior change.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Phases 3-4 add enforcement, one zone / one contract at a time.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Every phase is independently reversible; no phase requires an IP change.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Lab Migration (Greenfield)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Built from scratch to validate the target design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2249424"/>
                <a:gridCol w="6748272"/>
                <a:gridCol w="1499616"/>
              </a:tblGrid>
              <a:tr h="548640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54864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Base build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2 VRFs, 39 BDs with consolidated IPv4 subnets, 39 EPGs, VMM domain, vzAny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✓ 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ESG grouping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36 internal + 3 DMZ EPGs grouped under ESG-All-Internal-EPGs and ESG-All-DMZ-EPGs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✓ Complete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54864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Zone ESGs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Split into ESG-AIM, ESG-AIS, ESG-DMZ-Apps, ... with inter-ESG contracts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Future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Contract tightening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Restrict flows to what apps actually need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Future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114800"/>
            <a:ext cx="5486400" cy="22860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5486400" cy="41148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114800"/>
            <a:ext cx="53035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How the lab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5303520" cy="1783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make init / plan / apply from aci-redesign/apic-vmware/.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nac-aci module (v0.7.0) consumes YAML in data/nac-aci-shared/ + data/nac-aci-aedcg/.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Local state file; first apply creates ~200+ ACI objects.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Validation: APIC GUI + vCenter port group presence.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114800"/>
            <a:ext cx="5577840" cy="22860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4114800"/>
            <a:ext cx="5577840" cy="41148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14800"/>
            <a:ext cx="539496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Lab tooling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572000"/>
            <a:ext cx="5394960" cy="1783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apic-vmware/main.tf - nac-aci module wiring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data/nac-aci-aedcg/access-policies.nac.yaml - VLAN pool + AAEP (per-fabric)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data/nac-aci-aedcg-rendered/vmm-domain.nac.yaml - rendered from TF_VAR_vcenter_* (gitignored)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data/nac-aci-shared/tenant-epg-nac.nac.yaml - 2 VRFs, 39 BDs/EPGs, ESGs (cross-fabric)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Production Migration (Brownfield)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Coexistence model - live traffic keeps flowing through every phase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1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792"/>
                <a:gridCol w="5045437"/>
                <a:gridCol w="5465890"/>
              </a:tblGrid>
              <a:tr h="514350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Key consideration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51435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Create VRF-EUR and VRF-DMZ alongside existing 11 VRFs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None - new VRFs are empty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Create new BDs with descriptive names in VRF-EUR/VRF-DMZ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None - new BDs have no endpoints yet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51435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Create ESGs and vzAny contracts on VRF-EUR/VRF-DMZ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None - policy ready, no enforcement yet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Migrate EPGs one-at-a-time from old VRFs to new VRFs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Brief traffic loss per subnet - schedule maintenance windows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51435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Consolidate L3Outs (13 → ~4)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Routing re-convergence - coordinate with FW/WAN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Rename EPGs/BDs from numeric to descriptive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Cosmetic only - can be done during or after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51435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Decommission old VRFs, contracts, and L3Outs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None (once all EPGs migrated and validated)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11247120" cy="10515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303520"/>
            <a:ext cx="137160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Phase 4 is the critical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C1F24"/>
                </a:solidFill>
                <a:latin typeface="Calibri"/>
              </a:rPr>
              <a:t>Moving a BD from one VRF to another causes endpoint re-learning (~seconds of traffic loss per subnet). Each subnet gets its own change window. Plan with app teams.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Risks &amp;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Where traffic loss can occur and how we contain 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414"/>
                <a:gridCol w="3213462"/>
                <a:gridCol w="5221877"/>
                <a:gridCol w="803365"/>
              </a:tblGrid>
              <a:tr h="731520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7315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BD VRF reassignment
(Phase 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Endpoint re-learning on the BD - brief L2/L3 blip per subnet.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Per-subnet change windows · notify app teams · rollback = reverse VRF reassignment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L3Out consolidation
(Phase 5)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Routing re-convergence at the fabric boundary.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Coordinate with firewall/WAN teams · phased cutover · route monitoring during change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VMM VDS rebinding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Port group updates in vCenter as EPGs move between VMM-bound BDs.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Use read-write VMM domain · validate in lab first · schedule outside peak 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Contract tightening
(Phase 3-4)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Flows that weren't designed for can break.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Log-first mode · use ESGs to group before tightening · staged contract rollout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Naming / alias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Legacy scripts referencing numeric EPG names break.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Keep aliases during Phase 6 · rename with deprecation notice · update automation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Decommission timing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Removing old VRFs/L3Outs before all EPGs migrate.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Gate decom on validation checklist per subnet · automated orphan object report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VMM &amp; VLAN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Dynamic VLAN assignment under the new VMM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0B2E5C"/>
                </a:solidFill>
                <a:latin typeface="Calibri"/>
              </a:rPr>
              <a:t>VLAN allocation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47120" cy="6400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7471" y="1508760"/>
            <a:ext cx="5135671" cy="64008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471" y="1508760"/>
            <a:ext cx="5135671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3001-3500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03142" y="1508760"/>
            <a:ext cx="4796716" cy="64008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03142" y="1508760"/>
            <a:ext cx="4796716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3501-3967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99859" y="1508760"/>
            <a:ext cx="1314731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99859" y="1508760"/>
            <a:ext cx="1314731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3968-4095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471" y="2240280"/>
            <a:ext cx="5135671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005A9C"/>
                </a:solidFill>
                <a:latin typeface="Calibri"/>
              </a:rPr>
              <a:t>IPv6 RCC EPGs (static)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3142" y="2240280"/>
            <a:ext cx="4796716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1D8A3E"/>
                </a:solidFill>
                <a:latin typeface="Calibri"/>
              </a:rPr>
              <a:t>VMM domain (IPv4 EPGs, dynamic)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99859" y="2240280"/>
            <a:ext cx="1314731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C0392B"/>
                </a:solidFill>
                <a:latin typeface="Calibri"/>
              </a:rPr>
              <a:t>ACI reserved (do not use)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713231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805"/>
                <a:gridCol w="5094514"/>
              </a:tblGrid>
              <a:tr h="411480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4114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VMM domain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vmm-vcenter-rcc (lab) / VMM1 (production)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vCenter controller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vcenter01 with credential policy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Virtual Distributed Switch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Created by ACI via dvs_version (6.5 / 6.6 / 7.0 / 8.0)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AAEP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vmm-aaep - linked to VMM domain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Port channel policy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mac-pinning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Uplinks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uplink1, uplink2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Leaf interface profile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100">
                          <a:solidFill>
                            <a:srgbClr val="1C1F24"/>
                          </a:solidFill>
                          <a:latin typeface="Calibri"/>
                        </a:rPr>
                        <a:t>leaf-152-153-intprof (ports 1-48, AEDCG nodes 152-153)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7863840" y="3017520"/>
            <a:ext cx="3931920" cy="32918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3017520"/>
            <a:ext cx="3931920" cy="41148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3017520"/>
            <a:ext cx="3749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Production config touch-points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474720"/>
            <a:ext cx="3749040" cy="2788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data/sites/primary/access_policies.nac.yaml - VLAN pool VMM1 = 3501-3967, AAEP infra_vlan, VPC-VMM-HOSTS.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data/sites/primary/fabric_policies.nac.yaml - VMM1 read-write, tag collection, mac-pinning, uplinks, dvs_version.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data/ndo/schema_AEDCE.nac.yaml - all 405 EPG site entries bound to VMM1 (dynamic VLAN, immediate deployment).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Replace CHANGE_ME placeholders with real vCenter IP / DC / creds before apply.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Gets Deployed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Concrete ACI objects created by terraform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5778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0B2E5C"/>
                </a:solidFill>
                <a:latin typeface="Calibri"/>
              </a:rPr>
              <a:t>Access &amp; Fabric Policies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55778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3718560"/>
              </a:tblGrid>
              <a:tr h="403860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403860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VLAN pool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vmm-vlan-pool (dynamic, 3501-3967)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CDP / LLDP / LACP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cdp-enabled, lldp-enabled, lacp-active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Port channel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mac-pinning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Link level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10G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VMware VMM domain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vmm-vcenter-rcc (read-write, manages VDS)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vCenter controller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vcenter01 with credential policy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VDS uplinks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uplink1, uplink2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AAEP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vmm-aaep - linked to VMM domain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VPC interface policy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vpc-vmm-hosts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Leaf interface profile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AEDCG: leaf-152-153-intprof / AEDCK: leaf-119-191-intprof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Leaf switch profile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AEDCG: leaf-152-153-prof (152-153) / AEDCK: leaf-119-191-prof (119, 191)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05156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0B2E5C"/>
                </a:solidFill>
                <a:latin typeface="Calibri"/>
              </a:rPr>
              <a:t>Tenant EUR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463040"/>
          <a:ext cx="548639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051"/>
                <a:gridCol w="3605348"/>
              </a:tblGrid>
              <a:tr h="440574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440574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Filter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Any (ethertype unspecified)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Any_VRF-EUR (scope: context)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40574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Any_VRF-DMZ (scope: context)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VRF-EUR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vzAny provider + consumer of Any_VRF-EUR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40574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VRF-DMZ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vzAny provider + consumer of Any_VRF-DMZ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Bridge Domains (internal)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36 BDs - multi-subnet from legacy consolidation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40574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Bridge Domains (DMZ)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3 BDs - BD-D64-PROXY, BD-FWEB-PROXY, BD-RWEB-PROXY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App Profile - NetCentric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36 internal EPGs on vmm-vcenter-rcc (dynamic VLAN)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40574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App Profile - DMZ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3 DMZ EPGs on vmm-vcenter-rcc (dynamic VLAN)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App Profile - SecurityGroups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ESG-All-Internal-EPGs, ESG-All-DMZ-EPGs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Decommission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30 legacy BDs removed during or after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657600" cy="42062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Dead / empty (20)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291840" cy="35661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BD-2250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BD-V0005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BD-V0006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BD-V0958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BD-V0970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BD-V1116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BD-V1117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BD-V1120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BD-V1140 … BD-V1149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BD-V1571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BD-V2150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097280"/>
            <a:ext cx="3657600" cy="42062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97280"/>
            <a:ext cx="3657600" cy="45720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09728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Deprecated (4)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20"/>
            <a:ext cx="3291840" cy="35661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BD-V0009 (Native VLAN)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BD-V0021 (ATM - 'may need to remove')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BD-V0529 ('Remove' in alias)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BD-GSN-Test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3657600" cy="420624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97280"/>
            <a:ext cx="3657600" cy="457200"/>
          </a:xfrm>
          <a:prstGeom prst="rect">
            <a:avLst/>
          </a:prstGeom>
          <a:solidFill>
            <a:srgbClr val="555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09728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Temporary test (6)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291840" cy="35661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BD-V0020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BD-V2001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BD-V2002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BD-V2003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BD-V2004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BD-V2005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(all TMP_SATTest)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486400"/>
            <a:ext cx="11247120" cy="41148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486400"/>
            <a:ext cx="110642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Decommission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Only remove after every EPG from an old VRF has migrated and been validated.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Run an orphan-object report (no endpoints, no contracts, no L3Out references) before delete.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Keep an auditable record of each removal - terraform state + APIC audit log.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Changes vs What Stays the Same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Quick sanity check before we start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3374136"/>
                <a:gridCol w="5623560"/>
              </a:tblGrid>
              <a:tr h="457200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Changes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Stays the same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45720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IP addresses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All subnets preserved, no readdressing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VRF count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11 → 2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BD / EPG 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215 / 266 → 39 / 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BD / EPG names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Numeric → descriptive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Contracts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Per-EPG → vzAny + ESG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Contract model (still ACI contracts)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VMM domain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VMM1 → vmm-vcenter-rcc (lab)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Dynamic VLAN assignment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L3Outs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13 → ~4 (production)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External routing concept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Firewall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Still enforces DMZ boundaries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IPv6 (VRF-RCC)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200">
                          <a:solidFill>
                            <a:srgbClr val="1C1F24"/>
                          </a:solidFill>
                          <a:latin typeface="Calibri"/>
                        </a:rPr>
                        <a:t>Unchanged, managed separately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0B2E5C"/>
                </a:solidFill>
                <a:latin typeface="Calibri"/>
              </a:rPr>
              <a:t>The redesign rewrites the object model, not the network.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Deployment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How YAML intent becomes ACI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703320" cy="393192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703320" cy="45720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37033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Inputs (source-controlled YAML)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3429000" cy="32918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data/nac-aci-shared/ - cross-fabric tenant (VRFs, BDs, EPGs, ESGs, contracts)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data/nac-aci-aedcg/ - per-fabric access policies (AEDCG)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data/nac-aci-aedcg-rendered/ - vmm-domain YAML (gitignored)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templates/vmm-domain.nac.yaml.tftpl - template for the above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terraform.tfvars - non-sensitive only (apic_url, username)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097280"/>
            <a:ext cx="3703320" cy="393192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97280"/>
            <a:ext cx="3703320" cy="45720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097280"/>
            <a:ext cx="37033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Terraform (orchestration)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45920"/>
            <a:ext cx="3429000" cy="32918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module "aci" - netascode/nac-aci@0.7.0 (wrapper)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    reads all YAML files from the two yaml_directories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    aci_mcp sub-module DISABLED via modules.nac.yaml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module "aci_mcp" - standalone, owns MCP Instance Policy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    receives sensitive var.mcp_key from env/CI/Vault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provider "aci" - CiscoDevNet/aci ≥ 2.0.0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3703320" cy="393192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97280"/>
            <a:ext cx="3703320" cy="45720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097280"/>
            <a:ext cx="370332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APIC (enforcement)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645920"/>
            <a:ext cx="3429000" cy="32918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~200+ objects: VRFs, BDs, EPGs, ESGs, contracts, filters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AppProf-NetCentric / AppProf-DMZ / AppProf-SecurityGroups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VMM domain vmm-vcenter-rcc + dynamic VLAN pool 3501-3967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MCP Instance Policy (mcpInstP-default) with compliant key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Access policies: AAEP, domain profile, interface selectors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78808" y="2880360"/>
            <a:ext cx="502920" cy="365760"/>
          </a:xfrm>
          <a:prstGeom prst="rightArrow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973568" y="2880360"/>
            <a:ext cx="502920" cy="365760"/>
          </a:xfrm>
          <a:prstGeom prst="rightArrow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257800"/>
            <a:ext cx="11247120" cy="11430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137160" cy="114300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Pre-step: scripts/render-vmm-yaml.sh  (orchestrated by Makefile / CI)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C1F24"/>
                </a:solidFill>
                <a:latin typeface="Calibri"/>
              </a:rPr>
              <a:t>Substitutes TF_VAR_vcenter_* env vars into the template and writes the rendered VMM YAML into the gitignored data/nac-aci-aedcg-rendered/ directory BEFORE terraform plan runs. Decoupling the render from Terraform is what lets nac-aci evaluate its for_each/count at plan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Design Decisions (Automation Layer)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Four non-obvious choices; each protects the pipeline from a specific failure mode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1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366"/>
                <a:gridCol w="4048963"/>
                <a:gridCol w="4723790"/>
              </a:tblGrid>
              <a:tr h="1024128"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Problem it solves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How we implemented it</a:t>
                      </a:r>
                    </a:p>
                  </a:txBody>
                  <a:tcPr anchor="ctr">
                    <a:solidFill>
                      <a:srgbClr val="0B2E5C"/>
                    </a:solidFill>
                  </a:tcPr>
                </a:tc>
              </a:tr>
              <a:tr h="1024128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1. aci_mcp sub-module is disabled
in the nac-aci wrapper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nac-aci unconditionally creates the MCP Instance Policy with a hard-coded default key of 'cisco', which APIC 5.2+/6.x rejects with Error 182.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Disable via modules.nac.yaml (modules.aci_mcp: false). Own the MCP policy directly in main.tf with a sensitive var.mcp_key sourced from env/CI/Vault.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2. VMM YAML is rendered by a shell
script, not a local_file resource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A module with depends_on on an un-applied resource defers every internal for_each/count to apply-time. Result: terraform plan fails with a wall of "Invalid count argument" errors.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Render the template in scripts/render-vmm-yaml.sh BEFORE terraform runs. The rendered YAML is a static input at plan time, so nac-aci's graph evaluates cleanly.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  <a:tr h="1024128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3. Secrets are NOT declared in
terraform.tfvars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Terraform variable precedence: values in terraform.tfvars beat TF_VAR_* env vars. Leaving an empty slot silently overrides the env var and breaks auth.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Leave apic_password and mcp_key undeclared in tfvars entirely. The env var / CI variable / Vault data source always wins.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4. vCenter values are NOT
Terraform variables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Putting the vCenter service-account password into a Terraform variable puts it into state and plan output, even marked sensitive.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000">
                          <a:solidFill>
                            <a:srgbClr val="1C1F24"/>
                          </a:solidFill>
                          <a:latin typeface="Calibri"/>
                        </a:rPr>
                        <a:t>Consume them directly in render-vmm-yaml.sh. They never become TF variables, never enter state, never appear in plan output. Rotation = re-export + re-plan.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B2E5C"/>
                </a:solidFill>
                <a:latin typeface="Calibri"/>
              </a:rPr>
              <a:t>If any of these four are "fixed" back to the obvious shape, the pipeline breaks. Full rationale: aci-redesign/README.md → Design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Secrets Strategy: Env → CI →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Same Terraform code; the source of secrets evolves with maturity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703320" cy="484632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703320" cy="50292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37033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 1: Local 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3375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B2E5C"/>
                </a:solidFill>
                <a:latin typeface="Calibri"/>
              </a:rPr>
              <a:t>Shell environment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3337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source scripts/set-apic-password.sh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eval "$(./scripts/generate-mcp-key.sh)"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export TF_VAR_vcenter_username='...'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export TF_VAR_vcenter_password='...'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make auth-check → HTTP 200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make plan / make apply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097280"/>
            <a:ext cx="3703320" cy="484632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097280"/>
            <a:ext cx="3703320" cy="5029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097280"/>
            <a:ext cx="37033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 2: GitLab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33375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B2E5C"/>
                </a:solidFill>
                <a:latin typeface="Calibri"/>
              </a:rPr>
              <a:t>Masked + Protected CI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3337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Settings → CI/CD → Variables: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  APIC_PASSWORD        (masked, protected)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  MCP_KEY              (masked, protected)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  VCENTER_USERNAME     (masked, protected)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  VCENTER_PASSWORD     (masked, protected)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  VCENTER_HOSTNAME_IP  (plain)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  VCENTER_DATACENTER   (plain)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  VCENTER_DVS_VERSION  (plain)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.gitlab-ci.yml maps each to TF_VAR_*.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097280"/>
            <a:ext cx="3703320" cy="484632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097280"/>
            <a:ext cx="3703320" cy="50292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097280"/>
            <a:ext cx="37033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Stage 3: Vault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40"/>
            <a:ext cx="33375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B2E5C"/>
                </a:solidFill>
                <a:latin typeface="Calibri"/>
              </a:rPr>
              <a:t>Centralized KV store (AppRole for runners)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57400"/>
            <a:ext cx="3337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data "vault_kv_secret_v2" "aci_lab" {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  mount = "secret"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  name  = "aci/lab"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}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Wrapper pulls secrets into TF_VAR_* env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at pipeline start. No Terraform code change.</a:t>
            </a: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Same lab/prod parity, centralized audit.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178808" y="3200400"/>
            <a:ext cx="502920" cy="365760"/>
          </a:xfrm>
          <a:prstGeom prst="rightArrow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973568" y="3200400"/>
            <a:ext cx="502920" cy="365760"/>
          </a:xfrm>
          <a:prstGeom prst="rightArrow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0B2E5C"/>
                </a:solidFill>
                <a:latin typeface="Calibri"/>
              </a:rPr>
              <a:t>The 7 TF_VAR_* names never change. Only the producer changes: shell → CI → Vault.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Local Developer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What an operator actually types, start to finish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02920" cy="768096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02920" cy="7680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051560"/>
            <a:ext cx="6583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078992"/>
            <a:ext cx="6400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B2E5C"/>
                </a:solidFill>
                <a:latin typeface="Calibri"/>
              </a:rPr>
              <a:t>Enter the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344168"/>
            <a:ext cx="6400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900">
                <a:solidFill>
                  <a:srgbClr val="005A9C"/>
                </a:solidFill>
                <a:latin typeface="Consolas"/>
              </a:rPr>
              <a:t>cd aci-redesign/apic-vmware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92808"/>
            <a:ext cx="502920" cy="768096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92808"/>
            <a:ext cx="502920" cy="7680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892808"/>
            <a:ext cx="6583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920240"/>
            <a:ext cx="6400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B2E5C"/>
                </a:solidFill>
                <a:latin typeface="Calibri"/>
              </a:rPr>
              <a:t>Export APIC password
(hidden prompt, one per shell)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85416"/>
            <a:ext cx="6400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900">
                <a:solidFill>
                  <a:srgbClr val="005A9C"/>
                </a:solidFill>
                <a:latin typeface="Consolas"/>
              </a:rPr>
              <a:t>source scripts/set-apic-password.sh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34056"/>
            <a:ext cx="502920" cy="768096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34056"/>
            <a:ext cx="502920" cy="7680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734056"/>
            <a:ext cx="6583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761488"/>
            <a:ext cx="6400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B2E5C"/>
                </a:solidFill>
                <a:latin typeface="Calibri"/>
              </a:rPr>
              <a:t>Export strong MCP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26664"/>
            <a:ext cx="6400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900">
                <a:solidFill>
                  <a:srgbClr val="005A9C"/>
                </a:solidFill>
                <a:latin typeface="Consolas"/>
              </a:rPr>
              <a:t>eval "$(./scripts/generate-mcp-key.sh)"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75304"/>
            <a:ext cx="502920" cy="768096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75304"/>
            <a:ext cx="502920" cy="7680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575304"/>
            <a:ext cx="6583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602736"/>
            <a:ext cx="6400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B2E5C"/>
                </a:solidFill>
                <a:latin typeface="Calibri"/>
              </a:rPr>
              <a:t>Export vCenter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67912"/>
            <a:ext cx="6400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900">
                <a:solidFill>
                  <a:srgbClr val="005A9C"/>
                </a:solidFill>
                <a:latin typeface="Consolas"/>
              </a:rPr>
              <a:t>export TF_VAR_vcenter_hostname_ip='198.18.134.80'</a:t>
            </a:r>
          </a:p>
          <a:p>
            <a:pPr>
              <a:lnSpc>
                <a:spcPct val="110000"/>
              </a:lnSpc>
            </a:pPr>
            <a:r>
              <a:rPr sz="900">
                <a:solidFill>
                  <a:srgbClr val="005A9C"/>
                </a:solidFill>
                <a:latin typeface="Consolas"/>
              </a:rPr>
              <a:t>export TF_VAR_vcenter_datacenter='Datacenter'</a:t>
            </a:r>
          </a:p>
          <a:p>
            <a:pPr>
              <a:lnSpc>
                <a:spcPct val="110000"/>
              </a:lnSpc>
            </a:pPr>
            <a:r>
              <a:rPr sz="900">
                <a:solidFill>
                  <a:srgbClr val="005A9C"/>
                </a:solidFill>
                <a:latin typeface="Consolas"/>
              </a:rPr>
              <a:t>export TF_VAR_vcenter_username='administrator@vsphere.local'</a:t>
            </a:r>
          </a:p>
          <a:p>
            <a:pPr>
              <a:lnSpc>
                <a:spcPct val="110000"/>
              </a:lnSpc>
            </a:pPr>
            <a:r>
              <a:rPr sz="900">
                <a:solidFill>
                  <a:srgbClr val="005A9C"/>
                </a:solidFill>
                <a:latin typeface="Consolas"/>
              </a:rPr>
              <a:t>export TF_VAR_vcenter_password='&lt;single-quoted&gt;'</a:t>
            </a:r>
          </a:p>
          <a:p>
            <a:pPr>
              <a:lnSpc>
                <a:spcPct val="110000"/>
              </a:lnSpc>
            </a:pPr>
            <a:r>
              <a:rPr sz="900">
                <a:solidFill>
                  <a:srgbClr val="005A9C"/>
                </a:solidFill>
                <a:latin typeface="Consolas"/>
              </a:rPr>
              <a:t>export TF_VAR_vcenter_dvs_version='6.6'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16552"/>
            <a:ext cx="502920" cy="768096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416552"/>
            <a:ext cx="502920" cy="7680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416552"/>
            <a:ext cx="6583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443984"/>
            <a:ext cx="6400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B2E5C"/>
                </a:solidFill>
                <a:latin typeface="Calibri"/>
              </a:rPr>
              <a:t>Prove credentials before touching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709160"/>
            <a:ext cx="6400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900">
                <a:solidFill>
                  <a:srgbClr val="005A9C"/>
                </a:solidFill>
                <a:latin typeface="Consolas"/>
              </a:rPr>
              <a:t>make auth-check     # must print HTTP 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502920" cy="768096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57800"/>
            <a:ext cx="502920" cy="768096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257800"/>
            <a:ext cx="6583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285232"/>
            <a:ext cx="6400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B2E5C"/>
                </a:solidFill>
                <a:latin typeface="Calibri"/>
              </a:rPr>
              <a:t>Plan and apply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550408"/>
            <a:ext cx="6400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900">
                <a:solidFill>
                  <a:srgbClr val="005A9C"/>
                </a:solidFill>
                <a:latin typeface="Consolas"/>
              </a:rPr>
              <a:t>make plan            # renders VMM YAML + terraform plan</a:t>
            </a:r>
          </a:p>
          <a:p>
            <a:pPr>
              <a:lnSpc>
                <a:spcPct val="110000"/>
              </a:lnSpc>
            </a:pPr>
            <a:r>
              <a:rPr sz="900">
                <a:solidFill>
                  <a:srgbClr val="005A9C"/>
                </a:solidFill>
                <a:latin typeface="Consolas"/>
              </a:rPr>
              <a:t>make apply           # re-renders + applies plan.tfplan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1051560"/>
            <a:ext cx="3931920" cy="21945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0" y="1051560"/>
            <a:ext cx="3931920" cy="41148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1000" y="1051560"/>
            <a:ext cx="3749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Why each step matters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1508760"/>
            <a:ext cx="3749040" cy="1691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Steps 1-4 populate the 7 TF_VAR_* the Makefile checks.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Step 5 isolates credential bugs from Terraform bugs.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Steps 6 renders YAML + runs terraform; make fails fast if any TF_VAR_* is unset.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3383280"/>
            <a:ext cx="3931920" cy="18288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63840" y="3383280"/>
            <a:ext cx="3931920" cy="41148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3383280"/>
            <a:ext cx="3749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Env vars don't survive a new terminal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3840480"/>
            <a:ext cx="3749040" cy="13258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Every new shell repeats steps 2-4.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Use one terminal per session to avoid drift.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set-apic-password.sh must be sourced, not executed.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5303520"/>
            <a:ext cx="3931920" cy="10515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63840" y="5303520"/>
            <a:ext cx="3931920" cy="41148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5303520"/>
            <a:ext cx="3749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First-time machine setup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5760720"/>
            <a:ext cx="374904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make init once per checkout (downloads providers).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Details: aci-redesign/README.md → Getting Started.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CI/CD Pipeline (GitLab)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Four stages; same TF_VAR_* names as local dev, sourced from masked CI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743200" cy="38404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743200" cy="50292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27432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05A9C"/>
                </a:solidFill>
                <a:latin typeface="Calibri"/>
              </a:rPr>
              <a:t>on every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468880" cy="2834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ci-secret-scan.sh (fails pipeline on plaintext secrets)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render-vmm-yaml.sh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terraform fmt -check -recursive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terraform init -backend=false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terraform validate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9544" y="2880360"/>
            <a:ext cx="73152" cy="365760"/>
          </a:xfrm>
          <a:prstGeom prst="rightArrow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43200" cy="38404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2743200" cy="5029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188720"/>
            <a:ext cx="27432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737360"/>
            <a:ext cx="2743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F29900"/>
                </a:solidFill>
                <a:latin typeface="Calibri"/>
              </a:rPr>
              <a:t>on every push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03120"/>
            <a:ext cx="2468880" cy="2834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render-vmm-yaml.sh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terraform init + terraform plan -out=plan.tfplan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Artifact: plan.tfplan (30 days)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Needs all 7 TF_VAR_* masked CI variables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44184" y="2880360"/>
            <a:ext cx="73152" cy="365760"/>
          </a:xfrm>
          <a:prstGeom prst="rightArrow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743200" cy="38404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2743200" cy="50292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188720"/>
            <a:ext cx="27432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737360"/>
            <a:ext cx="2743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D8A3E"/>
                </a:solidFill>
                <a:latin typeface="Calibri"/>
              </a:rPr>
              <a:t>manual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103120"/>
            <a:ext cx="2468880" cy="2834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terraform apply plan.tfplan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Runs only when a reviewer clicks the play button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Same TF_VAR_* as plan; no surprise credentials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78824" y="2880360"/>
            <a:ext cx="73152" cy="365760"/>
          </a:xfrm>
          <a:prstGeom prst="rightArrow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188720"/>
            <a:ext cx="2743200" cy="38404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1188720"/>
            <a:ext cx="274320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1188720"/>
            <a:ext cx="27432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destroy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737360"/>
            <a:ext cx="2743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Calibri"/>
              </a:rPr>
              <a:t>manual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103120"/>
            <a:ext cx="2468880" cy="2834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terraform plan -destroy + terraform apply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Never auto-triggered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1C1F24"/>
                </a:solidFill>
                <a:latin typeface="Calibri"/>
              </a:rPr>
              <a:t>•  Used for tearing down lab experiments cleanly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57800"/>
            <a:ext cx="11247120" cy="11430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257800"/>
            <a:ext cx="137160" cy="114300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B2E5C"/>
                </a:solidFill>
                <a:latin typeface="Calibri"/>
              </a:rPr>
              <a:t>GitLab CI variable → TF_VAR_*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1097280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C1F24"/>
                </a:solidFill>
                <a:latin typeface="Calibri"/>
              </a:rPr>
              <a:t>APIC_PASSWORD → TF_VAR_apic_password · MCP_KEY → TF_VAR_mcp_key · VCENTER_HOSTNAME_IP → TF_VAR_vcenter_hostname_ip · VCENTER_DATACENTER → TF_VAR_vcenter_datacenter · VCENTER_USERNAME → TF_VAR_vcenter_username · VCENTER_PASSWORD → TF_VAR_vcenter_password · VCENTER_DVS_VERSION → TF_VAR_vcenter_dvs_version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Operations &amp;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Small toolset; each command answers one specific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B2E5C"/>
                </a:solidFill>
                <a:latin typeface="Calibri"/>
              </a:rPr>
              <a:t>make auth-check  →  interpret the HTTP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37160" cy="96012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D8A3E"/>
                </a:solidFill>
                <a:latin typeface="Calibri"/>
              </a:rPr>
              <a:t>HTTP 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508760"/>
            <a:ext cx="3657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B2E5C"/>
                </a:solidFill>
                <a:latin typeface="Calibri"/>
              </a:rP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512064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C1F24"/>
                </a:solidFill>
                <a:latin typeface="Calibri"/>
              </a:rPr>
              <a:t>Credentials accepted. Proceed with make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137160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HTTP 401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560320"/>
            <a:ext cx="3657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B2E5C"/>
                </a:solidFill>
                <a:latin typeface="Calibri"/>
              </a:rPr>
              <a:t>Bad 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80360"/>
            <a:ext cx="512064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C1F24"/>
                </a:solidFill>
                <a:latin typeface="Calibri"/>
              </a:rPr>
              <a:t>APIC rejected username/password. Re-source set-apic-password.sh; run diagnose-apic-auth.sh to compare env-var password vs freshly-typed.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137160" cy="96012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118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E8A200"/>
                </a:solidFill>
                <a:latin typeface="Calibri"/>
              </a:rPr>
              <a:t>HTTP 403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611880"/>
            <a:ext cx="3657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B2E5C"/>
                </a:solidFill>
                <a:latin typeface="Calibri"/>
              </a:rPr>
              <a:t>Account locked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31920"/>
            <a:ext cx="512064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C1F24"/>
                </a:solidFill>
                <a:latin typeface="Calibri"/>
              </a:rPr>
              <a:t>Too many failures. Wait 5-10 min, or unlock via another admin (APIC → Admin → AAA → Security → Users).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17720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17720"/>
            <a:ext cx="137160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6344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HTTP 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663440"/>
            <a:ext cx="3657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B2E5C"/>
                </a:solidFill>
                <a:latin typeface="Calibri"/>
              </a:rPr>
              <a:t>No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83480"/>
            <a:ext cx="512064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C1F24"/>
                </a:solidFill>
                <a:latin typeface="Calibri"/>
              </a:rPr>
              <a:t>APIC unreachable / TLS failure / wrong URL. Test: curl -k https://&lt;apic&gt;/api/aaaLogin.json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051560"/>
            <a:ext cx="5577840" cy="256032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051560"/>
            <a:ext cx="5577840" cy="41148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051560"/>
            <a:ext cx="539496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Command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508760"/>
            <a:ext cx="5394960" cy="2057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make auth-check        credential probe (no terraform)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./scripts/diagnose-apic-auth.sh    env-var vs typed comparison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source scripts/set-apic-password.sh   refresh stale password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make render            re-generate VMM YAML only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make plan / apply      normal change cycle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make destroy           tear everything down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make clean             wipe plan + rendered YAML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703320"/>
            <a:ext cx="5577840" cy="265176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703320"/>
            <a:ext cx="5577840" cy="411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703320"/>
            <a:ext cx="539496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Failure modes &amp; fix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160520"/>
            <a:ext cx="5394960" cy="21488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terraform plan shows "Invalid count" → rendered VMM YAML missing; run make render.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"Authentication details not provided" → TF_VAR_apic_password unset; source set-apic-password.sh.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APIC 401 even after re-export → you exported in a DIFFERENT shell than the one running make. Same terminal only.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"Password is required for MCP Instance Policy" → TF_VAR_mcp_key missing or &lt; 8 chars; regenerate with generate-mcp-key.sh.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C1F24"/>
                </a:solidFill>
                <a:latin typeface="Calibri"/>
              </a:rPr>
              <a:t>•  CI secret-scan failure → plaintext password committed to tracked YAML or .tfvars; remove and force-rotate the credential.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Two-Root Architecture: APIC-direct + 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Each control plane drives the layer it actually owns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532120" cy="47548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532120" cy="50292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5321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apic-vmware/  -  APIC-direct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5074920" cy="3977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Two providers via aliases: aci (AEDCG) + aci.aedck (AEDCK).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Owns access/fabric policies (leaf profiles, AAEP, VPC).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Owns MCP Instance Policy per fabric (sensitive key).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Owns VMware VMM domain (vmmDomP) per fabric.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manage_tenants = false  -  does NOT create tenant content.</a:t>
            </a:r>
          </a:p>
          <a:p>
            <a:pPr lvl="1">
              <a:lnSpc>
                <a:spcPct val="115000"/>
              </a:lnSpc>
            </a:pPr>
            <a:r>
              <a:rPr sz="1200">
                <a:solidFill>
                  <a:srgbClr val="1C1F24"/>
                </a:solidFill>
                <a:latin typeface="Calibri"/>
              </a:rPr>
              <a:t>◦  Why APIC-direct: leaf profiles and the VMM domain object are per-fabric and not modelable in NDO.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532120" cy="475488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532120" cy="50292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5321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ndo/  -  NDO-managed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5074920" cy="3977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Single mso provider (platform=nd, login_domain=local).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Owns schema AEDCE-IPv4 + template Tenant_EUR_IPv4.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Owns 2 VRFs (vzAny), 2 contracts, 39 BDs, 2 ANPs, 39 EPGs.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EPGs bind to vmm-vcenter-rcc on AEDCG + AEDCK.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manage_tenants = false  -  EUR pre-exists in NDO.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deploy_templates = false  -  operator clicks Deploy.</a:t>
            </a:r>
          </a:p>
          <a:p>
            <a:pPr lvl="1">
              <a:lnSpc>
                <a:spcPct val="115000"/>
              </a:lnSpc>
            </a:pPr>
            <a:r>
              <a:rPr sz="1200">
                <a:solidFill>
                  <a:srgbClr val="1C1F24"/>
                </a:solidFill>
                <a:latin typeface="Calibri"/>
              </a:rPr>
              <a:t>◦  Why NDO: only NDO does cross-site policy stitching for stretched BDs/EPGs across two APIC fabrics.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Cutover order (clean lab):  apic-vmware/ apply  -&gt;  ndo/ apply  -&gt;  click Deploy in NDO UI  -&gt;  scripts/deploy_bindings.py  -&gt;  click Deploy again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NDO Operator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Single-template deploy + static port bindings,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02920" cy="84124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02920" cy="8412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051560"/>
            <a:ext cx="10698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088136"/>
            <a:ext cx="3657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B2E5C"/>
                </a:solidFill>
                <a:latin typeface="Calibri"/>
              </a:rPr>
              <a:t>Authenticate to 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088136"/>
            <a:ext cx="6629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cd aci-redesign/ndo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source scripts/set-ndo-password.sh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make auth-check     # must return token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02920" cy="84124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502920" cy="8412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965960"/>
            <a:ext cx="10698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002536"/>
            <a:ext cx="3657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B2E5C"/>
                </a:solidFill>
                <a:latin typeface="Calibri"/>
              </a:rPr>
              <a:t>Apply schema (NDO only, no APIC push)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002536"/>
            <a:ext cx="6629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make plan &amp;&amp; make apply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# Creates schema AEDCE-IPv4 / template Tenant_EUR_IPv4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# 2 VRFs, 2 contracts, 39 BDs, 2 ANPs, 39 EPGs in NDO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# deploy_templates=false -&gt; nothing on APICs yet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502920" cy="84124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502920" cy="8412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880360"/>
            <a:ext cx="10698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916936"/>
            <a:ext cx="3657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B2E5C"/>
                </a:solidFill>
                <a:latin typeface="Calibri"/>
              </a:rPr>
              <a:t>Deploy from NDO UI (manual click)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916936"/>
            <a:ext cx="6629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Schemas -&gt; AEDCE-IPv4 -&gt; Tenant_EUR_IPv4 -&gt; Deploy to sites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Review per-site preview -&gt; Confirm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After this: tenant content lives on AEDCG + AEDCK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502920" cy="84124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94760"/>
            <a:ext cx="502920" cy="8412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794760"/>
            <a:ext cx="10698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831336"/>
            <a:ext cx="3657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B2E5C"/>
                </a:solidFill>
                <a:latin typeface="Calibri"/>
              </a:rPr>
              <a:t>Push static port bindings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831336"/>
            <a:ext cx="6629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cd aci-redesign/scripts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cp bindings.example.json bindings.json &amp;&amp; $EDITOR bindings.json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./deploy_bindings.py bindings.json --no-vault --dry-run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./deploy_bindings.py bindings.json --no-vault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09160"/>
            <a:ext cx="502920" cy="84124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502920" cy="8412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709160"/>
            <a:ext cx="10698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745736"/>
            <a:ext cx="3657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B2E5C"/>
                </a:solidFill>
                <a:latin typeface="Calibri"/>
              </a:rPr>
              <a:t>Re-deploy in NDO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745736"/>
            <a:ext cx="6629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Static port adds sit pending -&gt; click Deploy again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1C1F24"/>
                </a:solidFill>
                <a:latin typeface="Consolas"/>
              </a:rPr>
              <a:t>Endpoints can now be plugged 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0B2E5C"/>
                </a:solidFill>
                <a:latin typeface="Calibri"/>
              </a:rPr>
              <a:t>Day-2 changes: edit data/nac-ndo/, make plan/apply, click Deploy. Schema refactor: make destroy (NDO-only; APIC untouched), edit, plan, apply, redeploy.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CFDAEA"/>
                </a:solidFill>
                <a:latin typeface="Calibri"/>
              </a:rPr>
              <a:t>Where this deck hands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657600" cy="50292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solidFill>
            <a:srgbClr val="1D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91840" cy="42976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Phase 1 complete: NDO schema AEDCE-IPv4 / single template Tenant_EUR_IPv4 deployed via apic-vmware/ + ndo/.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Push static port bindings via scripts/deploy_bindings.py and re-deploy from NDO UI.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Phase 2 (ESGs) deferred until nac-ndo exposes ESG selectors.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Document membership rules ahead of Phase 3 (zone ESGs).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097280"/>
            <a:ext cx="3657600" cy="50292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97280"/>
            <a:ext cx="3657600" cy="45720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09728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Production prep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3291840" cy="42976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Review bd_mapping_analysis.txt with app/ops owners.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Confirm L3Out target topology with firewall/WAN teams.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Schedule per-subnet change windows for Phase 4.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Dry-run NDO single-template apply in a non-prod schema.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3657600" cy="5029200"/>
          </a:xfrm>
          <a:prstGeom prst="rect">
            <a:avLst/>
          </a:prstGeom>
          <a:solidFill>
            <a:srgbClr val="F4F6FA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97280"/>
            <a:ext cx="3657600" cy="457200"/>
          </a:xfrm>
          <a:prstGeom prst="rect">
            <a:avLst/>
          </a:prstGeom>
          <a:solidFill>
            <a:srgbClr val="F2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097280"/>
            <a:ext cx="36576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Tooling /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91640"/>
            <a:ext cx="3291840" cy="42976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Promote ndo/ root from manual deploy_templates=false to CI-driven once the runbook is stable.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Add orphan-object report to CI before Phase 7 (decom).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Wire validation checks (EPG counts, BD counts, VMM bindings) into GitLab CI.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C1F24"/>
                </a:solidFill>
                <a:latin typeface="Calibri"/>
              </a:rPr>
              <a:t>•  Track placeholder BDs until their IPv4 function is confirmed.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Same network, cleaner model, safer change path.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ACI Redesign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565392"/>
            <a:ext cx="109728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